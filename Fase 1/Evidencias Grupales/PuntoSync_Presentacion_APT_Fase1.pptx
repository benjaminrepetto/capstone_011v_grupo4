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Joaquín: Buenas tardes. Nuestro proyecto se llama PuntoSync. La empresa para la cual desarrollamos la solución es La200, un local real de productos de limpieza ubicado en una parcelación. La idea central es conectar la venta presencial, el pedido online y la administración en un solo sistema, manteniendo una interfaz simple para quienes atienden y un canal de retiro para quienes compran.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Joaquín: El proyecto nace desde una empresa real. La200 no es un kiosco genérico ni una cadena; es un local de productos de limpieza dentro de una parcelación. Detectamos tres usuarios principales: Mitzi, que administra; los trabajadores mayores, que atienden el punto de venta; y los residentes, que necesitan comprar y retirar. Por eso el sistema se pensó como una conexión entre esas tres necesidades.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Joaquín: El problema principal no es que el negocio no venda. El negocio ya funciona, pero los procesos no están integrados de forma suficiente. Queremos unir tres ámbitos: el POS para quien atiende, el pedido y retiro para el cliente, y la administración para Mitzi. Si esos procesos quedan separados, aumentan los errores, se dificulta el control de stock y se pierde una parte del valor que puede entregar la tecnología.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Ariel: La solución se resume en tres puertas y un backend común. El cliente usa la web para pedir y retirar. El trabajador usa una tablet o POS para vender y gestionar pedidos. Mitzi usa una aplicación de escritorio para administración. Las interfaces son distintas, pero la información se centraliza: productos, stock, pedidos, ventas y cierre de caja. Así evitamos mezclar funciones y mantenemos la operación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Ariel: Esta parte apunta directamente al trabajador mayor. El POS debe ser simple, con botones grandes, tipografía legible y flujos cortos. También considera efectivo con vuelto visible y cobro con TUU. La TUU no se reemplaza; se integra al flujo. Para nosotros, la accesibilidad no es un detalle visual, sino un requisito central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Ariel: En la administración, la decisión es separar el control del negocio del punto de venta. Mitzi necesita inventario, usuarios, reportes, cierre de caja y stock bajo. Eso no debería estar mezclado con la tablet que se usa para atender. Por eso el proyecto considera una app de escritorio con usuario, contraseña y Google Authenticator para proteger el acceso administrativo.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Benjamín: Desde el lado del cliente, la web permite revisar catálogo, generar el pedido, pagar con Webpay o seleccionar pago en el local. El pedido se prepara y se retira con identificación mediante nombre y teléfono. Es importante aclarar que no contemplamos delivery. También se mantiene TUU para el cobro presencial en el local, sin reemplazar la máquina existente.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Benjamín: El objetivo general es digitalizar e integrar la operación de La200 con un sistema accesible y un canal e-commerce sin despacho. Para que eso sea evaluable, lo convertimos en una ERS anexada al informe. Ahí dejamos requisitos como POS accesible, cobro efectivo con vuelto, TUU, Webpay, pedidos, sincronización de inventario, reportes, cierre de caja y autenticación. También dejamos fuera del alcance delivery, WhatsApp, reemplazar la TUU y bebidas.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Benjamín: La metodología elegida es tradicional o Waterfall. La justificamos porque ya existe una base funcional del sistema, por lo que esta etapa no parte desde cero. Nuestro foco es formalizar requisitos, ajustar arquitectura, estabilizar, probar, implementar evidencias y cerrar. La planificación se ordena en 18 semanas: Fase 1 para definición, Fase 2 para diseño y estabilización, y Fase 3 para pruebas, cierre y presentación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Para terminar, PuntoSync no busca convertir La200 en una cadena ni agregar delivery. Busca modernizar un local real respetando su forma de operar: venta presencial, pedido online, retiro identificado y administración separada. En la entrega demostramos definición, ERS, planificación y evidencias, y luego continuaremos con estabilización, pruebas en el local y defensa final. 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6F1E7"/>
        </a:solidFill>
      </p:bgPr>
    </p:bg>
    <p:spTree>
      <p:nvGrpSpPr>
        <p:cNvPr id="1" name=""/>
        <p:cNvGrpSpPr/>
        <p:nvPr/>
      </p:nvGrpSpPr>
      <p:grpSpPr>
        <a:xfrm>
          <a:off x="0" y="0"/>
          <a:ext cx="0" cy="0"/>
          <a:chOff x="0" y="0"/>
          <a:chExt cx="0" cy="0"/>
        </a:xfrm>
      </p:grpSpPr>
      <p:sp>
        <p:nvSpPr>
          <p:cNvPr id="2" name="Shape 0"/>
          <p:cNvSpPr/>
          <p:nvPr/>
        </p:nvSpPr>
        <p:spPr>
          <a:xfrm>
            <a:off x="502920" y="6473952"/>
            <a:ext cx="11155680" cy="0"/>
          </a:xfrm>
          <a:prstGeom prst="line">
            <a:avLst/>
          </a:prstGeom>
          <a:noFill/>
          <a:ln w="8890">
            <a:solidFill>
              <a:srgbClr val="D9CDBE"/>
            </a:solidFill>
            <a:prstDash val="solid"/>
          </a:ln>
        </p:spPr>
      </p:sp>
      <p:sp>
        <p:nvSpPr>
          <p:cNvPr id="3" name="Text 1"/>
          <p:cNvSpPr/>
          <p:nvPr/>
        </p:nvSpPr>
        <p:spPr>
          <a:xfrm>
            <a:off x="566928" y="6537960"/>
            <a:ext cx="5486400" cy="182880"/>
          </a:xfrm>
          <a:prstGeom prst="rect">
            <a:avLst/>
          </a:prstGeom>
          <a:noFill/>
          <a:ln/>
        </p:spPr>
        <p:txBody>
          <a:bodyPr wrap="square" lIns="0" tIns="0" rIns="0" bIns="0" rtlCol="0" anchor="ctr"/>
          <a:lstStyle/>
          <a:p>
            <a:pPr indent="0" marL="0">
              <a:buNone/>
            </a:pPr>
            <a:r>
              <a:rPr lang="en-US" sz="750" dirty="0">
                <a:solidFill>
                  <a:srgbClr val="6B625A"/>
                </a:solidFill>
                <a:latin typeface="Aptos" pitchFamily="34" charset="0"/>
                <a:ea typeface="Aptos" pitchFamily="34" charset="-122"/>
                <a:cs typeface="Aptos" pitchFamily="34" charset="-120"/>
              </a:rPr>
              <a:t>PuntoSync · Proyecto APT122 · Empresa La200</a:t>
            </a:r>
            <a:endParaRPr lang="en-US" sz="750" dirty="0"/>
          </a:p>
        </p:txBody>
      </p:sp>
      <p:sp>
        <p:nvSpPr>
          <p:cNvPr id="25" name="Slide Number Placeholder 0"/>
          <p:cNvSpPr>
            <a:spLocks noGrp="1"/>
          </p:cNvSpPr>
          <p:nvPr>
            <p:ph type="sldNum" sz="quarter" idx="4294967295"/>
          </p:nvPr>
        </p:nvSpPr>
        <p:spPr>
          <a:xfrm>
            <a:off x="11475720" y="651967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625A"/>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51967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625A"/>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a_wide_bright_interior_scene_of_a_small_shop_or_s.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5577840" cy="6858000"/>
          </a:xfrm>
          <a:prstGeom prst="rect">
            <a:avLst/>
          </a:prstGeom>
          <a:solidFill>
            <a:srgbClr val="F6F1E7">
              <a:alpha val="95000"/>
            </a:srgbClr>
          </a:solidFill>
          <a:ln w="12700">
            <a:solidFill>
              <a:srgbClr val="F6F1E7">
                <a:alpha val="0"/>
              </a:srgbClr>
            </a:solidFill>
            <a:prstDash val="solid"/>
          </a:ln>
        </p:spPr>
      </p:sp>
      <p:sp>
        <p:nvSpPr>
          <p:cNvPr id="4" name="Shape 1"/>
          <p:cNvSpPr/>
          <p:nvPr/>
        </p:nvSpPr>
        <p:spPr>
          <a:xfrm>
            <a:off x="5577840" y="0"/>
            <a:ext cx="6611112" cy="6858000"/>
          </a:xfrm>
          <a:prstGeom prst="rect">
            <a:avLst/>
          </a:prstGeom>
          <a:solidFill>
            <a:srgbClr val="000000">
              <a:alpha val="28000"/>
            </a:srgbClr>
          </a:solidFill>
          <a:ln w="12700">
            <a:solidFill>
              <a:srgbClr val="000000">
                <a:alpha val="0"/>
              </a:srgbClr>
            </a:solidFill>
            <a:prstDash val="solid"/>
          </a:ln>
        </p:spPr>
      </p:sp>
      <p:sp>
        <p:nvSpPr>
          <p:cNvPr id="5" name="Text 2"/>
          <p:cNvSpPr/>
          <p:nvPr/>
        </p:nvSpPr>
        <p:spPr>
          <a:xfrm>
            <a:off x="640080" y="1051560"/>
            <a:ext cx="4572000" cy="640080"/>
          </a:xfrm>
          <a:prstGeom prst="rect">
            <a:avLst/>
          </a:prstGeom>
          <a:noFill/>
          <a:ln/>
        </p:spPr>
        <p:txBody>
          <a:bodyPr wrap="square" lIns="0" tIns="0" rIns="0" bIns="0" rtlCol="0" anchor="ctr"/>
          <a:lstStyle/>
          <a:p>
            <a:pPr indent="0" marL="0">
              <a:buNone/>
            </a:pPr>
            <a:r>
              <a:rPr lang="en-US" sz="4600" b="1" dirty="0">
                <a:solidFill>
                  <a:srgbClr val="556B2F"/>
                </a:solidFill>
              </a:rPr>
              <a:t>PuntoSync</a:t>
            </a:r>
            <a:endParaRPr lang="en-US" sz="4600" dirty="0"/>
          </a:p>
        </p:txBody>
      </p:sp>
      <p:sp>
        <p:nvSpPr>
          <p:cNvPr id="6" name="Text 3"/>
          <p:cNvSpPr/>
          <p:nvPr/>
        </p:nvSpPr>
        <p:spPr>
          <a:xfrm>
            <a:off x="667512" y="1828800"/>
            <a:ext cx="4480560" cy="475488"/>
          </a:xfrm>
          <a:prstGeom prst="rect">
            <a:avLst/>
          </a:prstGeom>
          <a:noFill/>
          <a:ln/>
        </p:spPr>
        <p:txBody>
          <a:bodyPr wrap="square" lIns="0" tIns="0" rIns="0" bIns="0" rtlCol="0" anchor="ctr">
            <a:normAutofit/>
          </a:bodyPr>
          <a:lstStyle/>
          <a:p>
            <a:pPr indent="0" marL="0">
              <a:buNone/>
            </a:pPr>
            <a:r>
              <a:rPr lang="en-US" sz="1800" b="1" dirty="0">
                <a:solidFill>
                  <a:srgbClr val="23231F"/>
                </a:solidFill>
              </a:rPr>
              <a:t>Sistema de gestión, venta y retiro para La200</a:t>
            </a:r>
            <a:endParaRPr lang="en-US" sz="1800" dirty="0"/>
          </a:p>
        </p:txBody>
      </p:sp>
      <p:sp>
        <p:nvSpPr>
          <p:cNvPr id="7" name="Shape 4"/>
          <p:cNvSpPr/>
          <p:nvPr/>
        </p:nvSpPr>
        <p:spPr>
          <a:xfrm>
            <a:off x="667512" y="2487168"/>
            <a:ext cx="2926080" cy="0"/>
          </a:xfrm>
          <a:prstGeom prst="line">
            <a:avLst/>
          </a:prstGeom>
          <a:noFill/>
          <a:ln w="38100">
            <a:solidFill>
              <a:srgbClr val="C56C49"/>
            </a:solidFill>
            <a:prstDash val="solid"/>
          </a:ln>
        </p:spPr>
      </p:sp>
      <p:sp>
        <p:nvSpPr>
          <p:cNvPr id="8" name="Text 5"/>
          <p:cNvSpPr/>
          <p:nvPr/>
        </p:nvSpPr>
        <p:spPr>
          <a:xfrm>
            <a:off x="667512" y="2743200"/>
            <a:ext cx="4389120" cy="640080"/>
          </a:xfrm>
          <a:prstGeom prst="rect">
            <a:avLst/>
          </a:prstGeom>
          <a:noFill/>
          <a:ln/>
        </p:spPr>
        <p:txBody>
          <a:bodyPr wrap="square" lIns="0" tIns="0" rIns="0" bIns="0" rtlCol="0" anchor="ctr"/>
          <a:lstStyle/>
          <a:p>
            <a:pPr indent="0" marL="0">
              <a:buNone/>
            </a:pPr>
            <a:r>
              <a:rPr lang="en-US" sz="1350" dirty="0">
                <a:solidFill>
                  <a:srgbClr val="746D65"/>
                </a:solidFill>
              </a:rPr>
              <a:t>Empresa real: La200 · ladoscientos.cl</a:t>
            </a:r>
            <a:endParaRPr lang="en-US" sz="1350" dirty="0"/>
          </a:p>
          <a:p>
            <a:pPr indent="0" marL="0">
              <a:buNone/>
            </a:pPr>
            <a:r>
              <a:rPr lang="en-US" sz="1350" dirty="0">
                <a:solidFill>
                  <a:srgbClr val="746D65"/>
                </a:solidFill>
              </a:rPr>
              <a:t>Proyecto APT122 · 2026-2</a:t>
            </a:r>
            <a:endParaRPr lang="en-US" sz="1350" dirty="0"/>
          </a:p>
        </p:txBody>
      </p:sp>
      <p:sp>
        <p:nvSpPr>
          <p:cNvPr id="9" name="Text 6"/>
          <p:cNvSpPr/>
          <p:nvPr/>
        </p:nvSpPr>
        <p:spPr>
          <a:xfrm>
            <a:off x="667512" y="5303520"/>
            <a:ext cx="4663440" cy="502920"/>
          </a:xfrm>
          <a:prstGeom prst="rect">
            <a:avLst/>
          </a:prstGeom>
          <a:noFill/>
          <a:ln/>
        </p:spPr>
        <p:txBody>
          <a:bodyPr wrap="square" lIns="0" tIns="0" rIns="0" bIns="0" rtlCol="0" anchor="ctr">
            <a:normAutofit/>
          </a:bodyPr>
          <a:lstStyle/>
          <a:p>
            <a:pPr indent="0" marL="0">
              <a:buNone/>
            </a:pPr>
            <a:r>
              <a:rPr lang="en-US" sz="1500" b="1" dirty="0">
                <a:solidFill>
                  <a:srgbClr val="23231F"/>
                </a:solidFill>
              </a:rPr>
              <a:t>Conectar la venta presencial, el pedido online y la administración en un solo flujo.</a:t>
            </a:r>
            <a:endParaRPr lang="en-US" sz="1500" dirty="0"/>
          </a:p>
        </p:txBody>
      </p:sp>
      <p:sp>
        <p:nvSpPr>
          <p:cNvPr id="10" name="Shape 7"/>
          <p:cNvSpPr/>
          <p:nvPr/>
        </p:nvSpPr>
        <p:spPr>
          <a:xfrm>
            <a:off x="9473184" y="347472"/>
            <a:ext cx="2057400" cy="310896"/>
          </a:xfrm>
          <a:prstGeom prst="roundRect">
            <a:avLst>
              <a:gd name="adj" fmla="val 23529"/>
            </a:avLst>
          </a:prstGeom>
          <a:solidFill>
            <a:srgbClr val="556B2F"/>
          </a:solidFill>
          <a:ln w="12700">
            <a:solidFill>
              <a:srgbClr val="556B2F"/>
            </a:solidFill>
            <a:prstDash val="solid"/>
          </a:ln>
        </p:spPr>
      </p:sp>
      <p:sp>
        <p:nvSpPr>
          <p:cNvPr id="11" name="Text 8"/>
          <p:cNvSpPr/>
          <p:nvPr/>
        </p:nvSpPr>
        <p:spPr>
          <a:xfrm>
            <a:off x="9582912" y="425196"/>
            <a:ext cx="1828800" cy="109728"/>
          </a:xfrm>
          <a:prstGeom prst="rect">
            <a:avLst/>
          </a:prstGeom>
          <a:noFill/>
          <a:ln/>
        </p:spPr>
        <p:txBody>
          <a:bodyPr wrap="square" lIns="0" tIns="0" rIns="0" bIns="0" rtlCol="0" anchor="ctr"/>
          <a:lstStyle/>
          <a:p>
            <a:pPr algn="ctr" indent="0" marL="0">
              <a:buNone/>
            </a:pPr>
            <a:r>
              <a:rPr lang="en-US" sz="800" b="1" dirty="0">
                <a:solidFill>
                  <a:srgbClr val="FFFFFF"/>
                </a:solidFill>
              </a:rPr>
              <a:t>Joaquín · 0:40</a:t>
            </a:r>
            <a:endParaRPr lang="en-US" sz="800" dirty="0"/>
          </a:p>
        </p:txBody>
      </p:sp>
      <p:sp>
        <p:nvSpPr>
          <p:cNvPr id="25" name="Slide Number Placeholder 0"/>
          <p:cNvSpPr>
            <a:spLocks noGrp="1"/>
          </p:cNvSpPr>
          <p:nvPr>
            <p:ph type="sldNum" sz="quarter" idx="4294967295"/>
          </p:nvPr>
        </p:nvSpPr>
        <p:spPr>
          <a:xfrm>
            <a:off x="11475720" y="651967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625A"/>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347472"/>
            <a:ext cx="3474720" cy="182880"/>
          </a:xfrm>
          <a:prstGeom prst="rect">
            <a:avLst/>
          </a:prstGeom>
          <a:noFill/>
          <a:ln/>
        </p:spPr>
        <p:txBody>
          <a:bodyPr wrap="square" lIns="0" tIns="0" rIns="0" bIns="0" rtlCol="0" anchor="ctr"/>
          <a:lstStyle/>
          <a:p>
            <a:pPr indent="0" marL="0">
              <a:buNone/>
            </a:pPr>
            <a:r>
              <a:rPr lang="en-US" sz="850" b="1" dirty="0">
                <a:solidFill>
                  <a:srgbClr val="C56C49"/>
                </a:solidFill>
              </a:rPr>
              <a:t>CONTEXTO</a:t>
            </a:r>
            <a:endParaRPr lang="en-US" sz="850" dirty="0"/>
          </a:p>
        </p:txBody>
      </p:sp>
      <p:sp>
        <p:nvSpPr>
          <p:cNvPr id="3" name="Text 1"/>
          <p:cNvSpPr/>
          <p:nvPr/>
        </p:nvSpPr>
        <p:spPr>
          <a:xfrm>
            <a:off x="640080" y="566928"/>
            <a:ext cx="5852160" cy="548640"/>
          </a:xfrm>
          <a:prstGeom prst="rect">
            <a:avLst/>
          </a:prstGeom>
          <a:noFill/>
          <a:ln/>
        </p:spPr>
        <p:txBody>
          <a:bodyPr wrap="square" lIns="0" tIns="0" rIns="0" bIns="0" rtlCol="0" anchor="ctr">
            <a:normAutofit/>
          </a:bodyPr>
          <a:lstStyle/>
          <a:p>
            <a:pPr indent="0" marL="0">
              <a:buNone/>
            </a:pPr>
            <a:r>
              <a:rPr lang="en-US" sz="2700" b="1" dirty="0">
                <a:solidFill>
                  <a:srgbClr val="23231F"/>
                </a:solidFill>
              </a:rPr>
              <a:t>Una empresa real, tres usuarios clave</a:t>
            </a:r>
            <a:endParaRPr lang="en-US" sz="2700" dirty="0"/>
          </a:p>
        </p:txBody>
      </p:sp>
      <p:sp>
        <p:nvSpPr>
          <p:cNvPr id="4" name="Shape 2"/>
          <p:cNvSpPr/>
          <p:nvPr/>
        </p:nvSpPr>
        <p:spPr>
          <a:xfrm>
            <a:off x="9473184" y="347472"/>
            <a:ext cx="2057400" cy="310896"/>
          </a:xfrm>
          <a:prstGeom prst="roundRect">
            <a:avLst>
              <a:gd name="adj" fmla="val 23529"/>
            </a:avLst>
          </a:prstGeom>
          <a:solidFill>
            <a:srgbClr val="556B2F"/>
          </a:solidFill>
          <a:ln w="12700">
            <a:solidFill>
              <a:srgbClr val="556B2F"/>
            </a:solidFill>
            <a:prstDash val="solid"/>
          </a:ln>
        </p:spPr>
      </p:sp>
      <p:sp>
        <p:nvSpPr>
          <p:cNvPr id="5" name="Text 3"/>
          <p:cNvSpPr/>
          <p:nvPr/>
        </p:nvSpPr>
        <p:spPr>
          <a:xfrm>
            <a:off x="9582912" y="425196"/>
            <a:ext cx="1828800" cy="109728"/>
          </a:xfrm>
          <a:prstGeom prst="rect">
            <a:avLst/>
          </a:prstGeom>
          <a:noFill/>
          <a:ln/>
        </p:spPr>
        <p:txBody>
          <a:bodyPr wrap="square" lIns="0" tIns="0" rIns="0" bIns="0" rtlCol="0" anchor="ctr"/>
          <a:lstStyle/>
          <a:p>
            <a:pPr algn="ctr" indent="0" marL="0">
              <a:buNone/>
            </a:pPr>
            <a:r>
              <a:rPr lang="en-US" sz="800" b="1" dirty="0">
                <a:solidFill>
                  <a:srgbClr val="FFFFFF"/>
                </a:solidFill>
              </a:rPr>
              <a:t>Joaquín · 1:00</a:t>
            </a:r>
            <a:endParaRPr lang="en-US" sz="800" dirty="0"/>
          </a:p>
        </p:txBody>
      </p:sp>
      <p:sp>
        <p:nvSpPr>
          <p:cNvPr id="6" name="Text 4"/>
          <p:cNvSpPr/>
          <p:nvPr/>
        </p:nvSpPr>
        <p:spPr>
          <a:xfrm>
            <a:off x="685800" y="1325880"/>
            <a:ext cx="5669280" cy="548640"/>
          </a:xfrm>
          <a:prstGeom prst="rect">
            <a:avLst/>
          </a:prstGeom>
          <a:noFill/>
          <a:ln/>
        </p:spPr>
        <p:txBody>
          <a:bodyPr wrap="square" lIns="0" tIns="0" rIns="0" bIns="0" rtlCol="0" anchor="ctr">
            <a:normAutofit/>
          </a:bodyPr>
          <a:lstStyle/>
          <a:p>
            <a:pPr indent="0" marL="0">
              <a:buNone/>
            </a:pPr>
            <a:r>
              <a:rPr lang="en-US" sz="1650" dirty="0">
                <a:solidFill>
                  <a:srgbClr val="23231F"/>
                </a:solidFill>
              </a:rPr>
              <a:t>La200 es un local de productos de limpieza en una parcelación. El proyecto no inventa un caso: ordena una operación real.</a:t>
            </a:r>
            <a:endParaRPr lang="en-US" sz="1650" dirty="0"/>
          </a:p>
        </p:txBody>
      </p:sp>
      <p:sp>
        <p:nvSpPr>
          <p:cNvPr id="7" name="Shape 5"/>
          <p:cNvSpPr/>
          <p:nvPr/>
        </p:nvSpPr>
        <p:spPr>
          <a:xfrm>
            <a:off x="685800" y="2148840"/>
            <a:ext cx="3291840" cy="1828800"/>
          </a:xfrm>
          <a:prstGeom prst="roundRect">
            <a:avLst>
              <a:gd name="adj" fmla="val 6500"/>
            </a:avLst>
          </a:prstGeom>
          <a:solidFill>
            <a:srgbClr val="FFFDF8"/>
          </a:solidFill>
          <a:ln w="7620">
            <a:solidFill>
              <a:srgbClr val="E5DED1"/>
            </a:solidFill>
            <a:prstDash val="solid"/>
          </a:ln>
        </p:spPr>
      </p:sp>
      <p:sp>
        <p:nvSpPr>
          <p:cNvPr id="8" name="Shape 6"/>
          <p:cNvSpPr/>
          <p:nvPr/>
        </p:nvSpPr>
        <p:spPr>
          <a:xfrm>
            <a:off x="685800" y="2148840"/>
            <a:ext cx="73152" cy="1828800"/>
          </a:xfrm>
          <a:prstGeom prst="rect">
            <a:avLst/>
          </a:prstGeom>
          <a:solidFill>
            <a:srgbClr val="556B2F"/>
          </a:solidFill>
          <a:ln w="12700">
            <a:solidFill>
              <a:srgbClr val="556B2F"/>
            </a:solidFill>
            <a:prstDash val="solid"/>
          </a:ln>
        </p:spPr>
      </p:sp>
      <p:sp>
        <p:nvSpPr>
          <p:cNvPr id="9" name="Text 7"/>
          <p:cNvSpPr/>
          <p:nvPr/>
        </p:nvSpPr>
        <p:spPr>
          <a:xfrm>
            <a:off x="886968" y="2313432"/>
            <a:ext cx="2962656" cy="228600"/>
          </a:xfrm>
          <a:prstGeom prst="rect">
            <a:avLst/>
          </a:prstGeom>
          <a:noFill/>
          <a:ln/>
        </p:spPr>
        <p:txBody>
          <a:bodyPr wrap="square" lIns="0" tIns="0" rIns="0" bIns="0" rtlCol="0" anchor="ctr"/>
          <a:lstStyle/>
          <a:p>
            <a:pPr indent="0" marL="0">
              <a:buNone/>
            </a:pPr>
            <a:r>
              <a:rPr lang="en-US" sz="1300" b="1" dirty="0">
                <a:solidFill>
                  <a:srgbClr val="556B2F"/>
                </a:solidFill>
              </a:rPr>
              <a:t>Mitzi · administración</a:t>
            </a:r>
            <a:endParaRPr lang="en-US" sz="1300" dirty="0"/>
          </a:p>
        </p:txBody>
      </p:sp>
      <p:sp>
        <p:nvSpPr>
          <p:cNvPr id="10" name="Text 8"/>
          <p:cNvSpPr/>
          <p:nvPr/>
        </p:nvSpPr>
        <p:spPr>
          <a:xfrm>
            <a:off x="886968" y="2624328"/>
            <a:ext cx="2962656" cy="1261872"/>
          </a:xfrm>
          <a:prstGeom prst="rect">
            <a:avLst/>
          </a:prstGeom>
          <a:noFill/>
          <a:ln/>
        </p:spPr>
        <p:txBody>
          <a:bodyPr wrap="square" lIns="254" tIns="254" rIns="254" bIns="254" rtlCol="0" anchor="ctr">
            <a:normAutofit/>
          </a:bodyPr>
          <a:lstStyle/>
          <a:p>
            <a:pPr indent="0" marL="0">
              <a:buNone/>
            </a:pPr>
            <a:r>
              <a:rPr lang="en-US" sz="1220" dirty="0">
                <a:solidFill>
                  <a:srgbClr val="23231F"/>
                </a:solidFill>
              </a:rPr>
              <a:t>Necesita controlar inventario, reportes, cierre de caja, usuarios y stock bajo desde una app de escritorio.</a:t>
            </a:r>
            <a:endParaRPr lang="en-US" sz="1220" dirty="0"/>
          </a:p>
        </p:txBody>
      </p:sp>
      <p:sp>
        <p:nvSpPr>
          <p:cNvPr id="11" name="Shape 9"/>
          <p:cNvSpPr/>
          <p:nvPr/>
        </p:nvSpPr>
        <p:spPr>
          <a:xfrm>
            <a:off x="4434840" y="2148840"/>
            <a:ext cx="3291840" cy="1828800"/>
          </a:xfrm>
          <a:prstGeom prst="roundRect">
            <a:avLst>
              <a:gd name="adj" fmla="val 6500"/>
            </a:avLst>
          </a:prstGeom>
          <a:solidFill>
            <a:srgbClr val="FFFDF8"/>
          </a:solidFill>
          <a:ln w="7620">
            <a:solidFill>
              <a:srgbClr val="E5DED1"/>
            </a:solidFill>
            <a:prstDash val="solid"/>
          </a:ln>
        </p:spPr>
      </p:sp>
      <p:sp>
        <p:nvSpPr>
          <p:cNvPr id="12" name="Shape 10"/>
          <p:cNvSpPr/>
          <p:nvPr/>
        </p:nvSpPr>
        <p:spPr>
          <a:xfrm>
            <a:off x="4434840" y="2148840"/>
            <a:ext cx="73152" cy="1828800"/>
          </a:xfrm>
          <a:prstGeom prst="rect">
            <a:avLst/>
          </a:prstGeom>
          <a:solidFill>
            <a:srgbClr val="C56C49"/>
          </a:solidFill>
          <a:ln w="12700">
            <a:solidFill>
              <a:srgbClr val="C56C49"/>
            </a:solidFill>
            <a:prstDash val="solid"/>
          </a:ln>
        </p:spPr>
      </p:sp>
      <p:sp>
        <p:nvSpPr>
          <p:cNvPr id="13" name="Text 11"/>
          <p:cNvSpPr/>
          <p:nvPr/>
        </p:nvSpPr>
        <p:spPr>
          <a:xfrm>
            <a:off x="4636008" y="2313432"/>
            <a:ext cx="2962656" cy="228600"/>
          </a:xfrm>
          <a:prstGeom prst="rect">
            <a:avLst/>
          </a:prstGeom>
          <a:noFill/>
          <a:ln/>
        </p:spPr>
        <p:txBody>
          <a:bodyPr wrap="square" lIns="0" tIns="0" rIns="0" bIns="0" rtlCol="0" anchor="ctr"/>
          <a:lstStyle/>
          <a:p>
            <a:pPr indent="0" marL="0">
              <a:buNone/>
            </a:pPr>
            <a:r>
              <a:rPr lang="en-US" sz="1300" b="1" dirty="0">
                <a:solidFill>
                  <a:srgbClr val="C56C49"/>
                </a:solidFill>
              </a:rPr>
              <a:t>Trabajadores mayores · POS</a:t>
            </a:r>
            <a:endParaRPr lang="en-US" sz="1300" dirty="0"/>
          </a:p>
        </p:txBody>
      </p:sp>
      <p:sp>
        <p:nvSpPr>
          <p:cNvPr id="14" name="Text 12"/>
          <p:cNvSpPr/>
          <p:nvPr/>
        </p:nvSpPr>
        <p:spPr>
          <a:xfrm>
            <a:off x="4636008" y="2624328"/>
            <a:ext cx="2962656" cy="1261872"/>
          </a:xfrm>
          <a:prstGeom prst="rect">
            <a:avLst/>
          </a:prstGeom>
          <a:noFill/>
          <a:ln/>
        </p:spPr>
        <p:txBody>
          <a:bodyPr wrap="square" lIns="254" tIns="254" rIns="254" bIns="254" rtlCol="0" anchor="ctr">
            <a:normAutofit/>
          </a:bodyPr>
          <a:lstStyle/>
          <a:p>
            <a:pPr indent="0" marL="0">
              <a:buNone/>
            </a:pPr>
            <a:r>
              <a:rPr lang="en-US" sz="1220" dirty="0">
                <a:solidFill>
                  <a:srgbClr val="23231F"/>
                </a:solidFill>
              </a:rPr>
              <a:t>Necesitan vender y cobrar rápido en una tablet, con botones grandes, letras claras y pocos pasos.</a:t>
            </a:r>
            <a:endParaRPr lang="en-US" sz="1220" dirty="0"/>
          </a:p>
        </p:txBody>
      </p:sp>
      <p:sp>
        <p:nvSpPr>
          <p:cNvPr id="15" name="Shape 13"/>
          <p:cNvSpPr/>
          <p:nvPr/>
        </p:nvSpPr>
        <p:spPr>
          <a:xfrm>
            <a:off x="8183880" y="2148840"/>
            <a:ext cx="3291840" cy="1828800"/>
          </a:xfrm>
          <a:prstGeom prst="roundRect">
            <a:avLst>
              <a:gd name="adj" fmla="val 6500"/>
            </a:avLst>
          </a:prstGeom>
          <a:solidFill>
            <a:srgbClr val="FFFDF8"/>
          </a:solidFill>
          <a:ln w="7620">
            <a:solidFill>
              <a:srgbClr val="E5DED1"/>
            </a:solidFill>
            <a:prstDash val="solid"/>
          </a:ln>
        </p:spPr>
      </p:sp>
      <p:sp>
        <p:nvSpPr>
          <p:cNvPr id="16" name="Shape 14"/>
          <p:cNvSpPr/>
          <p:nvPr/>
        </p:nvSpPr>
        <p:spPr>
          <a:xfrm>
            <a:off x="8183880" y="2148840"/>
            <a:ext cx="73152" cy="1828800"/>
          </a:xfrm>
          <a:prstGeom prst="rect">
            <a:avLst/>
          </a:prstGeom>
          <a:solidFill>
            <a:srgbClr val="75815A"/>
          </a:solidFill>
          <a:ln w="12700">
            <a:solidFill>
              <a:srgbClr val="75815A"/>
            </a:solidFill>
            <a:prstDash val="solid"/>
          </a:ln>
        </p:spPr>
      </p:sp>
      <p:sp>
        <p:nvSpPr>
          <p:cNvPr id="17" name="Text 15"/>
          <p:cNvSpPr/>
          <p:nvPr/>
        </p:nvSpPr>
        <p:spPr>
          <a:xfrm>
            <a:off x="8385048" y="2313432"/>
            <a:ext cx="2962656" cy="228600"/>
          </a:xfrm>
          <a:prstGeom prst="rect">
            <a:avLst/>
          </a:prstGeom>
          <a:noFill/>
          <a:ln/>
        </p:spPr>
        <p:txBody>
          <a:bodyPr wrap="square" lIns="0" tIns="0" rIns="0" bIns="0" rtlCol="0" anchor="ctr"/>
          <a:lstStyle/>
          <a:p>
            <a:pPr indent="0" marL="0">
              <a:buNone/>
            </a:pPr>
            <a:r>
              <a:rPr lang="en-US" sz="1300" b="1" dirty="0">
                <a:solidFill>
                  <a:srgbClr val="75815A"/>
                </a:solidFill>
              </a:rPr>
              <a:t>Residentes · web</a:t>
            </a:r>
            <a:endParaRPr lang="en-US" sz="1300" dirty="0"/>
          </a:p>
        </p:txBody>
      </p:sp>
      <p:sp>
        <p:nvSpPr>
          <p:cNvPr id="18" name="Text 16"/>
          <p:cNvSpPr/>
          <p:nvPr/>
        </p:nvSpPr>
        <p:spPr>
          <a:xfrm>
            <a:off x="8385048" y="2624328"/>
            <a:ext cx="2962656" cy="1261872"/>
          </a:xfrm>
          <a:prstGeom prst="rect">
            <a:avLst/>
          </a:prstGeom>
          <a:noFill/>
          <a:ln/>
        </p:spPr>
        <p:txBody>
          <a:bodyPr wrap="square" lIns="254" tIns="254" rIns="254" bIns="254" rtlCol="0" anchor="ctr">
            <a:normAutofit/>
          </a:bodyPr>
          <a:lstStyle/>
          <a:p>
            <a:pPr indent="0" marL="0">
              <a:buNone/>
            </a:pPr>
            <a:r>
              <a:rPr lang="en-US" sz="1220" dirty="0">
                <a:solidFill>
                  <a:srgbClr val="23231F"/>
                </a:solidFill>
              </a:rPr>
              <a:t>Piden desde el celular, pagan con Webpay o en el local, y retiran mostrando nombre y teléfono.</a:t>
            </a:r>
            <a:endParaRPr lang="en-US" sz="1220" dirty="0"/>
          </a:p>
        </p:txBody>
      </p:sp>
      <p:sp>
        <p:nvSpPr>
          <p:cNvPr id="19" name="Shape 17"/>
          <p:cNvSpPr/>
          <p:nvPr/>
        </p:nvSpPr>
        <p:spPr>
          <a:xfrm>
            <a:off x="1965960" y="4846320"/>
            <a:ext cx="8229600" cy="685800"/>
          </a:xfrm>
          <a:prstGeom prst="roundRect">
            <a:avLst>
              <a:gd name="adj" fmla="val 18667"/>
            </a:avLst>
          </a:prstGeom>
          <a:solidFill>
            <a:srgbClr val="DCE8CC"/>
          </a:solidFill>
          <a:ln w="12700">
            <a:solidFill>
              <a:srgbClr val="B9C5A2"/>
            </a:solidFill>
            <a:prstDash val="solid"/>
          </a:ln>
        </p:spPr>
      </p:sp>
      <p:sp>
        <p:nvSpPr>
          <p:cNvPr id="20" name="Text 18"/>
          <p:cNvSpPr/>
          <p:nvPr/>
        </p:nvSpPr>
        <p:spPr>
          <a:xfrm>
            <a:off x="2103120" y="5047488"/>
            <a:ext cx="7955280" cy="274320"/>
          </a:xfrm>
          <a:prstGeom prst="rect">
            <a:avLst/>
          </a:prstGeom>
          <a:noFill/>
          <a:ln/>
        </p:spPr>
        <p:txBody>
          <a:bodyPr wrap="square" lIns="0" tIns="0" rIns="0" bIns="0" rtlCol="0" anchor="ctr"/>
          <a:lstStyle/>
          <a:p>
            <a:pPr algn="ctr" indent="0" marL="0">
              <a:buNone/>
            </a:pPr>
            <a:r>
              <a:rPr lang="en-US" sz="1800" b="1" dirty="0">
                <a:solidFill>
                  <a:srgbClr val="425728"/>
                </a:solidFill>
              </a:rPr>
              <a:t>PuntoSync conecta: Cliente  +  Local  +  Administración</a:t>
            </a:r>
            <a:endParaRPr lang="en-US" sz="1800" dirty="0"/>
          </a:p>
        </p:txBody>
      </p:sp>
      <p:sp>
        <p:nvSpPr>
          <p:cNvPr id="25" name="Slide Number Placeholder 0"/>
          <p:cNvSpPr>
            <a:spLocks noGrp="1"/>
          </p:cNvSpPr>
          <p:nvPr>
            <p:ph type="sldNum" sz="quarter" idx="4294967295"/>
          </p:nvPr>
        </p:nvSpPr>
        <p:spPr>
          <a:xfrm>
            <a:off x="11475720" y="651967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625A"/>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58368" y="347472"/>
            <a:ext cx="3474720" cy="182880"/>
          </a:xfrm>
          <a:prstGeom prst="rect">
            <a:avLst/>
          </a:prstGeom>
          <a:noFill/>
          <a:ln/>
        </p:spPr>
        <p:txBody>
          <a:bodyPr wrap="square" lIns="0" tIns="0" rIns="0" bIns="0" rtlCol="0" anchor="ctr"/>
          <a:lstStyle/>
          <a:p>
            <a:pPr indent="0" marL="0">
              <a:buNone/>
            </a:pPr>
            <a:r>
              <a:rPr lang="en-US" sz="850" b="1" dirty="0">
                <a:solidFill>
                  <a:srgbClr val="C56C49"/>
                </a:solidFill>
              </a:rPr>
              <a:t>PLANTEAMIENTO DEL PROBLEMA</a:t>
            </a:r>
            <a:endParaRPr lang="en-US" sz="850" dirty="0"/>
          </a:p>
        </p:txBody>
      </p:sp>
      <p:sp>
        <p:nvSpPr>
          <p:cNvPr id="3" name="Text 1"/>
          <p:cNvSpPr/>
          <p:nvPr/>
        </p:nvSpPr>
        <p:spPr>
          <a:xfrm>
            <a:off x="640080" y="566928"/>
            <a:ext cx="6675120" cy="548640"/>
          </a:xfrm>
          <a:prstGeom prst="rect">
            <a:avLst/>
          </a:prstGeom>
          <a:noFill/>
          <a:ln/>
        </p:spPr>
        <p:txBody>
          <a:bodyPr wrap="square" lIns="0" tIns="0" rIns="0" bIns="0" rtlCol="0" anchor="ctr">
            <a:normAutofit/>
          </a:bodyPr>
          <a:lstStyle/>
          <a:p>
            <a:pPr indent="0" marL="0">
              <a:buNone/>
            </a:pPr>
            <a:r>
              <a:rPr lang="en-US" sz="2700" b="1" dirty="0">
                <a:solidFill>
                  <a:srgbClr val="23231F"/>
                </a:solidFill>
              </a:rPr>
              <a:t>El problema no es vender; es integrar</a:t>
            </a:r>
            <a:endParaRPr lang="en-US" sz="2700" dirty="0"/>
          </a:p>
        </p:txBody>
      </p:sp>
      <p:sp>
        <p:nvSpPr>
          <p:cNvPr id="4" name="Shape 2"/>
          <p:cNvSpPr/>
          <p:nvPr/>
        </p:nvSpPr>
        <p:spPr>
          <a:xfrm>
            <a:off x="9473184" y="347472"/>
            <a:ext cx="2057400" cy="310896"/>
          </a:xfrm>
          <a:prstGeom prst="roundRect">
            <a:avLst>
              <a:gd name="adj" fmla="val 23529"/>
            </a:avLst>
          </a:prstGeom>
          <a:solidFill>
            <a:srgbClr val="556B2F"/>
          </a:solidFill>
          <a:ln w="12700">
            <a:solidFill>
              <a:srgbClr val="556B2F"/>
            </a:solidFill>
            <a:prstDash val="solid"/>
          </a:ln>
        </p:spPr>
      </p:sp>
      <p:sp>
        <p:nvSpPr>
          <p:cNvPr id="5" name="Text 3"/>
          <p:cNvSpPr/>
          <p:nvPr/>
        </p:nvSpPr>
        <p:spPr>
          <a:xfrm>
            <a:off x="9582912" y="425196"/>
            <a:ext cx="1828800" cy="109728"/>
          </a:xfrm>
          <a:prstGeom prst="rect">
            <a:avLst/>
          </a:prstGeom>
          <a:noFill/>
          <a:ln/>
        </p:spPr>
        <p:txBody>
          <a:bodyPr wrap="square" lIns="0" tIns="0" rIns="0" bIns="0" rtlCol="0" anchor="ctr"/>
          <a:lstStyle/>
          <a:p>
            <a:pPr algn="ctr" indent="0" marL="0">
              <a:buNone/>
            </a:pPr>
            <a:r>
              <a:rPr lang="en-US" sz="800" b="1" dirty="0">
                <a:solidFill>
                  <a:srgbClr val="FFFFFF"/>
                </a:solidFill>
              </a:rPr>
              <a:t>Joaquín · 1:20</a:t>
            </a:r>
            <a:endParaRPr lang="en-US" sz="800" dirty="0"/>
          </a:p>
        </p:txBody>
      </p:sp>
      <p:sp>
        <p:nvSpPr>
          <p:cNvPr id="6" name="Text 4"/>
          <p:cNvSpPr/>
          <p:nvPr/>
        </p:nvSpPr>
        <p:spPr>
          <a:xfrm>
            <a:off x="685800" y="1325880"/>
            <a:ext cx="6858000" cy="502920"/>
          </a:xfrm>
          <a:prstGeom prst="rect">
            <a:avLst/>
          </a:prstGeom>
          <a:noFill/>
          <a:ln/>
        </p:spPr>
        <p:txBody>
          <a:bodyPr wrap="square" lIns="0" tIns="0" rIns="0" bIns="0" rtlCol="0" anchor="ctr"/>
          <a:lstStyle/>
          <a:p>
            <a:pPr indent="0" marL="0">
              <a:buNone/>
            </a:pPr>
            <a:r>
              <a:rPr lang="en-US" sz="1700" dirty="0">
                <a:solidFill>
                  <a:srgbClr val="23231F"/>
                </a:solidFill>
              </a:rPr>
              <a:t>La operación presencial existe, pero falta un flujo único que una venta, stock, pedido, pago, retiro y administración.</a:t>
            </a:r>
            <a:endParaRPr lang="en-US" sz="1700" dirty="0"/>
          </a:p>
        </p:txBody>
      </p:sp>
      <p:sp>
        <p:nvSpPr>
          <p:cNvPr id="7" name="Shape 5"/>
          <p:cNvSpPr/>
          <p:nvPr/>
        </p:nvSpPr>
        <p:spPr>
          <a:xfrm>
            <a:off x="685800" y="2103120"/>
            <a:ext cx="3291840" cy="1920240"/>
          </a:xfrm>
          <a:prstGeom prst="roundRect">
            <a:avLst>
              <a:gd name="adj" fmla="val 6190"/>
            </a:avLst>
          </a:prstGeom>
          <a:solidFill>
            <a:srgbClr val="FFFDF8"/>
          </a:solidFill>
          <a:ln w="7620">
            <a:solidFill>
              <a:srgbClr val="E5DED1"/>
            </a:solidFill>
            <a:prstDash val="solid"/>
          </a:ln>
        </p:spPr>
      </p:sp>
      <p:sp>
        <p:nvSpPr>
          <p:cNvPr id="8" name="Shape 6"/>
          <p:cNvSpPr/>
          <p:nvPr/>
        </p:nvSpPr>
        <p:spPr>
          <a:xfrm>
            <a:off x="685800" y="2103120"/>
            <a:ext cx="73152" cy="1920240"/>
          </a:xfrm>
          <a:prstGeom prst="rect">
            <a:avLst/>
          </a:prstGeom>
          <a:solidFill>
            <a:srgbClr val="C56C49"/>
          </a:solidFill>
          <a:ln w="12700">
            <a:solidFill>
              <a:srgbClr val="C56C49"/>
            </a:solidFill>
            <a:prstDash val="solid"/>
          </a:ln>
        </p:spPr>
      </p:sp>
      <p:sp>
        <p:nvSpPr>
          <p:cNvPr id="9" name="Text 7"/>
          <p:cNvSpPr/>
          <p:nvPr/>
        </p:nvSpPr>
        <p:spPr>
          <a:xfrm>
            <a:off x="886968" y="2267712"/>
            <a:ext cx="2962656" cy="228600"/>
          </a:xfrm>
          <a:prstGeom prst="rect">
            <a:avLst/>
          </a:prstGeom>
          <a:noFill/>
          <a:ln/>
        </p:spPr>
        <p:txBody>
          <a:bodyPr wrap="square" lIns="0" tIns="0" rIns="0" bIns="0" rtlCol="0" anchor="ctr"/>
          <a:lstStyle/>
          <a:p>
            <a:pPr indent="0" marL="0">
              <a:buNone/>
            </a:pPr>
            <a:r>
              <a:rPr lang="en-US" sz="1300" b="1" dirty="0">
                <a:solidFill>
                  <a:srgbClr val="C56C49"/>
                </a:solidFill>
              </a:rPr>
              <a:t>1. Fricción en el POS</a:t>
            </a:r>
            <a:endParaRPr lang="en-US" sz="1300" dirty="0"/>
          </a:p>
        </p:txBody>
      </p:sp>
      <p:sp>
        <p:nvSpPr>
          <p:cNvPr id="10" name="Text 8"/>
          <p:cNvSpPr/>
          <p:nvPr/>
        </p:nvSpPr>
        <p:spPr>
          <a:xfrm>
            <a:off x="886968" y="2578608"/>
            <a:ext cx="2962656" cy="1353312"/>
          </a:xfrm>
          <a:prstGeom prst="rect">
            <a:avLst/>
          </a:prstGeom>
          <a:noFill/>
          <a:ln/>
        </p:spPr>
        <p:txBody>
          <a:bodyPr wrap="square" lIns="254" tIns="254" rIns="254" bIns="254" rtlCol="0" anchor="ctr">
            <a:normAutofit/>
          </a:bodyPr>
          <a:lstStyle/>
          <a:p>
            <a:pPr indent="0" marL="0">
              <a:buNone/>
            </a:pPr>
            <a:r>
              <a:rPr lang="en-US" sz="1220" dirty="0">
                <a:solidFill>
                  <a:srgbClr val="23231F"/>
                </a:solidFill>
              </a:rPr>
              <a:t>Las interfaces comerciales comunes pueden ser poco claras para trabajadores mayores: menús pequeños, muchos pasos y baja tolerancia al error.</a:t>
            </a:r>
            <a:endParaRPr lang="en-US" sz="1220" dirty="0"/>
          </a:p>
        </p:txBody>
      </p:sp>
      <p:sp>
        <p:nvSpPr>
          <p:cNvPr id="11" name="Shape 9"/>
          <p:cNvSpPr/>
          <p:nvPr/>
        </p:nvSpPr>
        <p:spPr>
          <a:xfrm>
            <a:off x="4434840" y="2103120"/>
            <a:ext cx="3291840" cy="1920240"/>
          </a:xfrm>
          <a:prstGeom prst="roundRect">
            <a:avLst>
              <a:gd name="adj" fmla="val 6190"/>
            </a:avLst>
          </a:prstGeom>
          <a:solidFill>
            <a:srgbClr val="FFFDF8"/>
          </a:solidFill>
          <a:ln w="7620">
            <a:solidFill>
              <a:srgbClr val="E5DED1"/>
            </a:solidFill>
            <a:prstDash val="solid"/>
          </a:ln>
        </p:spPr>
      </p:sp>
      <p:sp>
        <p:nvSpPr>
          <p:cNvPr id="12" name="Shape 10"/>
          <p:cNvSpPr/>
          <p:nvPr/>
        </p:nvSpPr>
        <p:spPr>
          <a:xfrm>
            <a:off x="4434840" y="2103120"/>
            <a:ext cx="73152" cy="1920240"/>
          </a:xfrm>
          <a:prstGeom prst="rect">
            <a:avLst/>
          </a:prstGeom>
          <a:solidFill>
            <a:srgbClr val="556B2F"/>
          </a:solidFill>
          <a:ln w="12700">
            <a:solidFill>
              <a:srgbClr val="556B2F"/>
            </a:solidFill>
            <a:prstDash val="solid"/>
          </a:ln>
        </p:spPr>
      </p:sp>
      <p:sp>
        <p:nvSpPr>
          <p:cNvPr id="13" name="Text 11"/>
          <p:cNvSpPr/>
          <p:nvPr/>
        </p:nvSpPr>
        <p:spPr>
          <a:xfrm>
            <a:off x="4636008" y="2267712"/>
            <a:ext cx="2962656" cy="228600"/>
          </a:xfrm>
          <a:prstGeom prst="rect">
            <a:avLst/>
          </a:prstGeom>
          <a:noFill/>
          <a:ln/>
        </p:spPr>
        <p:txBody>
          <a:bodyPr wrap="square" lIns="0" tIns="0" rIns="0" bIns="0" rtlCol="0" anchor="ctr"/>
          <a:lstStyle/>
          <a:p>
            <a:pPr indent="0" marL="0">
              <a:buNone/>
            </a:pPr>
            <a:r>
              <a:rPr lang="en-US" sz="1300" b="1" dirty="0">
                <a:solidFill>
                  <a:srgbClr val="556B2F"/>
                </a:solidFill>
              </a:rPr>
              <a:t>2. Sin flujo de pedido y retiro</a:t>
            </a:r>
            <a:endParaRPr lang="en-US" sz="1300" dirty="0"/>
          </a:p>
        </p:txBody>
      </p:sp>
      <p:sp>
        <p:nvSpPr>
          <p:cNvPr id="14" name="Text 12"/>
          <p:cNvSpPr/>
          <p:nvPr/>
        </p:nvSpPr>
        <p:spPr>
          <a:xfrm>
            <a:off x="4636008" y="2578608"/>
            <a:ext cx="2962656" cy="1353312"/>
          </a:xfrm>
          <a:prstGeom prst="rect">
            <a:avLst/>
          </a:prstGeom>
          <a:noFill/>
          <a:ln/>
        </p:spPr>
        <p:txBody>
          <a:bodyPr wrap="square" lIns="254" tIns="254" rIns="254" bIns="254" rtlCol="0" anchor="ctr">
            <a:normAutofit/>
          </a:bodyPr>
          <a:lstStyle/>
          <a:p>
            <a:pPr indent="0" marL="0">
              <a:buNone/>
            </a:pPr>
            <a:r>
              <a:rPr lang="en-US" sz="1220" dirty="0">
                <a:solidFill>
                  <a:srgbClr val="23231F"/>
                </a:solidFill>
              </a:rPr>
              <a:t>El residente necesita encargar, pagar o reservar y retirar de forma identificada, sin despacho a domicilio.</a:t>
            </a:r>
            <a:endParaRPr lang="en-US" sz="1220" dirty="0"/>
          </a:p>
        </p:txBody>
      </p:sp>
      <p:sp>
        <p:nvSpPr>
          <p:cNvPr id="15" name="Shape 13"/>
          <p:cNvSpPr/>
          <p:nvPr/>
        </p:nvSpPr>
        <p:spPr>
          <a:xfrm>
            <a:off x="8183880" y="2103120"/>
            <a:ext cx="3291840" cy="1920240"/>
          </a:xfrm>
          <a:prstGeom prst="roundRect">
            <a:avLst>
              <a:gd name="adj" fmla="val 6190"/>
            </a:avLst>
          </a:prstGeom>
          <a:solidFill>
            <a:srgbClr val="FFFDF8"/>
          </a:solidFill>
          <a:ln w="7620">
            <a:solidFill>
              <a:srgbClr val="E5DED1"/>
            </a:solidFill>
            <a:prstDash val="solid"/>
          </a:ln>
        </p:spPr>
      </p:sp>
      <p:sp>
        <p:nvSpPr>
          <p:cNvPr id="16" name="Shape 14"/>
          <p:cNvSpPr/>
          <p:nvPr/>
        </p:nvSpPr>
        <p:spPr>
          <a:xfrm>
            <a:off x="8183880" y="2103120"/>
            <a:ext cx="73152" cy="1920240"/>
          </a:xfrm>
          <a:prstGeom prst="rect">
            <a:avLst/>
          </a:prstGeom>
          <a:solidFill>
            <a:srgbClr val="75815A"/>
          </a:solidFill>
          <a:ln w="12700">
            <a:solidFill>
              <a:srgbClr val="75815A"/>
            </a:solidFill>
            <a:prstDash val="solid"/>
          </a:ln>
        </p:spPr>
      </p:sp>
      <p:sp>
        <p:nvSpPr>
          <p:cNvPr id="17" name="Text 15"/>
          <p:cNvSpPr/>
          <p:nvPr/>
        </p:nvSpPr>
        <p:spPr>
          <a:xfrm>
            <a:off x="8385048" y="2267712"/>
            <a:ext cx="2962656" cy="228600"/>
          </a:xfrm>
          <a:prstGeom prst="rect">
            <a:avLst/>
          </a:prstGeom>
          <a:noFill/>
          <a:ln/>
        </p:spPr>
        <p:txBody>
          <a:bodyPr wrap="square" lIns="0" tIns="0" rIns="0" bIns="0" rtlCol="0" anchor="ctr"/>
          <a:lstStyle/>
          <a:p>
            <a:pPr indent="0" marL="0">
              <a:buNone/>
            </a:pPr>
            <a:r>
              <a:rPr lang="en-US" sz="1300" b="1" dirty="0">
                <a:solidFill>
                  <a:srgbClr val="75815A"/>
                </a:solidFill>
              </a:rPr>
              <a:t>3. Control administrativo separado</a:t>
            </a:r>
            <a:endParaRPr lang="en-US" sz="1300" dirty="0"/>
          </a:p>
        </p:txBody>
      </p:sp>
      <p:sp>
        <p:nvSpPr>
          <p:cNvPr id="18" name="Text 16"/>
          <p:cNvSpPr/>
          <p:nvPr/>
        </p:nvSpPr>
        <p:spPr>
          <a:xfrm>
            <a:off x="8385048" y="2578608"/>
            <a:ext cx="2962656" cy="1353312"/>
          </a:xfrm>
          <a:prstGeom prst="rect">
            <a:avLst/>
          </a:prstGeom>
          <a:noFill/>
          <a:ln/>
        </p:spPr>
        <p:txBody>
          <a:bodyPr wrap="square" lIns="254" tIns="254" rIns="254" bIns="254" rtlCol="0" anchor="ctr">
            <a:normAutofit/>
          </a:bodyPr>
          <a:lstStyle/>
          <a:p>
            <a:pPr indent="0" marL="0">
              <a:buNone/>
            </a:pPr>
            <a:r>
              <a:rPr lang="en-US" sz="1220" dirty="0">
                <a:solidFill>
                  <a:srgbClr val="23231F"/>
                </a:solidFill>
              </a:rPr>
              <a:t>Mitzi necesita inventario, alertas, reportes y cierre de caja fuera de la tablet del mostrador.</a:t>
            </a:r>
            <a:endParaRPr lang="en-US" sz="1220" dirty="0"/>
          </a:p>
        </p:txBody>
      </p:sp>
      <p:sp>
        <p:nvSpPr>
          <p:cNvPr id="19" name="Text 17"/>
          <p:cNvSpPr/>
          <p:nvPr/>
        </p:nvSpPr>
        <p:spPr>
          <a:xfrm>
            <a:off x="1005840" y="4983480"/>
            <a:ext cx="10058400" cy="411480"/>
          </a:xfrm>
          <a:prstGeom prst="rect">
            <a:avLst/>
          </a:prstGeom>
          <a:noFill/>
          <a:ln/>
        </p:spPr>
        <p:txBody>
          <a:bodyPr wrap="square" lIns="0" tIns="0" rIns="0" bIns="0" rtlCol="0" anchor="ctr"/>
          <a:lstStyle/>
          <a:p>
            <a:pPr algn="ctr" indent="0" marL="0">
              <a:buNone/>
            </a:pPr>
            <a:r>
              <a:rPr lang="en-US" sz="1900" b="1" dirty="0">
                <a:solidFill>
                  <a:srgbClr val="23231F"/>
                </a:solidFill>
              </a:rPr>
              <a:t>Riesgo a resolver: procesos separados → más errores, menos control y peor experiencia.</a:t>
            </a:r>
            <a:endParaRPr lang="en-US" sz="1900" dirty="0"/>
          </a:p>
        </p:txBody>
      </p:sp>
      <p:sp>
        <p:nvSpPr>
          <p:cNvPr id="25" name="Slide Number Placeholder 0"/>
          <p:cNvSpPr>
            <a:spLocks noGrp="1"/>
          </p:cNvSpPr>
          <p:nvPr>
            <p:ph type="sldNum" sz="quarter" idx="4294967295"/>
          </p:nvPr>
        </p:nvSpPr>
        <p:spPr>
          <a:xfrm>
            <a:off x="11475720" y="651967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625A"/>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58368" y="347472"/>
            <a:ext cx="3474720" cy="182880"/>
          </a:xfrm>
          <a:prstGeom prst="rect">
            <a:avLst/>
          </a:prstGeom>
          <a:noFill/>
          <a:ln/>
        </p:spPr>
        <p:txBody>
          <a:bodyPr wrap="square" lIns="0" tIns="0" rIns="0" bIns="0" rtlCol="0" anchor="ctr"/>
          <a:lstStyle/>
          <a:p>
            <a:pPr indent="0" marL="0">
              <a:buNone/>
            </a:pPr>
            <a:r>
              <a:rPr lang="en-US" sz="850" b="1" dirty="0">
                <a:solidFill>
                  <a:srgbClr val="C56C49"/>
                </a:solidFill>
              </a:rPr>
              <a:t>SOLUCIÓN PROPUESTA</a:t>
            </a:r>
            <a:endParaRPr lang="en-US" sz="850" dirty="0"/>
          </a:p>
        </p:txBody>
      </p:sp>
      <p:sp>
        <p:nvSpPr>
          <p:cNvPr id="3" name="Text 1"/>
          <p:cNvSpPr/>
          <p:nvPr/>
        </p:nvSpPr>
        <p:spPr>
          <a:xfrm>
            <a:off x="640080" y="566928"/>
            <a:ext cx="6217920" cy="548640"/>
          </a:xfrm>
          <a:prstGeom prst="rect">
            <a:avLst/>
          </a:prstGeom>
          <a:noFill/>
          <a:ln/>
        </p:spPr>
        <p:txBody>
          <a:bodyPr wrap="square" lIns="0" tIns="0" rIns="0" bIns="0" rtlCol="0" anchor="ctr">
            <a:normAutofit/>
          </a:bodyPr>
          <a:lstStyle/>
          <a:p>
            <a:pPr indent="0" marL="0">
              <a:buNone/>
            </a:pPr>
            <a:r>
              <a:rPr lang="en-US" sz="2700" b="1" dirty="0">
                <a:solidFill>
                  <a:srgbClr val="23231F"/>
                </a:solidFill>
              </a:rPr>
              <a:t>PuntoSync: tres puertas, un backend</a:t>
            </a:r>
            <a:endParaRPr lang="en-US" sz="2700" dirty="0"/>
          </a:p>
        </p:txBody>
      </p:sp>
      <p:sp>
        <p:nvSpPr>
          <p:cNvPr id="4" name="Shape 2"/>
          <p:cNvSpPr/>
          <p:nvPr/>
        </p:nvSpPr>
        <p:spPr>
          <a:xfrm>
            <a:off x="9473184" y="347472"/>
            <a:ext cx="2057400" cy="310896"/>
          </a:xfrm>
          <a:prstGeom prst="roundRect">
            <a:avLst>
              <a:gd name="adj" fmla="val 23529"/>
            </a:avLst>
          </a:prstGeom>
          <a:solidFill>
            <a:srgbClr val="556B2F"/>
          </a:solidFill>
          <a:ln w="12700">
            <a:solidFill>
              <a:srgbClr val="556B2F"/>
            </a:solidFill>
            <a:prstDash val="solid"/>
          </a:ln>
        </p:spPr>
      </p:sp>
      <p:sp>
        <p:nvSpPr>
          <p:cNvPr id="5" name="Text 3"/>
          <p:cNvSpPr/>
          <p:nvPr/>
        </p:nvSpPr>
        <p:spPr>
          <a:xfrm>
            <a:off x="9582912" y="425196"/>
            <a:ext cx="1828800" cy="109728"/>
          </a:xfrm>
          <a:prstGeom prst="rect">
            <a:avLst/>
          </a:prstGeom>
          <a:noFill/>
          <a:ln/>
        </p:spPr>
        <p:txBody>
          <a:bodyPr wrap="square" lIns="0" tIns="0" rIns="0" bIns="0" rtlCol="0" anchor="ctr"/>
          <a:lstStyle/>
          <a:p>
            <a:pPr algn="ctr" indent="0" marL="0">
              <a:buNone/>
            </a:pPr>
            <a:r>
              <a:rPr lang="en-US" sz="800" b="1" dirty="0">
                <a:solidFill>
                  <a:srgbClr val="FFFFFF"/>
                </a:solidFill>
              </a:rPr>
              <a:t>Ariel · 1:10</a:t>
            </a:r>
            <a:endParaRPr lang="en-US" sz="800" dirty="0"/>
          </a:p>
        </p:txBody>
      </p:sp>
      <p:sp>
        <p:nvSpPr>
          <p:cNvPr id="6" name="Text 4"/>
          <p:cNvSpPr/>
          <p:nvPr/>
        </p:nvSpPr>
        <p:spPr>
          <a:xfrm>
            <a:off x="685800" y="1234440"/>
            <a:ext cx="6217920" cy="457200"/>
          </a:xfrm>
          <a:prstGeom prst="rect">
            <a:avLst/>
          </a:prstGeom>
          <a:noFill/>
          <a:ln/>
        </p:spPr>
        <p:txBody>
          <a:bodyPr wrap="square" lIns="0" tIns="0" rIns="0" bIns="0" rtlCol="0" anchor="ctr"/>
          <a:lstStyle/>
          <a:p>
            <a:pPr indent="0" marL="0">
              <a:buNone/>
            </a:pPr>
            <a:r>
              <a:rPr lang="en-US" sz="1650" dirty="0">
                <a:solidFill>
                  <a:srgbClr val="23231F"/>
                </a:solidFill>
              </a:rPr>
              <a:t>Cada usuario ve solo lo que necesita, pero todos trabajan sobre la misma información.</a:t>
            </a:r>
            <a:endParaRPr lang="en-US" sz="1650" dirty="0"/>
          </a:p>
        </p:txBody>
      </p:sp>
      <p:pic>
        <p:nvPicPr>
          <p:cNvPr id="7" name="Image 0" descr="/mnt/data/puntosync_arch_crop.png">    </p:cNvPr>
          <p:cNvPicPr>
            <a:picLocks noChangeAspect="1"/>
          </p:cNvPicPr>
          <p:nvPr/>
        </p:nvPicPr>
        <p:blipFill>
          <a:blip r:embed="rId1"/>
          <a:stretch>
            <a:fillRect/>
          </a:stretch>
        </p:blipFill>
        <p:spPr>
          <a:xfrm>
            <a:off x="6995160" y="1325880"/>
            <a:ext cx="4754880" cy="3749040"/>
          </a:xfrm>
          <a:prstGeom prst="rect">
            <a:avLst/>
          </a:prstGeom>
        </p:spPr>
      </p:pic>
      <p:sp>
        <p:nvSpPr>
          <p:cNvPr id="8" name="Shape 5"/>
          <p:cNvSpPr/>
          <p:nvPr/>
        </p:nvSpPr>
        <p:spPr>
          <a:xfrm>
            <a:off x="685800" y="1965960"/>
            <a:ext cx="4480560" cy="914400"/>
          </a:xfrm>
          <a:prstGeom prst="roundRect">
            <a:avLst>
              <a:gd name="adj" fmla="val 13000"/>
            </a:avLst>
          </a:prstGeom>
          <a:solidFill>
            <a:srgbClr val="FFFDF8"/>
          </a:solidFill>
          <a:ln w="7620">
            <a:solidFill>
              <a:srgbClr val="E5DED1"/>
            </a:solidFill>
            <a:prstDash val="solid"/>
          </a:ln>
        </p:spPr>
      </p:sp>
      <p:sp>
        <p:nvSpPr>
          <p:cNvPr id="9" name="Shape 6"/>
          <p:cNvSpPr/>
          <p:nvPr/>
        </p:nvSpPr>
        <p:spPr>
          <a:xfrm>
            <a:off x="685800" y="1965960"/>
            <a:ext cx="73152" cy="914400"/>
          </a:xfrm>
          <a:prstGeom prst="rect">
            <a:avLst/>
          </a:prstGeom>
          <a:solidFill>
            <a:srgbClr val="556B2F"/>
          </a:solidFill>
          <a:ln w="12700">
            <a:solidFill>
              <a:srgbClr val="556B2F"/>
            </a:solidFill>
            <a:prstDash val="solid"/>
          </a:ln>
        </p:spPr>
      </p:sp>
      <p:sp>
        <p:nvSpPr>
          <p:cNvPr id="10" name="Text 7"/>
          <p:cNvSpPr/>
          <p:nvPr/>
        </p:nvSpPr>
        <p:spPr>
          <a:xfrm>
            <a:off x="886968" y="2130552"/>
            <a:ext cx="4151376" cy="228600"/>
          </a:xfrm>
          <a:prstGeom prst="rect">
            <a:avLst/>
          </a:prstGeom>
          <a:noFill/>
          <a:ln/>
        </p:spPr>
        <p:txBody>
          <a:bodyPr wrap="square" lIns="0" tIns="0" rIns="0" bIns="0" rtlCol="0" anchor="ctr"/>
          <a:lstStyle/>
          <a:p>
            <a:pPr indent="0" marL="0">
              <a:buNone/>
            </a:pPr>
            <a:r>
              <a:rPr lang="en-US" sz="1300" b="1" dirty="0">
                <a:solidFill>
                  <a:srgbClr val="556B2F"/>
                </a:solidFill>
              </a:rPr>
              <a:t>Web cliente</a:t>
            </a:r>
            <a:endParaRPr lang="en-US" sz="1300" dirty="0"/>
          </a:p>
        </p:txBody>
      </p:sp>
      <p:sp>
        <p:nvSpPr>
          <p:cNvPr id="11" name="Text 8"/>
          <p:cNvSpPr/>
          <p:nvPr/>
        </p:nvSpPr>
        <p:spPr>
          <a:xfrm>
            <a:off x="886968" y="2441448"/>
            <a:ext cx="4151376" cy="347472"/>
          </a:xfrm>
          <a:prstGeom prst="rect">
            <a:avLst/>
          </a:prstGeom>
          <a:noFill/>
          <a:ln/>
        </p:spPr>
        <p:txBody>
          <a:bodyPr wrap="square" lIns="254" tIns="254" rIns="254" bIns="254" rtlCol="0" anchor="ctr">
            <a:normAutofit/>
          </a:bodyPr>
          <a:lstStyle/>
          <a:p>
            <a:pPr indent="0" marL="0">
              <a:buNone/>
            </a:pPr>
            <a:r>
              <a:rPr lang="en-US" sz="1220" dirty="0">
                <a:solidFill>
                  <a:srgbClr val="23231F"/>
                </a:solidFill>
              </a:rPr>
              <a:t>Catálogo · pedido · Webpay o pago local · seguimiento · retiro</a:t>
            </a:r>
            <a:endParaRPr lang="en-US" sz="1220" dirty="0"/>
          </a:p>
        </p:txBody>
      </p:sp>
      <p:sp>
        <p:nvSpPr>
          <p:cNvPr id="12" name="Shape 9"/>
          <p:cNvSpPr/>
          <p:nvPr/>
        </p:nvSpPr>
        <p:spPr>
          <a:xfrm>
            <a:off x="685800" y="3108960"/>
            <a:ext cx="4480560" cy="914400"/>
          </a:xfrm>
          <a:prstGeom prst="roundRect">
            <a:avLst>
              <a:gd name="adj" fmla="val 13000"/>
            </a:avLst>
          </a:prstGeom>
          <a:solidFill>
            <a:srgbClr val="FFFDF8"/>
          </a:solidFill>
          <a:ln w="7620">
            <a:solidFill>
              <a:srgbClr val="E5DED1"/>
            </a:solidFill>
            <a:prstDash val="solid"/>
          </a:ln>
        </p:spPr>
      </p:sp>
      <p:sp>
        <p:nvSpPr>
          <p:cNvPr id="13" name="Shape 10"/>
          <p:cNvSpPr/>
          <p:nvPr/>
        </p:nvSpPr>
        <p:spPr>
          <a:xfrm>
            <a:off x="685800" y="3108960"/>
            <a:ext cx="73152" cy="914400"/>
          </a:xfrm>
          <a:prstGeom prst="rect">
            <a:avLst/>
          </a:prstGeom>
          <a:solidFill>
            <a:srgbClr val="C56C49"/>
          </a:solidFill>
          <a:ln w="12700">
            <a:solidFill>
              <a:srgbClr val="C56C49"/>
            </a:solidFill>
            <a:prstDash val="solid"/>
          </a:ln>
        </p:spPr>
      </p:sp>
      <p:sp>
        <p:nvSpPr>
          <p:cNvPr id="14" name="Text 11"/>
          <p:cNvSpPr/>
          <p:nvPr/>
        </p:nvSpPr>
        <p:spPr>
          <a:xfrm>
            <a:off x="886968" y="3273552"/>
            <a:ext cx="4151376" cy="228600"/>
          </a:xfrm>
          <a:prstGeom prst="rect">
            <a:avLst/>
          </a:prstGeom>
          <a:noFill/>
          <a:ln/>
        </p:spPr>
        <p:txBody>
          <a:bodyPr wrap="square" lIns="0" tIns="0" rIns="0" bIns="0" rtlCol="0" anchor="ctr"/>
          <a:lstStyle/>
          <a:p>
            <a:pPr indent="0" marL="0">
              <a:buNone/>
            </a:pPr>
            <a:r>
              <a:rPr lang="en-US" sz="1300" b="1" dirty="0">
                <a:solidFill>
                  <a:srgbClr val="C56C49"/>
                </a:solidFill>
              </a:rPr>
              <a:t>Tablet / POS</a:t>
            </a:r>
            <a:endParaRPr lang="en-US" sz="1300" dirty="0"/>
          </a:p>
        </p:txBody>
      </p:sp>
      <p:sp>
        <p:nvSpPr>
          <p:cNvPr id="15" name="Text 12"/>
          <p:cNvSpPr/>
          <p:nvPr/>
        </p:nvSpPr>
        <p:spPr>
          <a:xfrm>
            <a:off x="886968" y="3584448"/>
            <a:ext cx="4151376" cy="347472"/>
          </a:xfrm>
          <a:prstGeom prst="rect">
            <a:avLst/>
          </a:prstGeom>
          <a:noFill/>
          <a:ln/>
        </p:spPr>
        <p:txBody>
          <a:bodyPr wrap="square" lIns="254" tIns="254" rIns="254" bIns="254" rtlCol="0" anchor="ctr">
            <a:normAutofit/>
          </a:bodyPr>
          <a:lstStyle/>
          <a:p>
            <a:pPr indent="0" marL="0">
              <a:buNone/>
            </a:pPr>
            <a:r>
              <a:rPr lang="en-US" sz="1220" dirty="0">
                <a:solidFill>
                  <a:srgbClr val="23231F"/>
                </a:solidFill>
              </a:rPr>
              <a:t>Venta presencial · efectivo/vuelto · TUU · pedidos pendientes</a:t>
            </a:r>
            <a:endParaRPr lang="en-US" sz="1220" dirty="0"/>
          </a:p>
        </p:txBody>
      </p:sp>
      <p:sp>
        <p:nvSpPr>
          <p:cNvPr id="16" name="Shape 13"/>
          <p:cNvSpPr/>
          <p:nvPr/>
        </p:nvSpPr>
        <p:spPr>
          <a:xfrm>
            <a:off x="685800" y="4251960"/>
            <a:ext cx="4480560" cy="914400"/>
          </a:xfrm>
          <a:prstGeom prst="roundRect">
            <a:avLst>
              <a:gd name="adj" fmla="val 13000"/>
            </a:avLst>
          </a:prstGeom>
          <a:solidFill>
            <a:srgbClr val="FFFDF8"/>
          </a:solidFill>
          <a:ln w="7620">
            <a:solidFill>
              <a:srgbClr val="E5DED1"/>
            </a:solidFill>
            <a:prstDash val="solid"/>
          </a:ln>
        </p:spPr>
      </p:sp>
      <p:sp>
        <p:nvSpPr>
          <p:cNvPr id="17" name="Shape 14"/>
          <p:cNvSpPr/>
          <p:nvPr/>
        </p:nvSpPr>
        <p:spPr>
          <a:xfrm>
            <a:off x="685800" y="4251960"/>
            <a:ext cx="73152" cy="914400"/>
          </a:xfrm>
          <a:prstGeom prst="rect">
            <a:avLst/>
          </a:prstGeom>
          <a:solidFill>
            <a:srgbClr val="75815A"/>
          </a:solidFill>
          <a:ln w="12700">
            <a:solidFill>
              <a:srgbClr val="75815A"/>
            </a:solidFill>
            <a:prstDash val="solid"/>
          </a:ln>
        </p:spPr>
      </p:sp>
      <p:sp>
        <p:nvSpPr>
          <p:cNvPr id="18" name="Text 15"/>
          <p:cNvSpPr/>
          <p:nvPr/>
        </p:nvSpPr>
        <p:spPr>
          <a:xfrm>
            <a:off x="886968" y="4416552"/>
            <a:ext cx="4151376" cy="228600"/>
          </a:xfrm>
          <a:prstGeom prst="rect">
            <a:avLst/>
          </a:prstGeom>
          <a:noFill/>
          <a:ln/>
        </p:spPr>
        <p:txBody>
          <a:bodyPr wrap="square" lIns="0" tIns="0" rIns="0" bIns="0" rtlCol="0" anchor="ctr"/>
          <a:lstStyle/>
          <a:p>
            <a:pPr indent="0" marL="0">
              <a:buNone/>
            </a:pPr>
            <a:r>
              <a:rPr lang="en-US" sz="1300" b="1" dirty="0">
                <a:solidFill>
                  <a:srgbClr val="75815A"/>
                </a:solidFill>
              </a:rPr>
              <a:t>Escritorio admin</a:t>
            </a:r>
            <a:endParaRPr lang="en-US" sz="1300" dirty="0"/>
          </a:p>
        </p:txBody>
      </p:sp>
      <p:sp>
        <p:nvSpPr>
          <p:cNvPr id="19" name="Text 16"/>
          <p:cNvSpPr/>
          <p:nvPr/>
        </p:nvSpPr>
        <p:spPr>
          <a:xfrm>
            <a:off x="886968" y="4727448"/>
            <a:ext cx="4151376" cy="347472"/>
          </a:xfrm>
          <a:prstGeom prst="rect">
            <a:avLst/>
          </a:prstGeom>
          <a:noFill/>
          <a:ln/>
        </p:spPr>
        <p:txBody>
          <a:bodyPr wrap="square" lIns="254" tIns="254" rIns="254" bIns="254" rtlCol="0" anchor="ctr">
            <a:normAutofit/>
          </a:bodyPr>
          <a:lstStyle/>
          <a:p>
            <a:pPr indent="0" marL="0">
              <a:buNone/>
            </a:pPr>
            <a:r>
              <a:rPr lang="en-US" sz="1220" dirty="0">
                <a:solidFill>
                  <a:srgbClr val="23231F"/>
                </a:solidFill>
              </a:rPr>
              <a:t>Inventario · reportes · usuarios · cierre · Authenticator</a:t>
            </a:r>
            <a:endParaRPr lang="en-US" sz="1220" dirty="0"/>
          </a:p>
        </p:txBody>
      </p:sp>
      <p:sp>
        <p:nvSpPr>
          <p:cNvPr id="20" name="Text 17"/>
          <p:cNvSpPr/>
          <p:nvPr/>
        </p:nvSpPr>
        <p:spPr>
          <a:xfrm>
            <a:off x="777240" y="5504688"/>
            <a:ext cx="4297680" cy="292608"/>
          </a:xfrm>
          <a:prstGeom prst="rect">
            <a:avLst/>
          </a:prstGeom>
          <a:noFill/>
          <a:ln/>
        </p:spPr>
        <p:txBody>
          <a:bodyPr wrap="square" lIns="0" tIns="0" rIns="0" bIns="0" rtlCol="0" anchor="ctr"/>
          <a:lstStyle/>
          <a:p>
            <a:pPr indent="0" marL="0">
              <a:buNone/>
            </a:pPr>
            <a:r>
              <a:rPr lang="en-US" sz="1320" b="1" dirty="0">
                <a:solidFill>
                  <a:srgbClr val="746D65"/>
                </a:solidFill>
              </a:rPr>
              <a:t>Base común: productos, stock, pedidos, ventas y caja.</a:t>
            </a:r>
            <a:endParaRPr lang="en-US" sz="1320" dirty="0"/>
          </a:p>
        </p:txBody>
      </p:sp>
      <p:sp>
        <p:nvSpPr>
          <p:cNvPr id="25" name="Slide Number Placeholder 0"/>
          <p:cNvSpPr>
            <a:spLocks noGrp="1"/>
          </p:cNvSpPr>
          <p:nvPr>
            <p:ph type="sldNum" sz="quarter" idx="4294967295"/>
          </p:nvPr>
        </p:nvSpPr>
        <p:spPr>
          <a:xfrm>
            <a:off x="11475720" y="651967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625A"/>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8368" y="347472"/>
            <a:ext cx="3474720" cy="182880"/>
          </a:xfrm>
          <a:prstGeom prst="rect">
            <a:avLst/>
          </a:prstGeom>
          <a:noFill/>
          <a:ln/>
        </p:spPr>
        <p:txBody>
          <a:bodyPr wrap="square" lIns="0" tIns="0" rIns="0" bIns="0" rtlCol="0" anchor="ctr"/>
          <a:lstStyle/>
          <a:p>
            <a:pPr indent="0" marL="0">
              <a:buNone/>
            </a:pPr>
            <a:r>
              <a:rPr lang="en-US" sz="850" b="1" dirty="0">
                <a:solidFill>
                  <a:srgbClr val="C56C49"/>
                </a:solidFill>
              </a:rPr>
              <a:t>PUERTA 1: TRABAJADORES MAYORES</a:t>
            </a:r>
            <a:endParaRPr lang="en-US" sz="850" dirty="0"/>
          </a:p>
        </p:txBody>
      </p:sp>
      <p:sp>
        <p:nvSpPr>
          <p:cNvPr id="3" name="Text 1"/>
          <p:cNvSpPr/>
          <p:nvPr/>
        </p:nvSpPr>
        <p:spPr>
          <a:xfrm>
            <a:off x="640080" y="566928"/>
            <a:ext cx="5943600" cy="548640"/>
          </a:xfrm>
          <a:prstGeom prst="rect">
            <a:avLst/>
          </a:prstGeom>
          <a:noFill/>
          <a:ln/>
        </p:spPr>
        <p:txBody>
          <a:bodyPr wrap="square" lIns="0" tIns="0" rIns="0" bIns="0" rtlCol="0" anchor="ctr">
            <a:normAutofit/>
          </a:bodyPr>
          <a:lstStyle/>
          <a:p>
            <a:pPr indent="0" marL="0">
              <a:buNone/>
            </a:pPr>
            <a:r>
              <a:rPr lang="en-US" sz="2700" b="1" dirty="0">
                <a:solidFill>
                  <a:srgbClr val="23231F"/>
                </a:solidFill>
              </a:rPr>
              <a:t>POS accesible para el local</a:t>
            </a:r>
            <a:endParaRPr lang="en-US" sz="2700" dirty="0"/>
          </a:p>
        </p:txBody>
      </p:sp>
      <p:sp>
        <p:nvSpPr>
          <p:cNvPr id="4" name="Shape 2"/>
          <p:cNvSpPr/>
          <p:nvPr/>
        </p:nvSpPr>
        <p:spPr>
          <a:xfrm>
            <a:off x="9473184" y="347472"/>
            <a:ext cx="2057400" cy="310896"/>
          </a:xfrm>
          <a:prstGeom prst="roundRect">
            <a:avLst>
              <a:gd name="adj" fmla="val 23529"/>
            </a:avLst>
          </a:prstGeom>
          <a:solidFill>
            <a:srgbClr val="556B2F"/>
          </a:solidFill>
          <a:ln w="12700">
            <a:solidFill>
              <a:srgbClr val="556B2F"/>
            </a:solidFill>
            <a:prstDash val="solid"/>
          </a:ln>
        </p:spPr>
      </p:sp>
      <p:sp>
        <p:nvSpPr>
          <p:cNvPr id="5" name="Text 3"/>
          <p:cNvSpPr/>
          <p:nvPr/>
        </p:nvSpPr>
        <p:spPr>
          <a:xfrm>
            <a:off x="9582912" y="425196"/>
            <a:ext cx="1828800" cy="109728"/>
          </a:xfrm>
          <a:prstGeom prst="rect">
            <a:avLst/>
          </a:prstGeom>
          <a:noFill/>
          <a:ln/>
        </p:spPr>
        <p:txBody>
          <a:bodyPr wrap="square" lIns="0" tIns="0" rIns="0" bIns="0" rtlCol="0" anchor="ctr"/>
          <a:lstStyle/>
          <a:p>
            <a:pPr algn="ctr" indent="0" marL="0">
              <a:buNone/>
            </a:pPr>
            <a:r>
              <a:rPr lang="en-US" sz="800" b="1" dirty="0">
                <a:solidFill>
                  <a:srgbClr val="FFFFFF"/>
                </a:solidFill>
              </a:rPr>
              <a:t>Ariel · 1:00</a:t>
            </a:r>
            <a:endParaRPr lang="en-US" sz="800" dirty="0"/>
          </a:p>
        </p:txBody>
      </p:sp>
      <p:pic>
        <p:nvPicPr>
          <p:cNvPr id="6" name="Image 0" descr="/mnt/data/puntosync_pos_crop.png">    </p:cNvPr>
          <p:cNvPicPr>
            <a:picLocks noChangeAspect="1"/>
          </p:cNvPicPr>
          <p:nvPr/>
        </p:nvPicPr>
        <p:blipFill>
          <a:blip r:embed="rId1"/>
          <a:stretch>
            <a:fillRect/>
          </a:stretch>
        </p:blipFill>
        <p:spPr>
          <a:xfrm>
            <a:off x="6812280" y="1417320"/>
            <a:ext cx="4937760" cy="3767328"/>
          </a:xfrm>
          <a:prstGeom prst="rect">
            <a:avLst/>
          </a:prstGeom>
        </p:spPr>
      </p:pic>
      <p:sp>
        <p:nvSpPr>
          <p:cNvPr id="7" name="Text 4"/>
          <p:cNvSpPr/>
          <p:nvPr/>
        </p:nvSpPr>
        <p:spPr>
          <a:xfrm>
            <a:off x="713232" y="1243584"/>
            <a:ext cx="4754880" cy="411480"/>
          </a:xfrm>
          <a:prstGeom prst="rect">
            <a:avLst/>
          </a:prstGeom>
          <a:noFill/>
          <a:ln/>
        </p:spPr>
        <p:txBody>
          <a:bodyPr wrap="square" lIns="0" tIns="0" rIns="0" bIns="0" rtlCol="0" anchor="ctr"/>
          <a:lstStyle/>
          <a:p>
            <a:pPr indent="0" marL="0">
              <a:buNone/>
            </a:pPr>
            <a:r>
              <a:rPr lang="en-US" sz="1700" b="1" dirty="0">
                <a:solidFill>
                  <a:srgbClr val="23231F"/>
                </a:solidFill>
              </a:rPr>
              <a:t>La tecnología se adapta a quien atiende, no al revés.</a:t>
            </a:r>
            <a:endParaRPr lang="en-US" sz="1700" dirty="0"/>
          </a:p>
        </p:txBody>
      </p:sp>
      <p:sp>
        <p:nvSpPr>
          <p:cNvPr id="8" name="Text 5"/>
          <p:cNvSpPr/>
          <p:nvPr/>
        </p:nvSpPr>
        <p:spPr>
          <a:xfrm>
            <a:off x="822960" y="2057400"/>
            <a:ext cx="4480560" cy="2423160"/>
          </a:xfrm>
          <a:prstGeom prst="rect">
            <a:avLst/>
          </a:prstGeom>
          <a:noFill/>
          <a:ln/>
        </p:spPr>
        <p:txBody>
          <a:bodyPr wrap="square" rtlCol="0" anchor="ctr">
            <a:normAutofit/>
          </a:bodyPr>
          <a:lstStyle/>
          <a:p>
            <a:r>
              <a:rPr lang="en-US" sz="1500" dirty="0">
                <a:solidFill>
                  <a:srgbClr val="23231F"/>
                </a:solidFill>
                <a:latin typeface="Aptos" pitchFamily="34" charset="0"/>
                <a:ea typeface="Aptos" pitchFamily="34" charset="-122"/>
                <a:cs typeface="Aptos" pitchFamily="34" charset="-120"/>
              </a:rPr>
              <a:t>Botones grandes y operación táctil.</a:t>
            </a:r>
            <a:endParaRPr lang="en-US" sz="1500" dirty="0"/>
          </a:p>
          <a:p>
            <a:r>
              <a:rPr lang="en-US" sz="1500" dirty="0">
                <a:solidFill>
                  <a:srgbClr val="23231F"/>
                </a:solidFill>
                <a:latin typeface="Aptos" pitchFamily="34" charset="0"/>
                <a:ea typeface="Aptos" pitchFamily="34" charset="-122"/>
                <a:cs typeface="Aptos" pitchFamily="34" charset="-120"/>
              </a:rPr>
              <a:t>Tipografía visible y alto contraste.</a:t>
            </a:r>
            <a:endParaRPr lang="en-US" sz="1500" dirty="0"/>
          </a:p>
          <a:p>
            <a:r>
              <a:rPr lang="en-US" sz="1500" dirty="0">
                <a:solidFill>
                  <a:srgbClr val="23231F"/>
                </a:solidFill>
                <a:latin typeface="Aptos" pitchFamily="34" charset="0"/>
                <a:ea typeface="Aptos" pitchFamily="34" charset="-122"/>
                <a:cs typeface="Aptos" pitchFamily="34" charset="-120"/>
              </a:rPr>
              <a:t>Venta en efectivo con vuelto claro.</a:t>
            </a:r>
            <a:endParaRPr lang="en-US" sz="1500" dirty="0"/>
          </a:p>
          <a:p>
            <a:r>
              <a:rPr lang="en-US" sz="1500" dirty="0">
                <a:solidFill>
                  <a:srgbClr val="23231F"/>
                </a:solidFill>
                <a:latin typeface="Aptos" pitchFamily="34" charset="0"/>
                <a:ea typeface="Aptos" pitchFamily="34" charset="-122"/>
                <a:cs typeface="Aptos" pitchFamily="34" charset="-120"/>
              </a:rPr>
              <a:t>Cobro TUU sin reemplazar la máquina existente.</a:t>
            </a:r>
            <a:endParaRPr lang="en-US" sz="1500" dirty="0"/>
          </a:p>
          <a:p>
            <a:r>
              <a:rPr lang="en-US" sz="1500" dirty="0">
                <a:solidFill>
                  <a:srgbClr val="23231F"/>
                </a:solidFill>
                <a:latin typeface="Aptos" pitchFamily="34" charset="0"/>
                <a:ea typeface="Aptos" pitchFamily="34" charset="-122"/>
                <a:cs typeface="Aptos" pitchFamily="34" charset="-120"/>
              </a:rPr>
              <a:t>Pedidos pendientes y retirados separados.</a:t>
            </a:r>
            <a:endParaRPr lang="en-US" sz="1500" dirty="0"/>
          </a:p>
        </p:txBody>
      </p:sp>
      <p:sp>
        <p:nvSpPr>
          <p:cNvPr id="9" name="Shape 6"/>
          <p:cNvSpPr/>
          <p:nvPr/>
        </p:nvSpPr>
        <p:spPr>
          <a:xfrm>
            <a:off x="749808" y="4983480"/>
            <a:ext cx="4389120" cy="685800"/>
          </a:xfrm>
          <a:prstGeom prst="roundRect">
            <a:avLst>
              <a:gd name="adj" fmla="val 13333"/>
            </a:avLst>
          </a:prstGeom>
          <a:solidFill>
            <a:srgbClr val="F1D1C1"/>
          </a:solidFill>
          <a:ln w="12700">
            <a:solidFill>
              <a:srgbClr val="E2B59E"/>
            </a:solidFill>
            <a:prstDash val="solid"/>
          </a:ln>
        </p:spPr>
      </p:sp>
      <p:sp>
        <p:nvSpPr>
          <p:cNvPr id="10" name="Text 7"/>
          <p:cNvSpPr/>
          <p:nvPr/>
        </p:nvSpPr>
        <p:spPr>
          <a:xfrm>
            <a:off x="914400" y="5175504"/>
            <a:ext cx="4023360" cy="274320"/>
          </a:xfrm>
          <a:prstGeom prst="rect">
            <a:avLst/>
          </a:prstGeom>
          <a:noFill/>
          <a:ln/>
        </p:spPr>
        <p:txBody>
          <a:bodyPr wrap="square" lIns="0" tIns="0" rIns="0" bIns="0" rtlCol="0" anchor="ctr"/>
          <a:lstStyle/>
          <a:p>
            <a:pPr algn="ctr" indent="0" marL="0">
              <a:buNone/>
            </a:pPr>
            <a:r>
              <a:rPr lang="en-US" sz="1250" b="1" dirty="0">
                <a:solidFill>
                  <a:srgbClr val="23231F"/>
                </a:solidFill>
              </a:rPr>
              <a:t>Criterio clave: si no se entiende al primer uso, el proyecto no cumple su propósito.</a:t>
            </a:r>
            <a:endParaRPr lang="en-US" sz="1250" dirty="0"/>
          </a:p>
        </p:txBody>
      </p:sp>
      <p:sp>
        <p:nvSpPr>
          <p:cNvPr id="25" name="Slide Number Placeholder 0"/>
          <p:cNvSpPr>
            <a:spLocks noGrp="1"/>
          </p:cNvSpPr>
          <p:nvPr>
            <p:ph type="sldNum" sz="quarter" idx="4294967295"/>
          </p:nvPr>
        </p:nvSpPr>
        <p:spPr>
          <a:xfrm>
            <a:off x="11475720" y="651967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625A"/>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58368" y="347472"/>
            <a:ext cx="3474720" cy="182880"/>
          </a:xfrm>
          <a:prstGeom prst="rect">
            <a:avLst/>
          </a:prstGeom>
          <a:noFill/>
          <a:ln/>
        </p:spPr>
        <p:txBody>
          <a:bodyPr wrap="square" lIns="0" tIns="0" rIns="0" bIns="0" rtlCol="0" anchor="ctr"/>
          <a:lstStyle/>
          <a:p>
            <a:pPr indent="0" marL="0">
              <a:buNone/>
            </a:pPr>
            <a:r>
              <a:rPr lang="en-US" sz="850" b="1" dirty="0">
                <a:solidFill>
                  <a:srgbClr val="C56C49"/>
                </a:solidFill>
              </a:rPr>
              <a:t>PUERTA 2: MITZI</a:t>
            </a:r>
            <a:endParaRPr lang="en-US" sz="850" dirty="0"/>
          </a:p>
        </p:txBody>
      </p:sp>
      <p:sp>
        <p:nvSpPr>
          <p:cNvPr id="3" name="Text 1"/>
          <p:cNvSpPr/>
          <p:nvPr/>
        </p:nvSpPr>
        <p:spPr>
          <a:xfrm>
            <a:off x="640080" y="566928"/>
            <a:ext cx="6583680" cy="548640"/>
          </a:xfrm>
          <a:prstGeom prst="rect">
            <a:avLst/>
          </a:prstGeom>
          <a:noFill/>
          <a:ln/>
        </p:spPr>
        <p:txBody>
          <a:bodyPr wrap="square" lIns="0" tIns="0" rIns="0" bIns="0" rtlCol="0" anchor="ctr">
            <a:normAutofit/>
          </a:bodyPr>
          <a:lstStyle/>
          <a:p>
            <a:pPr indent="0" marL="0">
              <a:buNone/>
            </a:pPr>
            <a:r>
              <a:rPr lang="en-US" sz="2700" b="1" dirty="0">
                <a:solidFill>
                  <a:srgbClr val="23231F"/>
                </a:solidFill>
              </a:rPr>
              <a:t>Administración fuera del mostrador</a:t>
            </a:r>
            <a:endParaRPr lang="en-US" sz="2700" dirty="0"/>
          </a:p>
        </p:txBody>
      </p:sp>
      <p:sp>
        <p:nvSpPr>
          <p:cNvPr id="4" name="Shape 2"/>
          <p:cNvSpPr/>
          <p:nvPr/>
        </p:nvSpPr>
        <p:spPr>
          <a:xfrm>
            <a:off x="9473184" y="347472"/>
            <a:ext cx="2057400" cy="310896"/>
          </a:xfrm>
          <a:prstGeom prst="roundRect">
            <a:avLst>
              <a:gd name="adj" fmla="val 23529"/>
            </a:avLst>
          </a:prstGeom>
          <a:solidFill>
            <a:srgbClr val="556B2F"/>
          </a:solidFill>
          <a:ln w="12700">
            <a:solidFill>
              <a:srgbClr val="556B2F"/>
            </a:solidFill>
            <a:prstDash val="solid"/>
          </a:ln>
        </p:spPr>
      </p:sp>
      <p:sp>
        <p:nvSpPr>
          <p:cNvPr id="5" name="Text 3"/>
          <p:cNvSpPr/>
          <p:nvPr/>
        </p:nvSpPr>
        <p:spPr>
          <a:xfrm>
            <a:off x="9582912" y="425196"/>
            <a:ext cx="1828800" cy="109728"/>
          </a:xfrm>
          <a:prstGeom prst="rect">
            <a:avLst/>
          </a:prstGeom>
          <a:noFill/>
          <a:ln/>
        </p:spPr>
        <p:txBody>
          <a:bodyPr wrap="square" lIns="0" tIns="0" rIns="0" bIns="0" rtlCol="0" anchor="ctr"/>
          <a:lstStyle/>
          <a:p>
            <a:pPr algn="ctr" indent="0" marL="0">
              <a:buNone/>
            </a:pPr>
            <a:r>
              <a:rPr lang="en-US" sz="800" b="1" dirty="0">
                <a:solidFill>
                  <a:srgbClr val="FFFFFF"/>
                </a:solidFill>
              </a:rPr>
              <a:t>Ariel · 0:55</a:t>
            </a:r>
            <a:endParaRPr lang="en-US" sz="800" dirty="0"/>
          </a:p>
        </p:txBody>
      </p:sp>
      <p:sp>
        <p:nvSpPr>
          <p:cNvPr id="6" name="Text 4"/>
          <p:cNvSpPr/>
          <p:nvPr/>
        </p:nvSpPr>
        <p:spPr>
          <a:xfrm>
            <a:off x="685800" y="1234440"/>
            <a:ext cx="6766560" cy="411480"/>
          </a:xfrm>
          <a:prstGeom prst="rect">
            <a:avLst/>
          </a:prstGeom>
          <a:noFill/>
          <a:ln/>
        </p:spPr>
        <p:txBody>
          <a:bodyPr wrap="square" lIns="0" tIns="0" rIns="0" bIns="0" rtlCol="0" anchor="ctr"/>
          <a:lstStyle/>
          <a:p>
            <a:pPr indent="0" marL="0">
              <a:buNone/>
            </a:pPr>
            <a:r>
              <a:rPr lang="en-US" sz="1650" dirty="0">
                <a:solidFill>
                  <a:srgbClr val="23231F"/>
                </a:solidFill>
              </a:rPr>
              <a:t>La administración no debe competir con el POS ni quedar expuesta en la web del local.</a:t>
            </a:r>
            <a:endParaRPr lang="en-US" sz="1650" dirty="0"/>
          </a:p>
        </p:txBody>
      </p:sp>
      <p:sp>
        <p:nvSpPr>
          <p:cNvPr id="7" name="Shape 5"/>
          <p:cNvSpPr/>
          <p:nvPr/>
        </p:nvSpPr>
        <p:spPr>
          <a:xfrm>
            <a:off x="822960" y="2057400"/>
            <a:ext cx="3749040" cy="2240280"/>
          </a:xfrm>
          <a:prstGeom prst="roundRect">
            <a:avLst>
              <a:gd name="adj" fmla="val 5306"/>
            </a:avLst>
          </a:prstGeom>
          <a:solidFill>
            <a:srgbClr val="425728"/>
          </a:solidFill>
          <a:ln w="12700">
            <a:solidFill>
              <a:srgbClr val="425728"/>
            </a:solidFill>
            <a:prstDash val="solid"/>
          </a:ln>
        </p:spPr>
      </p:sp>
      <p:sp>
        <p:nvSpPr>
          <p:cNvPr id="8" name="Shape 6"/>
          <p:cNvSpPr/>
          <p:nvPr/>
        </p:nvSpPr>
        <p:spPr>
          <a:xfrm>
            <a:off x="1024128" y="2267712"/>
            <a:ext cx="3346704" cy="1737360"/>
          </a:xfrm>
          <a:prstGeom prst="rect">
            <a:avLst/>
          </a:prstGeom>
          <a:solidFill>
            <a:srgbClr val="F9F7F1"/>
          </a:solidFill>
          <a:ln w="12700">
            <a:solidFill>
              <a:srgbClr val="F9F7F1"/>
            </a:solidFill>
            <a:prstDash val="solid"/>
          </a:ln>
        </p:spPr>
      </p:sp>
      <p:sp>
        <p:nvSpPr>
          <p:cNvPr id="9" name="Shape 7"/>
          <p:cNvSpPr/>
          <p:nvPr/>
        </p:nvSpPr>
        <p:spPr>
          <a:xfrm>
            <a:off x="2194560" y="4315968"/>
            <a:ext cx="914400" cy="182880"/>
          </a:xfrm>
          <a:prstGeom prst="rect">
            <a:avLst/>
          </a:prstGeom>
          <a:solidFill>
            <a:srgbClr val="425728"/>
          </a:solidFill>
          <a:ln w="12700">
            <a:solidFill>
              <a:srgbClr val="425728"/>
            </a:solidFill>
            <a:prstDash val="solid"/>
          </a:ln>
        </p:spPr>
      </p:sp>
      <p:sp>
        <p:nvSpPr>
          <p:cNvPr id="10" name="Shape 8"/>
          <p:cNvSpPr/>
          <p:nvPr/>
        </p:nvSpPr>
        <p:spPr>
          <a:xfrm>
            <a:off x="1691640" y="4498848"/>
            <a:ext cx="1874520" cy="146304"/>
          </a:xfrm>
          <a:prstGeom prst="rect">
            <a:avLst/>
          </a:prstGeom>
          <a:solidFill>
            <a:srgbClr val="425728"/>
          </a:solidFill>
          <a:ln w="12700">
            <a:solidFill>
              <a:srgbClr val="425728"/>
            </a:solidFill>
            <a:prstDash val="solid"/>
          </a:ln>
        </p:spPr>
      </p:sp>
      <p:sp>
        <p:nvSpPr>
          <p:cNvPr id="11" name="Text 9"/>
          <p:cNvSpPr/>
          <p:nvPr/>
        </p:nvSpPr>
        <p:spPr>
          <a:xfrm>
            <a:off x="1261872" y="2514600"/>
            <a:ext cx="2834640" cy="228600"/>
          </a:xfrm>
          <a:prstGeom prst="rect">
            <a:avLst/>
          </a:prstGeom>
          <a:noFill/>
          <a:ln/>
        </p:spPr>
        <p:txBody>
          <a:bodyPr wrap="square" lIns="0" tIns="0" rIns="0" bIns="0" rtlCol="0" anchor="ctr"/>
          <a:lstStyle/>
          <a:p>
            <a:pPr algn="ctr" indent="0" marL="0">
              <a:buNone/>
            </a:pPr>
            <a:r>
              <a:rPr lang="en-US" sz="1700" b="1" dirty="0">
                <a:solidFill>
                  <a:srgbClr val="425728"/>
                </a:solidFill>
              </a:rPr>
              <a:t>Admin escritorio</a:t>
            </a:r>
            <a:endParaRPr lang="en-US" sz="1700" dirty="0"/>
          </a:p>
        </p:txBody>
      </p:sp>
      <p:sp>
        <p:nvSpPr>
          <p:cNvPr id="12" name="Text 10"/>
          <p:cNvSpPr/>
          <p:nvPr/>
        </p:nvSpPr>
        <p:spPr>
          <a:xfrm>
            <a:off x="1417320" y="2907792"/>
            <a:ext cx="2560320" cy="914400"/>
          </a:xfrm>
          <a:prstGeom prst="rect">
            <a:avLst/>
          </a:prstGeom>
          <a:noFill/>
          <a:ln/>
        </p:spPr>
        <p:txBody>
          <a:bodyPr wrap="square" lIns="254" tIns="254" rIns="254" bIns="254" rtlCol="0" anchor="ctr">
            <a:normAutofit/>
          </a:bodyPr>
          <a:lstStyle/>
          <a:p>
            <a:pPr algn="ctr" indent="0" marL="0">
              <a:buNone/>
            </a:pPr>
            <a:r>
              <a:rPr lang="en-US" sz="1350" dirty="0">
                <a:solidFill>
                  <a:srgbClr val="23231F"/>
                </a:solidFill>
              </a:rPr>
              <a:t>Inventario</a:t>
            </a:r>
            <a:endParaRPr lang="en-US" sz="1350" dirty="0"/>
          </a:p>
          <a:p>
            <a:pPr algn="ctr" indent="0" marL="0">
              <a:buNone/>
            </a:pPr>
            <a:r>
              <a:rPr lang="en-US" sz="1350" dirty="0">
                <a:solidFill>
                  <a:srgbClr val="23231F"/>
                </a:solidFill>
              </a:rPr>
              <a:t>Usuarios</a:t>
            </a:r>
            <a:endParaRPr lang="en-US" sz="1350" dirty="0"/>
          </a:p>
          <a:p>
            <a:pPr algn="ctr" indent="0" marL="0">
              <a:buNone/>
            </a:pPr>
            <a:r>
              <a:rPr lang="en-US" sz="1350" dirty="0">
                <a:solidFill>
                  <a:srgbClr val="23231F"/>
                </a:solidFill>
              </a:rPr>
              <a:t>Reportes</a:t>
            </a:r>
            <a:endParaRPr lang="en-US" sz="1350" dirty="0"/>
          </a:p>
          <a:p>
            <a:pPr algn="ctr" indent="0" marL="0">
              <a:buNone/>
            </a:pPr>
            <a:r>
              <a:rPr lang="en-US" sz="1350" dirty="0">
                <a:solidFill>
                  <a:srgbClr val="23231F"/>
                </a:solidFill>
              </a:rPr>
              <a:t>Cierre de caja</a:t>
            </a:r>
            <a:endParaRPr lang="en-US" sz="1350" dirty="0"/>
          </a:p>
          <a:p>
            <a:pPr algn="ctr" indent="0" marL="0">
              <a:buNone/>
            </a:pPr>
            <a:r>
              <a:rPr lang="en-US" sz="1350" dirty="0">
                <a:solidFill>
                  <a:srgbClr val="23231F"/>
                </a:solidFill>
              </a:rPr>
              <a:t>Stock bajo</a:t>
            </a:r>
            <a:endParaRPr lang="en-US" sz="1350" dirty="0"/>
          </a:p>
        </p:txBody>
      </p:sp>
      <p:sp>
        <p:nvSpPr>
          <p:cNvPr id="13" name="Shape 11"/>
          <p:cNvSpPr/>
          <p:nvPr/>
        </p:nvSpPr>
        <p:spPr>
          <a:xfrm>
            <a:off x="5486400" y="1965960"/>
            <a:ext cx="2651760" cy="1554480"/>
          </a:xfrm>
          <a:prstGeom prst="roundRect">
            <a:avLst>
              <a:gd name="adj" fmla="val 7647"/>
            </a:avLst>
          </a:prstGeom>
          <a:solidFill>
            <a:srgbClr val="FFFDF8"/>
          </a:solidFill>
          <a:ln w="7620">
            <a:solidFill>
              <a:srgbClr val="E5DED1"/>
            </a:solidFill>
            <a:prstDash val="solid"/>
          </a:ln>
        </p:spPr>
      </p:sp>
      <p:sp>
        <p:nvSpPr>
          <p:cNvPr id="14" name="Shape 12"/>
          <p:cNvSpPr/>
          <p:nvPr/>
        </p:nvSpPr>
        <p:spPr>
          <a:xfrm>
            <a:off x="5486400" y="1965960"/>
            <a:ext cx="73152" cy="1554480"/>
          </a:xfrm>
          <a:prstGeom prst="rect">
            <a:avLst/>
          </a:prstGeom>
          <a:solidFill>
            <a:srgbClr val="C56C49"/>
          </a:solidFill>
          <a:ln w="12700">
            <a:solidFill>
              <a:srgbClr val="C56C49"/>
            </a:solidFill>
            <a:prstDash val="solid"/>
          </a:ln>
        </p:spPr>
      </p:sp>
      <p:sp>
        <p:nvSpPr>
          <p:cNvPr id="15" name="Text 13"/>
          <p:cNvSpPr/>
          <p:nvPr/>
        </p:nvSpPr>
        <p:spPr>
          <a:xfrm>
            <a:off x="5687568" y="2130552"/>
            <a:ext cx="2322576" cy="228600"/>
          </a:xfrm>
          <a:prstGeom prst="rect">
            <a:avLst/>
          </a:prstGeom>
          <a:noFill/>
          <a:ln/>
        </p:spPr>
        <p:txBody>
          <a:bodyPr wrap="square" lIns="0" tIns="0" rIns="0" bIns="0" rtlCol="0" anchor="ctr"/>
          <a:lstStyle/>
          <a:p>
            <a:pPr indent="0" marL="0">
              <a:buNone/>
            </a:pPr>
            <a:r>
              <a:rPr lang="en-US" sz="1300" b="1" dirty="0">
                <a:solidFill>
                  <a:srgbClr val="C56C49"/>
                </a:solidFill>
              </a:rPr>
              <a:t>Protección</a:t>
            </a:r>
            <a:endParaRPr lang="en-US" sz="1300" dirty="0"/>
          </a:p>
        </p:txBody>
      </p:sp>
      <p:sp>
        <p:nvSpPr>
          <p:cNvPr id="16" name="Text 14"/>
          <p:cNvSpPr/>
          <p:nvPr/>
        </p:nvSpPr>
        <p:spPr>
          <a:xfrm>
            <a:off x="5687568" y="2441448"/>
            <a:ext cx="2322576" cy="987552"/>
          </a:xfrm>
          <a:prstGeom prst="rect">
            <a:avLst/>
          </a:prstGeom>
          <a:noFill/>
          <a:ln/>
        </p:spPr>
        <p:txBody>
          <a:bodyPr wrap="square" lIns="254" tIns="254" rIns="254" bIns="254" rtlCol="0" anchor="ctr">
            <a:normAutofit/>
          </a:bodyPr>
          <a:lstStyle/>
          <a:p>
            <a:pPr indent="0" marL="0">
              <a:buNone/>
            </a:pPr>
            <a:r>
              <a:rPr lang="en-US" sz="1220" dirty="0">
                <a:solidFill>
                  <a:srgbClr val="23231F"/>
                </a:solidFill>
              </a:rPr>
              <a:t>Usuario + contraseña + Google Authenticator para funciones administrativas.</a:t>
            </a:r>
            <a:endParaRPr lang="en-US" sz="1220" dirty="0"/>
          </a:p>
        </p:txBody>
      </p:sp>
      <p:sp>
        <p:nvSpPr>
          <p:cNvPr id="17" name="Shape 15"/>
          <p:cNvSpPr/>
          <p:nvPr/>
        </p:nvSpPr>
        <p:spPr>
          <a:xfrm>
            <a:off x="8503920" y="1965960"/>
            <a:ext cx="2651760" cy="1554480"/>
          </a:xfrm>
          <a:prstGeom prst="roundRect">
            <a:avLst>
              <a:gd name="adj" fmla="val 7647"/>
            </a:avLst>
          </a:prstGeom>
          <a:solidFill>
            <a:srgbClr val="FFFDF8"/>
          </a:solidFill>
          <a:ln w="7620">
            <a:solidFill>
              <a:srgbClr val="E5DED1"/>
            </a:solidFill>
            <a:prstDash val="solid"/>
          </a:ln>
        </p:spPr>
      </p:sp>
      <p:sp>
        <p:nvSpPr>
          <p:cNvPr id="18" name="Shape 16"/>
          <p:cNvSpPr/>
          <p:nvPr/>
        </p:nvSpPr>
        <p:spPr>
          <a:xfrm>
            <a:off x="8503920" y="1965960"/>
            <a:ext cx="73152" cy="1554480"/>
          </a:xfrm>
          <a:prstGeom prst="rect">
            <a:avLst/>
          </a:prstGeom>
          <a:solidFill>
            <a:srgbClr val="556B2F"/>
          </a:solidFill>
          <a:ln w="12700">
            <a:solidFill>
              <a:srgbClr val="556B2F"/>
            </a:solidFill>
            <a:prstDash val="solid"/>
          </a:ln>
        </p:spPr>
      </p:sp>
      <p:sp>
        <p:nvSpPr>
          <p:cNvPr id="19" name="Text 17"/>
          <p:cNvSpPr/>
          <p:nvPr/>
        </p:nvSpPr>
        <p:spPr>
          <a:xfrm>
            <a:off x="8705088" y="2130552"/>
            <a:ext cx="2322576" cy="228600"/>
          </a:xfrm>
          <a:prstGeom prst="rect">
            <a:avLst/>
          </a:prstGeom>
          <a:noFill/>
          <a:ln/>
        </p:spPr>
        <p:txBody>
          <a:bodyPr wrap="square" lIns="0" tIns="0" rIns="0" bIns="0" rtlCol="0" anchor="ctr"/>
          <a:lstStyle/>
          <a:p>
            <a:pPr indent="0" marL="0">
              <a:buNone/>
            </a:pPr>
            <a:r>
              <a:rPr lang="en-US" sz="1300" b="1" dirty="0">
                <a:solidFill>
                  <a:srgbClr val="556B2F"/>
                </a:solidFill>
              </a:rPr>
              <a:t>Separación</a:t>
            </a:r>
            <a:endParaRPr lang="en-US" sz="1300" dirty="0"/>
          </a:p>
        </p:txBody>
      </p:sp>
      <p:sp>
        <p:nvSpPr>
          <p:cNvPr id="20" name="Text 18"/>
          <p:cNvSpPr/>
          <p:nvPr/>
        </p:nvSpPr>
        <p:spPr>
          <a:xfrm>
            <a:off x="8705088" y="2441448"/>
            <a:ext cx="2322576" cy="987552"/>
          </a:xfrm>
          <a:prstGeom prst="rect">
            <a:avLst/>
          </a:prstGeom>
          <a:noFill/>
          <a:ln/>
        </p:spPr>
        <p:txBody>
          <a:bodyPr wrap="square" lIns="254" tIns="254" rIns="254" bIns="254" rtlCol="0" anchor="ctr">
            <a:normAutofit/>
          </a:bodyPr>
          <a:lstStyle/>
          <a:p>
            <a:pPr indent="0" marL="0">
              <a:buNone/>
            </a:pPr>
            <a:r>
              <a:rPr lang="en-US" sz="1220" dirty="0">
                <a:solidFill>
                  <a:srgbClr val="23231F"/>
                </a:solidFill>
              </a:rPr>
              <a:t>El administrador no opera desde el POS ni desde la web pública.</a:t>
            </a:r>
            <a:endParaRPr lang="en-US" sz="1220" dirty="0"/>
          </a:p>
        </p:txBody>
      </p:sp>
      <p:sp>
        <p:nvSpPr>
          <p:cNvPr id="21" name="Shape 19"/>
          <p:cNvSpPr/>
          <p:nvPr/>
        </p:nvSpPr>
        <p:spPr>
          <a:xfrm>
            <a:off x="5486400" y="3886200"/>
            <a:ext cx="2651760" cy="1554480"/>
          </a:xfrm>
          <a:prstGeom prst="roundRect">
            <a:avLst>
              <a:gd name="adj" fmla="val 7647"/>
            </a:avLst>
          </a:prstGeom>
          <a:solidFill>
            <a:srgbClr val="FFFDF8"/>
          </a:solidFill>
          <a:ln w="7620">
            <a:solidFill>
              <a:srgbClr val="E5DED1"/>
            </a:solidFill>
            <a:prstDash val="solid"/>
          </a:ln>
        </p:spPr>
      </p:sp>
      <p:sp>
        <p:nvSpPr>
          <p:cNvPr id="22" name="Shape 20"/>
          <p:cNvSpPr/>
          <p:nvPr/>
        </p:nvSpPr>
        <p:spPr>
          <a:xfrm>
            <a:off x="5486400" y="3886200"/>
            <a:ext cx="73152" cy="1554480"/>
          </a:xfrm>
          <a:prstGeom prst="rect">
            <a:avLst/>
          </a:prstGeom>
          <a:solidFill>
            <a:srgbClr val="75815A"/>
          </a:solidFill>
          <a:ln w="12700">
            <a:solidFill>
              <a:srgbClr val="75815A"/>
            </a:solidFill>
            <a:prstDash val="solid"/>
          </a:ln>
        </p:spPr>
      </p:sp>
      <p:sp>
        <p:nvSpPr>
          <p:cNvPr id="23" name="Text 21"/>
          <p:cNvSpPr/>
          <p:nvPr/>
        </p:nvSpPr>
        <p:spPr>
          <a:xfrm>
            <a:off x="5687568" y="4050792"/>
            <a:ext cx="2322576" cy="228600"/>
          </a:xfrm>
          <a:prstGeom prst="rect">
            <a:avLst/>
          </a:prstGeom>
          <a:noFill/>
          <a:ln/>
        </p:spPr>
        <p:txBody>
          <a:bodyPr wrap="square" lIns="0" tIns="0" rIns="0" bIns="0" rtlCol="0" anchor="ctr"/>
          <a:lstStyle/>
          <a:p>
            <a:pPr indent="0" marL="0">
              <a:buNone/>
            </a:pPr>
            <a:r>
              <a:rPr lang="en-US" sz="1300" b="1" dirty="0">
                <a:solidFill>
                  <a:srgbClr val="75815A"/>
                </a:solidFill>
              </a:rPr>
              <a:t>Control</a:t>
            </a:r>
            <a:endParaRPr lang="en-US" sz="1300" dirty="0"/>
          </a:p>
        </p:txBody>
      </p:sp>
      <p:sp>
        <p:nvSpPr>
          <p:cNvPr id="24" name="Text 22"/>
          <p:cNvSpPr/>
          <p:nvPr/>
        </p:nvSpPr>
        <p:spPr>
          <a:xfrm>
            <a:off x="5687568" y="4361688"/>
            <a:ext cx="2322576" cy="987552"/>
          </a:xfrm>
          <a:prstGeom prst="rect">
            <a:avLst/>
          </a:prstGeom>
          <a:noFill/>
          <a:ln/>
        </p:spPr>
        <p:txBody>
          <a:bodyPr wrap="square" lIns="254" tIns="254" rIns="254" bIns="254" rtlCol="0" anchor="ctr">
            <a:normAutofit/>
          </a:bodyPr>
          <a:lstStyle/>
          <a:p>
            <a:pPr indent="0" marL="0">
              <a:buNone/>
            </a:pPr>
            <a:r>
              <a:rPr lang="en-US" sz="1220" dirty="0">
                <a:solidFill>
                  <a:srgbClr val="23231F"/>
                </a:solidFill>
              </a:rPr>
              <a:t>Alertas de existencias mínimas, reportes y cierre de caja.</a:t>
            </a:r>
            <a:endParaRPr lang="en-US" sz="1220" dirty="0"/>
          </a:p>
        </p:txBody>
      </p:sp>
      <p:sp>
        <p:nvSpPr>
          <p:cNvPr id="25" name="Shape 23"/>
          <p:cNvSpPr/>
          <p:nvPr/>
        </p:nvSpPr>
        <p:spPr>
          <a:xfrm>
            <a:off x="8503920" y="3886200"/>
            <a:ext cx="2651760" cy="1554480"/>
          </a:xfrm>
          <a:prstGeom prst="roundRect">
            <a:avLst>
              <a:gd name="adj" fmla="val 7647"/>
            </a:avLst>
          </a:prstGeom>
          <a:solidFill>
            <a:srgbClr val="FFFDF8"/>
          </a:solidFill>
          <a:ln w="7620">
            <a:solidFill>
              <a:srgbClr val="E5DED1"/>
            </a:solidFill>
            <a:prstDash val="solid"/>
          </a:ln>
        </p:spPr>
      </p:sp>
      <p:sp>
        <p:nvSpPr>
          <p:cNvPr id="26" name="Shape 24"/>
          <p:cNvSpPr/>
          <p:nvPr/>
        </p:nvSpPr>
        <p:spPr>
          <a:xfrm>
            <a:off x="8503920" y="3886200"/>
            <a:ext cx="73152" cy="1554480"/>
          </a:xfrm>
          <a:prstGeom prst="rect">
            <a:avLst/>
          </a:prstGeom>
          <a:solidFill>
            <a:srgbClr val="556B2F"/>
          </a:solidFill>
          <a:ln w="12700">
            <a:solidFill>
              <a:srgbClr val="556B2F"/>
            </a:solidFill>
            <a:prstDash val="solid"/>
          </a:ln>
        </p:spPr>
      </p:sp>
      <p:sp>
        <p:nvSpPr>
          <p:cNvPr id="27" name="Text 25"/>
          <p:cNvSpPr/>
          <p:nvPr/>
        </p:nvSpPr>
        <p:spPr>
          <a:xfrm>
            <a:off x="8705088" y="4050792"/>
            <a:ext cx="2322576" cy="228600"/>
          </a:xfrm>
          <a:prstGeom prst="rect">
            <a:avLst/>
          </a:prstGeom>
          <a:noFill/>
          <a:ln/>
        </p:spPr>
        <p:txBody>
          <a:bodyPr wrap="square" lIns="0" tIns="0" rIns="0" bIns="0" rtlCol="0" anchor="ctr"/>
          <a:lstStyle/>
          <a:p>
            <a:pPr indent="0" marL="0">
              <a:buNone/>
            </a:pPr>
            <a:r>
              <a:rPr lang="en-US" sz="1300" b="1" dirty="0">
                <a:solidFill>
                  <a:srgbClr val="556B2F"/>
                </a:solidFill>
              </a:rPr>
              <a:t>Seguridad</a:t>
            </a:r>
            <a:endParaRPr lang="en-US" sz="1300" dirty="0"/>
          </a:p>
        </p:txBody>
      </p:sp>
      <p:sp>
        <p:nvSpPr>
          <p:cNvPr id="28" name="Text 26"/>
          <p:cNvSpPr/>
          <p:nvPr/>
        </p:nvSpPr>
        <p:spPr>
          <a:xfrm>
            <a:off x="8705088" y="4361688"/>
            <a:ext cx="2322576" cy="987552"/>
          </a:xfrm>
          <a:prstGeom prst="rect">
            <a:avLst/>
          </a:prstGeom>
          <a:noFill/>
          <a:ln/>
        </p:spPr>
        <p:txBody>
          <a:bodyPr wrap="square" lIns="254" tIns="254" rIns="254" bIns="254" rtlCol="0" anchor="ctr">
            <a:normAutofit/>
          </a:bodyPr>
          <a:lstStyle/>
          <a:p>
            <a:pPr indent="0" marL="0">
              <a:buNone/>
            </a:pPr>
            <a:r>
              <a:rPr lang="en-US" sz="1220" dirty="0">
                <a:solidFill>
                  <a:srgbClr val="23231F"/>
                </a:solidFill>
              </a:rPr>
              <a:t>Menor exposición de configuraciones y roles críticos.</a:t>
            </a:r>
            <a:endParaRPr lang="en-US" sz="1220" dirty="0"/>
          </a:p>
        </p:txBody>
      </p:sp>
      <p:sp>
        <p:nvSpPr>
          <p:cNvPr id="25" name="Slide Number Placeholder 0"/>
          <p:cNvSpPr>
            <a:spLocks noGrp="1"/>
          </p:cNvSpPr>
          <p:nvPr>
            <p:ph type="sldNum" sz="quarter" idx="4294967295"/>
          </p:nvPr>
        </p:nvSpPr>
        <p:spPr>
          <a:xfrm>
            <a:off x="11475720" y="651967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625A"/>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58368" y="347472"/>
            <a:ext cx="3474720" cy="182880"/>
          </a:xfrm>
          <a:prstGeom prst="rect">
            <a:avLst/>
          </a:prstGeom>
          <a:noFill/>
          <a:ln/>
        </p:spPr>
        <p:txBody>
          <a:bodyPr wrap="square" lIns="0" tIns="0" rIns="0" bIns="0" rtlCol="0" anchor="ctr"/>
          <a:lstStyle/>
          <a:p>
            <a:pPr indent="0" marL="0">
              <a:buNone/>
            </a:pPr>
            <a:r>
              <a:rPr lang="en-US" sz="850" b="1" dirty="0">
                <a:solidFill>
                  <a:srgbClr val="C56C49"/>
                </a:solidFill>
              </a:rPr>
              <a:t>PUERTA 3: CLIENTE</a:t>
            </a:r>
            <a:endParaRPr lang="en-US" sz="850" dirty="0"/>
          </a:p>
        </p:txBody>
      </p:sp>
      <p:sp>
        <p:nvSpPr>
          <p:cNvPr id="3" name="Text 1"/>
          <p:cNvSpPr/>
          <p:nvPr/>
        </p:nvSpPr>
        <p:spPr>
          <a:xfrm>
            <a:off x="640080" y="566928"/>
            <a:ext cx="7132320" cy="548640"/>
          </a:xfrm>
          <a:prstGeom prst="rect">
            <a:avLst/>
          </a:prstGeom>
          <a:noFill/>
          <a:ln/>
        </p:spPr>
        <p:txBody>
          <a:bodyPr wrap="square" lIns="0" tIns="0" rIns="0" bIns="0" rtlCol="0" anchor="ctr">
            <a:normAutofit/>
          </a:bodyPr>
          <a:lstStyle/>
          <a:p>
            <a:pPr indent="0" marL="0">
              <a:buNone/>
            </a:pPr>
            <a:r>
              <a:rPr lang="en-US" sz="2700" b="1" dirty="0">
                <a:solidFill>
                  <a:srgbClr val="23231F"/>
                </a:solidFill>
              </a:rPr>
              <a:t>Pedido online con retiro presencial</a:t>
            </a:r>
            <a:endParaRPr lang="en-US" sz="2700" dirty="0"/>
          </a:p>
        </p:txBody>
      </p:sp>
      <p:sp>
        <p:nvSpPr>
          <p:cNvPr id="4" name="Shape 2"/>
          <p:cNvSpPr/>
          <p:nvPr/>
        </p:nvSpPr>
        <p:spPr>
          <a:xfrm>
            <a:off x="9473184" y="347472"/>
            <a:ext cx="2057400" cy="310896"/>
          </a:xfrm>
          <a:prstGeom prst="roundRect">
            <a:avLst>
              <a:gd name="adj" fmla="val 23529"/>
            </a:avLst>
          </a:prstGeom>
          <a:solidFill>
            <a:srgbClr val="556B2F"/>
          </a:solidFill>
          <a:ln w="12700">
            <a:solidFill>
              <a:srgbClr val="556B2F"/>
            </a:solidFill>
            <a:prstDash val="solid"/>
          </a:ln>
        </p:spPr>
      </p:sp>
      <p:sp>
        <p:nvSpPr>
          <p:cNvPr id="5" name="Text 3"/>
          <p:cNvSpPr/>
          <p:nvPr/>
        </p:nvSpPr>
        <p:spPr>
          <a:xfrm>
            <a:off x="9582912" y="425196"/>
            <a:ext cx="1828800" cy="109728"/>
          </a:xfrm>
          <a:prstGeom prst="rect">
            <a:avLst/>
          </a:prstGeom>
          <a:noFill/>
          <a:ln/>
        </p:spPr>
        <p:txBody>
          <a:bodyPr wrap="square" lIns="0" tIns="0" rIns="0" bIns="0" rtlCol="0" anchor="ctr"/>
          <a:lstStyle/>
          <a:p>
            <a:pPr algn="ctr" indent="0" marL="0">
              <a:buNone/>
            </a:pPr>
            <a:r>
              <a:rPr lang="en-US" sz="800" b="1" dirty="0">
                <a:solidFill>
                  <a:srgbClr val="FFFFFF"/>
                </a:solidFill>
              </a:rPr>
              <a:t>Benjamín · 1:05</a:t>
            </a:r>
            <a:endParaRPr lang="en-US" sz="800" dirty="0"/>
          </a:p>
        </p:txBody>
      </p:sp>
      <p:sp>
        <p:nvSpPr>
          <p:cNvPr id="6" name="Text 4"/>
          <p:cNvSpPr/>
          <p:nvPr/>
        </p:nvSpPr>
        <p:spPr>
          <a:xfrm>
            <a:off x="685800" y="1234440"/>
            <a:ext cx="6858000" cy="411480"/>
          </a:xfrm>
          <a:prstGeom prst="rect">
            <a:avLst/>
          </a:prstGeom>
          <a:noFill/>
          <a:ln/>
        </p:spPr>
        <p:txBody>
          <a:bodyPr wrap="square" lIns="0" tIns="0" rIns="0" bIns="0" rtlCol="0" anchor="ctr"/>
          <a:lstStyle/>
          <a:p>
            <a:pPr indent="0" marL="0">
              <a:buNone/>
            </a:pPr>
            <a:r>
              <a:rPr lang="en-US" sz="1650" dirty="0">
                <a:solidFill>
                  <a:srgbClr val="23231F"/>
                </a:solidFill>
              </a:rPr>
              <a:t>No se busca delivery: el cliente pide, paga o reserva, y retira en el local.</a:t>
            </a:r>
            <a:endParaRPr lang="en-US" sz="1650" dirty="0"/>
          </a:p>
        </p:txBody>
      </p:sp>
      <p:sp>
        <p:nvSpPr>
          <p:cNvPr id="7" name="Shape 5"/>
          <p:cNvSpPr/>
          <p:nvPr/>
        </p:nvSpPr>
        <p:spPr>
          <a:xfrm>
            <a:off x="2240280" y="3200400"/>
            <a:ext cx="640080" cy="0"/>
          </a:xfrm>
          <a:prstGeom prst="line">
            <a:avLst/>
          </a:prstGeom>
          <a:noFill/>
          <a:ln w="25400">
            <a:solidFill>
              <a:srgbClr val="556B2F"/>
            </a:solidFill>
            <a:prstDash val="solid"/>
            <a:headEnd type="none"/>
            <a:tailEnd type="triangle"/>
          </a:ln>
        </p:spPr>
      </p:sp>
      <p:sp>
        <p:nvSpPr>
          <p:cNvPr id="8" name="Shape 6"/>
          <p:cNvSpPr/>
          <p:nvPr/>
        </p:nvSpPr>
        <p:spPr>
          <a:xfrm>
            <a:off x="4297680" y="3200400"/>
            <a:ext cx="640080" cy="0"/>
          </a:xfrm>
          <a:prstGeom prst="line">
            <a:avLst/>
          </a:prstGeom>
          <a:noFill/>
          <a:ln w="25400">
            <a:solidFill>
              <a:srgbClr val="556B2F"/>
            </a:solidFill>
            <a:prstDash val="solid"/>
            <a:headEnd type="none"/>
            <a:tailEnd type="triangle"/>
          </a:ln>
        </p:spPr>
      </p:sp>
      <p:sp>
        <p:nvSpPr>
          <p:cNvPr id="9" name="Shape 7"/>
          <p:cNvSpPr/>
          <p:nvPr/>
        </p:nvSpPr>
        <p:spPr>
          <a:xfrm>
            <a:off x="6355080" y="3200400"/>
            <a:ext cx="640080" cy="0"/>
          </a:xfrm>
          <a:prstGeom prst="line">
            <a:avLst/>
          </a:prstGeom>
          <a:noFill/>
          <a:ln w="25400">
            <a:solidFill>
              <a:srgbClr val="556B2F"/>
            </a:solidFill>
            <a:prstDash val="solid"/>
            <a:headEnd type="none"/>
            <a:tailEnd type="triangle"/>
          </a:ln>
        </p:spPr>
      </p:sp>
      <p:sp>
        <p:nvSpPr>
          <p:cNvPr id="10" name="Shape 8"/>
          <p:cNvSpPr/>
          <p:nvPr/>
        </p:nvSpPr>
        <p:spPr>
          <a:xfrm>
            <a:off x="8412480" y="3200400"/>
            <a:ext cx="640080" cy="0"/>
          </a:xfrm>
          <a:prstGeom prst="line">
            <a:avLst/>
          </a:prstGeom>
          <a:noFill/>
          <a:ln w="25400">
            <a:solidFill>
              <a:srgbClr val="556B2F"/>
            </a:solidFill>
            <a:prstDash val="solid"/>
            <a:headEnd type="none"/>
            <a:tailEnd type="triangle"/>
          </a:ln>
        </p:spPr>
      </p:sp>
      <p:sp>
        <p:nvSpPr>
          <p:cNvPr id="11" name="Shape 9"/>
          <p:cNvSpPr/>
          <p:nvPr/>
        </p:nvSpPr>
        <p:spPr>
          <a:xfrm>
            <a:off x="822960" y="2788920"/>
            <a:ext cx="1554480" cy="914400"/>
          </a:xfrm>
          <a:prstGeom prst="roundRect">
            <a:avLst>
              <a:gd name="adj" fmla="val 12000"/>
            </a:avLst>
          </a:prstGeom>
          <a:solidFill>
            <a:srgbClr val="FFFDF8"/>
          </a:solidFill>
          <a:ln w="12700">
            <a:solidFill>
              <a:srgbClr val="D9CDBE"/>
            </a:solidFill>
            <a:prstDash val="solid"/>
          </a:ln>
        </p:spPr>
      </p:sp>
      <p:sp>
        <p:nvSpPr>
          <p:cNvPr id="12" name="Text 10"/>
          <p:cNvSpPr/>
          <p:nvPr/>
        </p:nvSpPr>
        <p:spPr>
          <a:xfrm>
            <a:off x="914400" y="2953512"/>
            <a:ext cx="1371600" cy="182880"/>
          </a:xfrm>
          <a:prstGeom prst="rect">
            <a:avLst/>
          </a:prstGeom>
          <a:noFill/>
          <a:ln/>
        </p:spPr>
        <p:txBody>
          <a:bodyPr wrap="square" lIns="0" tIns="0" rIns="0" bIns="0" rtlCol="0" anchor="ctr"/>
          <a:lstStyle/>
          <a:p>
            <a:pPr algn="ctr" indent="0" marL="0">
              <a:buNone/>
            </a:pPr>
            <a:r>
              <a:rPr lang="en-US" sz="1300" b="1" dirty="0">
                <a:solidFill>
                  <a:srgbClr val="425728"/>
                </a:solidFill>
              </a:rPr>
              <a:t>Catálogo</a:t>
            </a:r>
            <a:endParaRPr lang="en-US" sz="1300" dirty="0"/>
          </a:p>
        </p:txBody>
      </p:sp>
      <p:sp>
        <p:nvSpPr>
          <p:cNvPr id="13" name="Text 11"/>
          <p:cNvSpPr/>
          <p:nvPr/>
        </p:nvSpPr>
        <p:spPr>
          <a:xfrm>
            <a:off x="950976" y="3291840"/>
            <a:ext cx="1298448" cy="182880"/>
          </a:xfrm>
          <a:prstGeom prst="rect">
            <a:avLst/>
          </a:prstGeom>
          <a:noFill/>
          <a:ln/>
        </p:spPr>
        <p:txBody>
          <a:bodyPr wrap="square" lIns="0" tIns="0" rIns="0" bIns="0" rtlCol="0" anchor="ctr"/>
          <a:lstStyle/>
          <a:p>
            <a:pPr algn="ctr" indent="0" marL="0">
              <a:buNone/>
            </a:pPr>
            <a:r>
              <a:rPr lang="en-US" sz="950" dirty="0">
                <a:solidFill>
                  <a:srgbClr val="746D65"/>
                </a:solidFill>
              </a:rPr>
              <a:t>elige productos</a:t>
            </a:r>
            <a:endParaRPr lang="en-US" sz="950" dirty="0"/>
          </a:p>
        </p:txBody>
      </p:sp>
      <p:sp>
        <p:nvSpPr>
          <p:cNvPr id="14" name="Shape 12"/>
          <p:cNvSpPr/>
          <p:nvPr/>
        </p:nvSpPr>
        <p:spPr>
          <a:xfrm>
            <a:off x="2880360" y="2788920"/>
            <a:ext cx="1554480" cy="914400"/>
          </a:xfrm>
          <a:prstGeom prst="roundRect">
            <a:avLst>
              <a:gd name="adj" fmla="val 12000"/>
            </a:avLst>
          </a:prstGeom>
          <a:solidFill>
            <a:srgbClr val="DCE8CC"/>
          </a:solidFill>
          <a:ln w="12700">
            <a:solidFill>
              <a:srgbClr val="B9C5A2"/>
            </a:solidFill>
            <a:prstDash val="solid"/>
          </a:ln>
        </p:spPr>
      </p:sp>
      <p:sp>
        <p:nvSpPr>
          <p:cNvPr id="15" name="Text 13"/>
          <p:cNvSpPr/>
          <p:nvPr/>
        </p:nvSpPr>
        <p:spPr>
          <a:xfrm>
            <a:off x="2971800" y="2953512"/>
            <a:ext cx="1371600" cy="182880"/>
          </a:xfrm>
          <a:prstGeom prst="rect">
            <a:avLst/>
          </a:prstGeom>
          <a:noFill/>
          <a:ln/>
        </p:spPr>
        <p:txBody>
          <a:bodyPr wrap="square" lIns="0" tIns="0" rIns="0" bIns="0" rtlCol="0" anchor="ctr"/>
          <a:lstStyle/>
          <a:p>
            <a:pPr algn="ctr" indent="0" marL="0">
              <a:buNone/>
            </a:pPr>
            <a:r>
              <a:rPr lang="en-US" sz="1300" b="1" dirty="0">
                <a:solidFill>
                  <a:srgbClr val="425728"/>
                </a:solidFill>
              </a:rPr>
              <a:t>Pedido</a:t>
            </a:r>
            <a:endParaRPr lang="en-US" sz="1300" dirty="0"/>
          </a:p>
        </p:txBody>
      </p:sp>
      <p:sp>
        <p:nvSpPr>
          <p:cNvPr id="16" name="Text 14"/>
          <p:cNvSpPr/>
          <p:nvPr/>
        </p:nvSpPr>
        <p:spPr>
          <a:xfrm>
            <a:off x="3008376" y="3291840"/>
            <a:ext cx="1298448" cy="182880"/>
          </a:xfrm>
          <a:prstGeom prst="rect">
            <a:avLst/>
          </a:prstGeom>
          <a:noFill/>
          <a:ln/>
        </p:spPr>
        <p:txBody>
          <a:bodyPr wrap="square" lIns="0" tIns="0" rIns="0" bIns="0" rtlCol="0" anchor="ctr"/>
          <a:lstStyle/>
          <a:p>
            <a:pPr algn="ctr" indent="0" marL="0">
              <a:buNone/>
            </a:pPr>
            <a:r>
              <a:rPr lang="en-US" sz="950" dirty="0">
                <a:solidFill>
                  <a:srgbClr val="746D65"/>
                </a:solidFill>
              </a:rPr>
              <a:t>registra datos</a:t>
            </a:r>
            <a:endParaRPr lang="en-US" sz="950" dirty="0"/>
          </a:p>
        </p:txBody>
      </p:sp>
      <p:sp>
        <p:nvSpPr>
          <p:cNvPr id="17" name="Shape 15"/>
          <p:cNvSpPr/>
          <p:nvPr/>
        </p:nvSpPr>
        <p:spPr>
          <a:xfrm>
            <a:off x="4937760" y="2788920"/>
            <a:ext cx="1554480" cy="914400"/>
          </a:xfrm>
          <a:prstGeom prst="roundRect">
            <a:avLst>
              <a:gd name="adj" fmla="val 12000"/>
            </a:avLst>
          </a:prstGeom>
          <a:solidFill>
            <a:srgbClr val="FFFDF8"/>
          </a:solidFill>
          <a:ln w="12700">
            <a:solidFill>
              <a:srgbClr val="D9CDBE"/>
            </a:solidFill>
            <a:prstDash val="solid"/>
          </a:ln>
        </p:spPr>
      </p:sp>
      <p:sp>
        <p:nvSpPr>
          <p:cNvPr id="18" name="Text 16"/>
          <p:cNvSpPr/>
          <p:nvPr/>
        </p:nvSpPr>
        <p:spPr>
          <a:xfrm>
            <a:off x="5029200" y="2953512"/>
            <a:ext cx="1371600" cy="182880"/>
          </a:xfrm>
          <a:prstGeom prst="rect">
            <a:avLst/>
          </a:prstGeom>
          <a:noFill/>
          <a:ln/>
        </p:spPr>
        <p:txBody>
          <a:bodyPr wrap="square" lIns="0" tIns="0" rIns="0" bIns="0" rtlCol="0" anchor="ctr"/>
          <a:lstStyle/>
          <a:p>
            <a:pPr algn="ctr" indent="0" marL="0">
              <a:buNone/>
            </a:pPr>
            <a:r>
              <a:rPr lang="en-US" sz="1300" b="1" dirty="0">
                <a:solidFill>
                  <a:srgbClr val="C56C49"/>
                </a:solidFill>
              </a:rPr>
              <a:t>Pago</a:t>
            </a:r>
            <a:endParaRPr lang="en-US" sz="1300" dirty="0"/>
          </a:p>
        </p:txBody>
      </p:sp>
      <p:sp>
        <p:nvSpPr>
          <p:cNvPr id="19" name="Text 17"/>
          <p:cNvSpPr/>
          <p:nvPr/>
        </p:nvSpPr>
        <p:spPr>
          <a:xfrm>
            <a:off x="5065776" y="3291840"/>
            <a:ext cx="1298448" cy="182880"/>
          </a:xfrm>
          <a:prstGeom prst="rect">
            <a:avLst/>
          </a:prstGeom>
          <a:noFill/>
          <a:ln/>
        </p:spPr>
        <p:txBody>
          <a:bodyPr wrap="square" lIns="0" tIns="0" rIns="0" bIns="0" rtlCol="0" anchor="ctr"/>
          <a:lstStyle/>
          <a:p>
            <a:pPr algn="ctr" indent="0" marL="0">
              <a:buNone/>
            </a:pPr>
            <a:r>
              <a:rPr lang="en-US" sz="950" dirty="0">
                <a:solidFill>
                  <a:srgbClr val="746D65"/>
                </a:solidFill>
              </a:rPr>
              <a:t>Webpay o local</a:t>
            </a:r>
            <a:endParaRPr lang="en-US" sz="950" dirty="0"/>
          </a:p>
        </p:txBody>
      </p:sp>
      <p:sp>
        <p:nvSpPr>
          <p:cNvPr id="20" name="Shape 18"/>
          <p:cNvSpPr/>
          <p:nvPr/>
        </p:nvSpPr>
        <p:spPr>
          <a:xfrm>
            <a:off x="6995160" y="2788920"/>
            <a:ext cx="1554480" cy="914400"/>
          </a:xfrm>
          <a:prstGeom prst="roundRect">
            <a:avLst>
              <a:gd name="adj" fmla="val 12000"/>
            </a:avLst>
          </a:prstGeom>
          <a:solidFill>
            <a:srgbClr val="DCE8CC"/>
          </a:solidFill>
          <a:ln w="12700">
            <a:solidFill>
              <a:srgbClr val="B9C5A2"/>
            </a:solidFill>
            <a:prstDash val="solid"/>
          </a:ln>
        </p:spPr>
      </p:sp>
      <p:sp>
        <p:nvSpPr>
          <p:cNvPr id="21" name="Text 19"/>
          <p:cNvSpPr/>
          <p:nvPr/>
        </p:nvSpPr>
        <p:spPr>
          <a:xfrm>
            <a:off x="7086600" y="2953512"/>
            <a:ext cx="1371600" cy="182880"/>
          </a:xfrm>
          <a:prstGeom prst="rect">
            <a:avLst/>
          </a:prstGeom>
          <a:noFill/>
          <a:ln/>
        </p:spPr>
        <p:txBody>
          <a:bodyPr wrap="square" lIns="0" tIns="0" rIns="0" bIns="0" rtlCol="0" anchor="ctr"/>
          <a:lstStyle/>
          <a:p>
            <a:pPr algn="ctr" indent="0" marL="0">
              <a:buNone/>
            </a:pPr>
            <a:r>
              <a:rPr lang="en-US" sz="1300" b="1" dirty="0">
                <a:solidFill>
                  <a:srgbClr val="425728"/>
                </a:solidFill>
              </a:rPr>
              <a:t>Preparación</a:t>
            </a:r>
            <a:endParaRPr lang="en-US" sz="1300" dirty="0"/>
          </a:p>
        </p:txBody>
      </p:sp>
      <p:sp>
        <p:nvSpPr>
          <p:cNvPr id="22" name="Text 20"/>
          <p:cNvSpPr/>
          <p:nvPr/>
        </p:nvSpPr>
        <p:spPr>
          <a:xfrm>
            <a:off x="7123176" y="3291840"/>
            <a:ext cx="1298448" cy="182880"/>
          </a:xfrm>
          <a:prstGeom prst="rect">
            <a:avLst/>
          </a:prstGeom>
          <a:noFill/>
          <a:ln/>
        </p:spPr>
        <p:txBody>
          <a:bodyPr wrap="square" lIns="0" tIns="0" rIns="0" bIns="0" rtlCol="0" anchor="ctr"/>
          <a:lstStyle/>
          <a:p>
            <a:pPr algn="ctr" indent="0" marL="0">
              <a:buNone/>
            </a:pPr>
            <a:r>
              <a:rPr lang="en-US" sz="950" dirty="0">
                <a:solidFill>
                  <a:srgbClr val="746D65"/>
                </a:solidFill>
              </a:rPr>
              <a:t>pendiente/pagado</a:t>
            </a:r>
            <a:endParaRPr lang="en-US" sz="950" dirty="0"/>
          </a:p>
        </p:txBody>
      </p:sp>
      <p:sp>
        <p:nvSpPr>
          <p:cNvPr id="23" name="Shape 21"/>
          <p:cNvSpPr/>
          <p:nvPr/>
        </p:nvSpPr>
        <p:spPr>
          <a:xfrm>
            <a:off x="9052560" y="2788920"/>
            <a:ext cx="1554480" cy="914400"/>
          </a:xfrm>
          <a:prstGeom prst="roundRect">
            <a:avLst>
              <a:gd name="adj" fmla="val 12000"/>
            </a:avLst>
          </a:prstGeom>
          <a:solidFill>
            <a:srgbClr val="FFFDF8"/>
          </a:solidFill>
          <a:ln w="12700">
            <a:solidFill>
              <a:srgbClr val="D9CDBE"/>
            </a:solidFill>
            <a:prstDash val="solid"/>
          </a:ln>
        </p:spPr>
      </p:sp>
      <p:sp>
        <p:nvSpPr>
          <p:cNvPr id="24" name="Text 22"/>
          <p:cNvSpPr/>
          <p:nvPr/>
        </p:nvSpPr>
        <p:spPr>
          <a:xfrm>
            <a:off x="9144000" y="2953512"/>
            <a:ext cx="1371600" cy="182880"/>
          </a:xfrm>
          <a:prstGeom prst="rect">
            <a:avLst/>
          </a:prstGeom>
          <a:noFill/>
          <a:ln/>
        </p:spPr>
        <p:txBody>
          <a:bodyPr wrap="square" lIns="0" tIns="0" rIns="0" bIns="0" rtlCol="0" anchor="ctr"/>
          <a:lstStyle/>
          <a:p>
            <a:pPr algn="ctr" indent="0" marL="0">
              <a:buNone/>
            </a:pPr>
            <a:r>
              <a:rPr lang="en-US" sz="1300" b="1" dirty="0">
                <a:solidFill>
                  <a:srgbClr val="425728"/>
                </a:solidFill>
              </a:rPr>
              <a:t>Retiro</a:t>
            </a:r>
            <a:endParaRPr lang="en-US" sz="1300" dirty="0"/>
          </a:p>
        </p:txBody>
      </p:sp>
      <p:sp>
        <p:nvSpPr>
          <p:cNvPr id="25" name="Text 23"/>
          <p:cNvSpPr/>
          <p:nvPr/>
        </p:nvSpPr>
        <p:spPr>
          <a:xfrm>
            <a:off x="9180576" y="3291840"/>
            <a:ext cx="1298448" cy="182880"/>
          </a:xfrm>
          <a:prstGeom prst="rect">
            <a:avLst/>
          </a:prstGeom>
          <a:noFill/>
          <a:ln/>
        </p:spPr>
        <p:txBody>
          <a:bodyPr wrap="square" lIns="0" tIns="0" rIns="0" bIns="0" rtlCol="0" anchor="ctr"/>
          <a:lstStyle/>
          <a:p>
            <a:pPr algn="ctr" indent="0" marL="0">
              <a:buNone/>
            </a:pPr>
            <a:r>
              <a:rPr lang="en-US" sz="950" dirty="0">
                <a:solidFill>
                  <a:srgbClr val="746D65"/>
                </a:solidFill>
              </a:rPr>
              <a:t>nombre y teléfono</a:t>
            </a:r>
            <a:endParaRPr lang="en-US" sz="950" dirty="0"/>
          </a:p>
        </p:txBody>
      </p:sp>
      <p:sp>
        <p:nvSpPr>
          <p:cNvPr id="26" name="Shape 24"/>
          <p:cNvSpPr/>
          <p:nvPr/>
        </p:nvSpPr>
        <p:spPr>
          <a:xfrm>
            <a:off x="1005840" y="4663440"/>
            <a:ext cx="2926080" cy="914400"/>
          </a:xfrm>
          <a:prstGeom prst="roundRect">
            <a:avLst>
              <a:gd name="adj" fmla="val 13000"/>
            </a:avLst>
          </a:prstGeom>
          <a:solidFill>
            <a:srgbClr val="FFFDF8"/>
          </a:solidFill>
          <a:ln w="7620">
            <a:solidFill>
              <a:srgbClr val="E5DED1"/>
            </a:solidFill>
            <a:prstDash val="solid"/>
          </a:ln>
        </p:spPr>
      </p:sp>
      <p:sp>
        <p:nvSpPr>
          <p:cNvPr id="27" name="Shape 25"/>
          <p:cNvSpPr/>
          <p:nvPr/>
        </p:nvSpPr>
        <p:spPr>
          <a:xfrm>
            <a:off x="1005840" y="4663440"/>
            <a:ext cx="73152" cy="914400"/>
          </a:xfrm>
          <a:prstGeom prst="rect">
            <a:avLst/>
          </a:prstGeom>
          <a:solidFill>
            <a:srgbClr val="C56C49"/>
          </a:solidFill>
          <a:ln w="12700">
            <a:solidFill>
              <a:srgbClr val="C56C49"/>
            </a:solidFill>
            <a:prstDash val="solid"/>
          </a:ln>
        </p:spPr>
      </p:sp>
      <p:sp>
        <p:nvSpPr>
          <p:cNvPr id="28" name="Text 26"/>
          <p:cNvSpPr/>
          <p:nvPr/>
        </p:nvSpPr>
        <p:spPr>
          <a:xfrm>
            <a:off x="1207008" y="4828032"/>
            <a:ext cx="2596896" cy="228600"/>
          </a:xfrm>
          <a:prstGeom prst="rect">
            <a:avLst/>
          </a:prstGeom>
          <a:noFill/>
          <a:ln/>
        </p:spPr>
        <p:txBody>
          <a:bodyPr wrap="square" lIns="0" tIns="0" rIns="0" bIns="0" rtlCol="0" anchor="ctr"/>
          <a:lstStyle/>
          <a:p>
            <a:pPr indent="0" marL="0">
              <a:buNone/>
            </a:pPr>
            <a:r>
              <a:rPr lang="en-US" sz="1300" b="1" dirty="0">
                <a:solidFill>
                  <a:srgbClr val="C56C49"/>
                </a:solidFill>
              </a:rPr>
              <a:t>Webpay</a:t>
            </a:r>
            <a:endParaRPr lang="en-US" sz="1300" dirty="0"/>
          </a:p>
        </p:txBody>
      </p:sp>
      <p:sp>
        <p:nvSpPr>
          <p:cNvPr id="29" name="Text 27"/>
          <p:cNvSpPr/>
          <p:nvPr/>
        </p:nvSpPr>
        <p:spPr>
          <a:xfrm>
            <a:off x="1207008" y="5138928"/>
            <a:ext cx="2596896" cy="347472"/>
          </a:xfrm>
          <a:prstGeom prst="rect">
            <a:avLst/>
          </a:prstGeom>
          <a:noFill/>
          <a:ln/>
        </p:spPr>
        <p:txBody>
          <a:bodyPr wrap="square" lIns="254" tIns="254" rIns="254" bIns="254" rtlCol="0" anchor="ctr">
            <a:normAutofit/>
          </a:bodyPr>
          <a:lstStyle/>
          <a:p>
            <a:pPr indent="0" marL="0">
              <a:buNone/>
            </a:pPr>
            <a:r>
              <a:rPr lang="en-US" sz="1220" dirty="0">
                <a:solidFill>
                  <a:srgbClr val="23231F"/>
                </a:solidFill>
              </a:rPr>
              <a:t>Pago remoto desde la web.</a:t>
            </a:r>
            <a:endParaRPr lang="en-US" sz="1220" dirty="0"/>
          </a:p>
        </p:txBody>
      </p:sp>
      <p:sp>
        <p:nvSpPr>
          <p:cNvPr id="30" name="Shape 28"/>
          <p:cNvSpPr/>
          <p:nvPr/>
        </p:nvSpPr>
        <p:spPr>
          <a:xfrm>
            <a:off x="4572000" y="4663440"/>
            <a:ext cx="2926080" cy="914400"/>
          </a:xfrm>
          <a:prstGeom prst="roundRect">
            <a:avLst>
              <a:gd name="adj" fmla="val 13000"/>
            </a:avLst>
          </a:prstGeom>
          <a:solidFill>
            <a:srgbClr val="FFFDF8"/>
          </a:solidFill>
          <a:ln w="7620">
            <a:solidFill>
              <a:srgbClr val="E5DED1"/>
            </a:solidFill>
            <a:prstDash val="solid"/>
          </a:ln>
        </p:spPr>
      </p:sp>
      <p:sp>
        <p:nvSpPr>
          <p:cNvPr id="31" name="Shape 29"/>
          <p:cNvSpPr/>
          <p:nvPr/>
        </p:nvSpPr>
        <p:spPr>
          <a:xfrm>
            <a:off x="4572000" y="4663440"/>
            <a:ext cx="73152" cy="914400"/>
          </a:xfrm>
          <a:prstGeom prst="rect">
            <a:avLst/>
          </a:prstGeom>
          <a:solidFill>
            <a:srgbClr val="556B2F"/>
          </a:solidFill>
          <a:ln w="12700">
            <a:solidFill>
              <a:srgbClr val="556B2F"/>
            </a:solidFill>
            <a:prstDash val="solid"/>
          </a:ln>
        </p:spPr>
      </p:sp>
      <p:sp>
        <p:nvSpPr>
          <p:cNvPr id="32" name="Text 30"/>
          <p:cNvSpPr/>
          <p:nvPr/>
        </p:nvSpPr>
        <p:spPr>
          <a:xfrm>
            <a:off x="4773168" y="4828032"/>
            <a:ext cx="2596896" cy="228600"/>
          </a:xfrm>
          <a:prstGeom prst="rect">
            <a:avLst/>
          </a:prstGeom>
          <a:noFill/>
          <a:ln/>
        </p:spPr>
        <p:txBody>
          <a:bodyPr wrap="square" lIns="0" tIns="0" rIns="0" bIns="0" rtlCol="0" anchor="ctr"/>
          <a:lstStyle/>
          <a:p>
            <a:pPr indent="0" marL="0">
              <a:buNone/>
            </a:pPr>
            <a:r>
              <a:rPr lang="en-US" sz="1300" b="1" dirty="0">
                <a:solidFill>
                  <a:srgbClr val="556B2F"/>
                </a:solidFill>
              </a:rPr>
              <a:t>Pago en local</a:t>
            </a:r>
            <a:endParaRPr lang="en-US" sz="1300" dirty="0"/>
          </a:p>
        </p:txBody>
      </p:sp>
      <p:sp>
        <p:nvSpPr>
          <p:cNvPr id="33" name="Text 31"/>
          <p:cNvSpPr/>
          <p:nvPr/>
        </p:nvSpPr>
        <p:spPr>
          <a:xfrm>
            <a:off x="4773168" y="5138928"/>
            <a:ext cx="2596896" cy="347472"/>
          </a:xfrm>
          <a:prstGeom prst="rect">
            <a:avLst/>
          </a:prstGeom>
          <a:noFill/>
          <a:ln/>
        </p:spPr>
        <p:txBody>
          <a:bodyPr wrap="square" lIns="254" tIns="254" rIns="254" bIns="254" rtlCol="0" anchor="ctr">
            <a:normAutofit/>
          </a:bodyPr>
          <a:lstStyle/>
          <a:p>
            <a:pPr indent="0" marL="0">
              <a:buNone/>
            </a:pPr>
            <a:r>
              <a:rPr lang="en-US" sz="1220" dirty="0">
                <a:solidFill>
                  <a:srgbClr val="23231F"/>
                </a:solidFill>
              </a:rPr>
              <a:t>Pedido reservado para cobrar al retirar.</a:t>
            </a:r>
            <a:endParaRPr lang="en-US" sz="1220" dirty="0"/>
          </a:p>
        </p:txBody>
      </p:sp>
      <p:sp>
        <p:nvSpPr>
          <p:cNvPr id="34" name="Shape 32"/>
          <p:cNvSpPr/>
          <p:nvPr/>
        </p:nvSpPr>
        <p:spPr>
          <a:xfrm>
            <a:off x="8138160" y="4663440"/>
            <a:ext cx="2926080" cy="914400"/>
          </a:xfrm>
          <a:prstGeom prst="roundRect">
            <a:avLst>
              <a:gd name="adj" fmla="val 13000"/>
            </a:avLst>
          </a:prstGeom>
          <a:solidFill>
            <a:srgbClr val="FFFDF8"/>
          </a:solidFill>
          <a:ln w="7620">
            <a:solidFill>
              <a:srgbClr val="E5DED1"/>
            </a:solidFill>
            <a:prstDash val="solid"/>
          </a:ln>
        </p:spPr>
      </p:sp>
      <p:sp>
        <p:nvSpPr>
          <p:cNvPr id="35" name="Shape 33"/>
          <p:cNvSpPr/>
          <p:nvPr/>
        </p:nvSpPr>
        <p:spPr>
          <a:xfrm>
            <a:off x="8138160" y="4663440"/>
            <a:ext cx="73152" cy="914400"/>
          </a:xfrm>
          <a:prstGeom prst="rect">
            <a:avLst/>
          </a:prstGeom>
          <a:solidFill>
            <a:srgbClr val="75815A"/>
          </a:solidFill>
          <a:ln w="12700">
            <a:solidFill>
              <a:srgbClr val="75815A"/>
            </a:solidFill>
            <a:prstDash val="solid"/>
          </a:ln>
        </p:spPr>
      </p:sp>
      <p:sp>
        <p:nvSpPr>
          <p:cNvPr id="36" name="Text 34"/>
          <p:cNvSpPr/>
          <p:nvPr/>
        </p:nvSpPr>
        <p:spPr>
          <a:xfrm>
            <a:off x="8339328" y="4828032"/>
            <a:ext cx="2596896" cy="228600"/>
          </a:xfrm>
          <a:prstGeom prst="rect">
            <a:avLst/>
          </a:prstGeom>
          <a:noFill/>
          <a:ln/>
        </p:spPr>
        <p:txBody>
          <a:bodyPr wrap="square" lIns="0" tIns="0" rIns="0" bIns="0" rtlCol="0" anchor="ctr"/>
          <a:lstStyle/>
          <a:p>
            <a:pPr indent="0" marL="0">
              <a:buNone/>
            </a:pPr>
            <a:r>
              <a:rPr lang="en-US" sz="1300" b="1" dirty="0">
                <a:solidFill>
                  <a:srgbClr val="75815A"/>
                </a:solidFill>
              </a:rPr>
              <a:t>TUU</a:t>
            </a:r>
            <a:endParaRPr lang="en-US" sz="1300" dirty="0"/>
          </a:p>
        </p:txBody>
      </p:sp>
      <p:sp>
        <p:nvSpPr>
          <p:cNvPr id="37" name="Text 35"/>
          <p:cNvSpPr/>
          <p:nvPr/>
        </p:nvSpPr>
        <p:spPr>
          <a:xfrm>
            <a:off x="8339328" y="5138928"/>
            <a:ext cx="2596896" cy="347472"/>
          </a:xfrm>
          <a:prstGeom prst="rect">
            <a:avLst/>
          </a:prstGeom>
          <a:noFill/>
          <a:ln/>
        </p:spPr>
        <p:txBody>
          <a:bodyPr wrap="square" lIns="254" tIns="254" rIns="254" bIns="254" rtlCol="0" anchor="ctr">
            <a:normAutofit/>
          </a:bodyPr>
          <a:lstStyle/>
          <a:p>
            <a:pPr indent="0" marL="0">
              <a:buNone/>
            </a:pPr>
            <a:r>
              <a:rPr lang="en-US" sz="1220" dirty="0">
                <a:solidFill>
                  <a:srgbClr val="23231F"/>
                </a:solidFill>
              </a:rPr>
              <a:t>Cobro presencial integrado al flujo local.</a:t>
            </a:r>
            <a:endParaRPr lang="en-US" sz="1220" dirty="0"/>
          </a:p>
        </p:txBody>
      </p:sp>
      <p:sp>
        <p:nvSpPr>
          <p:cNvPr id="25" name="Slide Number Placeholder 0"/>
          <p:cNvSpPr>
            <a:spLocks noGrp="1"/>
          </p:cNvSpPr>
          <p:nvPr>
            <p:ph type="sldNum" sz="quarter" idx="4294967295"/>
          </p:nvPr>
        </p:nvSpPr>
        <p:spPr>
          <a:xfrm>
            <a:off x="11475720" y="651967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625A"/>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58368" y="347472"/>
            <a:ext cx="3474720" cy="182880"/>
          </a:xfrm>
          <a:prstGeom prst="rect">
            <a:avLst/>
          </a:prstGeom>
          <a:noFill/>
          <a:ln/>
        </p:spPr>
        <p:txBody>
          <a:bodyPr wrap="square" lIns="0" tIns="0" rIns="0" bIns="0" rtlCol="0" anchor="ctr"/>
          <a:lstStyle/>
          <a:p>
            <a:pPr indent="0" marL="0">
              <a:buNone/>
            </a:pPr>
            <a:r>
              <a:rPr lang="en-US" sz="850" b="1" dirty="0">
                <a:solidFill>
                  <a:srgbClr val="C56C49"/>
                </a:solidFill>
              </a:rPr>
              <a:t>ERS / LÍNEA BASE</a:t>
            </a:r>
            <a:endParaRPr lang="en-US" sz="850" dirty="0"/>
          </a:p>
        </p:txBody>
      </p:sp>
      <p:sp>
        <p:nvSpPr>
          <p:cNvPr id="3" name="Text 1"/>
          <p:cNvSpPr/>
          <p:nvPr/>
        </p:nvSpPr>
        <p:spPr>
          <a:xfrm>
            <a:off x="640080" y="566928"/>
            <a:ext cx="6858000" cy="548640"/>
          </a:xfrm>
          <a:prstGeom prst="rect">
            <a:avLst/>
          </a:prstGeom>
          <a:noFill/>
          <a:ln/>
        </p:spPr>
        <p:txBody>
          <a:bodyPr wrap="square" lIns="0" tIns="0" rIns="0" bIns="0" rtlCol="0" anchor="ctr">
            <a:normAutofit/>
          </a:bodyPr>
          <a:lstStyle/>
          <a:p>
            <a:pPr indent="0" marL="0">
              <a:buNone/>
            </a:pPr>
            <a:r>
              <a:rPr lang="en-US" sz="2700" b="1" dirty="0">
                <a:solidFill>
                  <a:srgbClr val="23231F"/>
                </a:solidFill>
              </a:rPr>
              <a:t>Objetivos y requisitos trazables</a:t>
            </a:r>
            <a:endParaRPr lang="en-US" sz="2700" dirty="0"/>
          </a:p>
        </p:txBody>
      </p:sp>
      <p:sp>
        <p:nvSpPr>
          <p:cNvPr id="4" name="Shape 2"/>
          <p:cNvSpPr/>
          <p:nvPr/>
        </p:nvSpPr>
        <p:spPr>
          <a:xfrm>
            <a:off x="9473184" y="347472"/>
            <a:ext cx="2057400" cy="310896"/>
          </a:xfrm>
          <a:prstGeom prst="roundRect">
            <a:avLst>
              <a:gd name="adj" fmla="val 23529"/>
            </a:avLst>
          </a:prstGeom>
          <a:solidFill>
            <a:srgbClr val="556B2F"/>
          </a:solidFill>
          <a:ln w="12700">
            <a:solidFill>
              <a:srgbClr val="556B2F"/>
            </a:solidFill>
            <a:prstDash val="solid"/>
          </a:ln>
        </p:spPr>
      </p:sp>
      <p:sp>
        <p:nvSpPr>
          <p:cNvPr id="5" name="Text 3"/>
          <p:cNvSpPr/>
          <p:nvPr/>
        </p:nvSpPr>
        <p:spPr>
          <a:xfrm>
            <a:off x="9582912" y="425196"/>
            <a:ext cx="1828800" cy="109728"/>
          </a:xfrm>
          <a:prstGeom prst="rect">
            <a:avLst/>
          </a:prstGeom>
          <a:noFill/>
          <a:ln/>
        </p:spPr>
        <p:txBody>
          <a:bodyPr wrap="square" lIns="0" tIns="0" rIns="0" bIns="0" rtlCol="0" anchor="ctr"/>
          <a:lstStyle/>
          <a:p>
            <a:pPr algn="ctr" indent="0" marL="0">
              <a:buNone/>
            </a:pPr>
            <a:r>
              <a:rPr lang="en-US" sz="800" b="1" dirty="0">
                <a:solidFill>
                  <a:srgbClr val="FFFFFF"/>
                </a:solidFill>
              </a:rPr>
              <a:t>Benjamín · 1:00</a:t>
            </a:r>
            <a:endParaRPr lang="en-US" sz="800" dirty="0"/>
          </a:p>
        </p:txBody>
      </p:sp>
      <p:sp>
        <p:nvSpPr>
          <p:cNvPr id="6" name="Text 4"/>
          <p:cNvSpPr/>
          <p:nvPr/>
        </p:nvSpPr>
        <p:spPr>
          <a:xfrm>
            <a:off x="685800" y="1188720"/>
            <a:ext cx="7040880" cy="411480"/>
          </a:xfrm>
          <a:prstGeom prst="rect">
            <a:avLst/>
          </a:prstGeom>
          <a:noFill/>
          <a:ln/>
        </p:spPr>
        <p:txBody>
          <a:bodyPr wrap="square" lIns="0" tIns="0" rIns="0" bIns="0" rtlCol="0" anchor="ctr"/>
          <a:lstStyle/>
          <a:p>
            <a:pPr indent="0" marL="0">
              <a:buNone/>
            </a:pPr>
            <a:r>
              <a:rPr lang="en-US" sz="1650" dirty="0">
                <a:solidFill>
                  <a:srgbClr val="23231F"/>
                </a:solidFill>
              </a:rPr>
              <a:t>El objetivo general se traduce en requisitos funcionales y no funcionales verificables.</a:t>
            </a:r>
            <a:endParaRPr lang="en-US" sz="1650" dirty="0"/>
          </a:p>
        </p:txBody>
      </p:sp>
      <p:sp>
        <p:nvSpPr>
          <p:cNvPr id="7" name="Shape 5"/>
          <p:cNvSpPr/>
          <p:nvPr/>
        </p:nvSpPr>
        <p:spPr>
          <a:xfrm>
            <a:off x="731520" y="1874520"/>
            <a:ext cx="3337560" cy="3291840"/>
          </a:xfrm>
          <a:prstGeom prst="roundRect">
            <a:avLst>
              <a:gd name="adj" fmla="val 3611"/>
            </a:avLst>
          </a:prstGeom>
          <a:solidFill>
            <a:srgbClr val="425728"/>
          </a:solidFill>
          <a:ln w="12700">
            <a:solidFill>
              <a:srgbClr val="425728"/>
            </a:solidFill>
            <a:prstDash val="solid"/>
          </a:ln>
        </p:spPr>
      </p:sp>
      <p:sp>
        <p:nvSpPr>
          <p:cNvPr id="8" name="Text 6"/>
          <p:cNvSpPr/>
          <p:nvPr/>
        </p:nvSpPr>
        <p:spPr>
          <a:xfrm>
            <a:off x="1005840" y="2148840"/>
            <a:ext cx="2788920" cy="274320"/>
          </a:xfrm>
          <a:prstGeom prst="rect">
            <a:avLst/>
          </a:prstGeom>
          <a:noFill/>
          <a:ln/>
        </p:spPr>
        <p:txBody>
          <a:bodyPr wrap="square" lIns="0" tIns="0" rIns="0" bIns="0" rtlCol="0" anchor="ctr"/>
          <a:lstStyle/>
          <a:p>
            <a:pPr algn="ctr" indent="0" marL="0">
              <a:buNone/>
            </a:pPr>
            <a:r>
              <a:rPr lang="en-US" sz="1600" b="1" dirty="0">
                <a:solidFill>
                  <a:srgbClr val="FFFFFF"/>
                </a:solidFill>
              </a:rPr>
              <a:t>Objetivo general</a:t>
            </a:r>
            <a:endParaRPr lang="en-US" sz="1600" dirty="0"/>
          </a:p>
        </p:txBody>
      </p:sp>
      <p:sp>
        <p:nvSpPr>
          <p:cNvPr id="9" name="Text 7"/>
          <p:cNvSpPr/>
          <p:nvPr/>
        </p:nvSpPr>
        <p:spPr>
          <a:xfrm>
            <a:off x="1005840" y="2697480"/>
            <a:ext cx="2788920" cy="1371600"/>
          </a:xfrm>
          <a:prstGeom prst="rect">
            <a:avLst/>
          </a:prstGeom>
          <a:noFill/>
          <a:ln/>
        </p:spPr>
        <p:txBody>
          <a:bodyPr wrap="square" lIns="635" tIns="635" rIns="635" bIns="635" rtlCol="0" anchor="ctr">
            <a:normAutofit/>
          </a:bodyPr>
          <a:lstStyle/>
          <a:p>
            <a:pPr algn="ctr" indent="0" marL="0">
              <a:buNone/>
            </a:pPr>
            <a:r>
              <a:rPr lang="en-US" sz="1400" dirty="0">
                <a:solidFill>
                  <a:srgbClr val="FFFFFF"/>
                </a:solidFill>
              </a:rPr>
              <a:t>Digitalizar e integrar la operación local de La200 mediante gestión, venta, retiro, POS accesible y e-commerce sin despacho a domicilio.</a:t>
            </a:r>
            <a:endParaRPr lang="en-US" sz="1400" dirty="0"/>
          </a:p>
        </p:txBody>
      </p:sp>
      <p:sp>
        <p:nvSpPr>
          <p:cNvPr id="10" name="Text 8"/>
          <p:cNvSpPr/>
          <p:nvPr/>
        </p:nvSpPr>
        <p:spPr>
          <a:xfrm>
            <a:off x="914400" y="4526280"/>
            <a:ext cx="2926080" cy="274320"/>
          </a:xfrm>
          <a:prstGeom prst="rect">
            <a:avLst/>
          </a:prstGeom>
          <a:noFill/>
          <a:ln/>
        </p:spPr>
        <p:txBody>
          <a:bodyPr wrap="square" lIns="0" tIns="0" rIns="0" bIns="0" rtlCol="0" anchor="ctr"/>
          <a:lstStyle/>
          <a:p>
            <a:pPr algn="ctr" indent="0" marL="0">
              <a:buNone/>
            </a:pPr>
            <a:r>
              <a:rPr lang="en-US" sz="1300" b="1" dirty="0">
                <a:solidFill>
                  <a:srgbClr val="DCE8CC"/>
                </a:solidFill>
              </a:rPr>
              <a:t>Incluir · Cuidar · Ordenar</a:t>
            </a:r>
            <a:endParaRPr lang="en-US" sz="1300" dirty="0"/>
          </a:p>
        </p:txBody>
      </p:sp>
      <p:sp>
        <p:nvSpPr>
          <p:cNvPr id="11" name="Shape 9"/>
          <p:cNvSpPr/>
          <p:nvPr/>
        </p:nvSpPr>
        <p:spPr>
          <a:xfrm>
            <a:off x="4572000" y="1874520"/>
            <a:ext cx="2834640" cy="1097280"/>
          </a:xfrm>
          <a:prstGeom prst="roundRect">
            <a:avLst>
              <a:gd name="adj" fmla="val 10833"/>
            </a:avLst>
          </a:prstGeom>
          <a:solidFill>
            <a:srgbClr val="FFFDF8"/>
          </a:solidFill>
          <a:ln w="7620">
            <a:solidFill>
              <a:srgbClr val="E5DED1"/>
            </a:solidFill>
            <a:prstDash val="solid"/>
          </a:ln>
        </p:spPr>
      </p:sp>
      <p:sp>
        <p:nvSpPr>
          <p:cNvPr id="12" name="Shape 10"/>
          <p:cNvSpPr/>
          <p:nvPr/>
        </p:nvSpPr>
        <p:spPr>
          <a:xfrm>
            <a:off x="4572000" y="1874520"/>
            <a:ext cx="73152" cy="1097280"/>
          </a:xfrm>
          <a:prstGeom prst="rect">
            <a:avLst/>
          </a:prstGeom>
          <a:solidFill>
            <a:srgbClr val="556B2F"/>
          </a:solidFill>
          <a:ln w="12700">
            <a:solidFill>
              <a:srgbClr val="556B2F"/>
            </a:solidFill>
            <a:prstDash val="solid"/>
          </a:ln>
        </p:spPr>
      </p:sp>
      <p:sp>
        <p:nvSpPr>
          <p:cNvPr id="13" name="Text 11"/>
          <p:cNvSpPr/>
          <p:nvPr/>
        </p:nvSpPr>
        <p:spPr>
          <a:xfrm>
            <a:off x="4773168" y="2039112"/>
            <a:ext cx="2505456" cy="228600"/>
          </a:xfrm>
          <a:prstGeom prst="rect">
            <a:avLst/>
          </a:prstGeom>
          <a:noFill/>
          <a:ln/>
        </p:spPr>
        <p:txBody>
          <a:bodyPr wrap="square" lIns="0" tIns="0" rIns="0" bIns="0" rtlCol="0" anchor="ctr"/>
          <a:lstStyle/>
          <a:p>
            <a:pPr indent="0" marL="0">
              <a:buNone/>
            </a:pPr>
            <a:r>
              <a:rPr lang="en-US" sz="1300" b="1" dirty="0">
                <a:solidFill>
                  <a:srgbClr val="556B2F"/>
                </a:solidFill>
              </a:rPr>
              <a:t>RF principales</a:t>
            </a:r>
            <a:endParaRPr lang="en-US" sz="1300" dirty="0"/>
          </a:p>
        </p:txBody>
      </p:sp>
      <p:sp>
        <p:nvSpPr>
          <p:cNvPr id="14" name="Text 12"/>
          <p:cNvSpPr/>
          <p:nvPr/>
        </p:nvSpPr>
        <p:spPr>
          <a:xfrm>
            <a:off x="4773168" y="2350008"/>
            <a:ext cx="2505456" cy="530352"/>
          </a:xfrm>
          <a:prstGeom prst="rect">
            <a:avLst/>
          </a:prstGeom>
          <a:noFill/>
          <a:ln/>
        </p:spPr>
        <p:txBody>
          <a:bodyPr wrap="square" lIns="254" tIns="254" rIns="254" bIns="254" rtlCol="0" anchor="ctr">
            <a:normAutofit/>
          </a:bodyPr>
          <a:lstStyle/>
          <a:p>
            <a:pPr indent="0" marL="0">
              <a:buNone/>
            </a:pPr>
            <a:r>
              <a:rPr lang="en-US" sz="1220" dirty="0">
                <a:solidFill>
                  <a:srgbClr val="23231F"/>
                </a:solidFill>
              </a:rPr>
              <a:t>POS accesible · efectivo/vuelto · TUU · Webpay · stock · pedidos · reportes · 2FA</a:t>
            </a:r>
            <a:endParaRPr lang="en-US" sz="1220" dirty="0"/>
          </a:p>
        </p:txBody>
      </p:sp>
      <p:sp>
        <p:nvSpPr>
          <p:cNvPr id="15" name="Shape 13"/>
          <p:cNvSpPr/>
          <p:nvPr/>
        </p:nvSpPr>
        <p:spPr>
          <a:xfrm>
            <a:off x="7863840" y="1874520"/>
            <a:ext cx="2834640" cy="1097280"/>
          </a:xfrm>
          <a:prstGeom prst="roundRect">
            <a:avLst>
              <a:gd name="adj" fmla="val 10833"/>
            </a:avLst>
          </a:prstGeom>
          <a:solidFill>
            <a:srgbClr val="FFFDF8"/>
          </a:solidFill>
          <a:ln w="7620">
            <a:solidFill>
              <a:srgbClr val="E5DED1"/>
            </a:solidFill>
            <a:prstDash val="solid"/>
          </a:ln>
        </p:spPr>
      </p:sp>
      <p:sp>
        <p:nvSpPr>
          <p:cNvPr id="16" name="Shape 14"/>
          <p:cNvSpPr/>
          <p:nvPr/>
        </p:nvSpPr>
        <p:spPr>
          <a:xfrm>
            <a:off x="7863840" y="1874520"/>
            <a:ext cx="73152" cy="1097280"/>
          </a:xfrm>
          <a:prstGeom prst="rect">
            <a:avLst/>
          </a:prstGeom>
          <a:solidFill>
            <a:srgbClr val="C56C49"/>
          </a:solidFill>
          <a:ln w="12700">
            <a:solidFill>
              <a:srgbClr val="C56C49"/>
            </a:solidFill>
            <a:prstDash val="solid"/>
          </a:ln>
        </p:spPr>
      </p:sp>
      <p:sp>
        <p:nvSpPr>
          <p:cNvPr id="17" name="Text 15"/>
          <p:cNvSpPr/>
          <p:nvPr/>
        </p:nvSpPr>
        <p:spPr>
          <a:xfrm>
            <a:off x="8065008" y="2039112"/>
            <a:ext cx="2505456" cy="228600"/>
          </a:xfrm>
          <a:prstGeom prst="rect">
            <a:avLst/>
          </a:prstGeom>
          <a:noFill/>
          <a:ln/>
        </p:spPr>
        <p:txBody>
          <a:bodyPr wrap="square" lIns="0" tIns="0" rIns="0" bIns="0" rtlCol="0" anchor="ctr"/>
          <a:lstStyle/>
          <a:p>
            <a:pPr indent="0" marL="0">
              <a:buNone/>
            </a:pPr>
            <a:r>
              <a:rPr lang="en-US" sz="1300" b="1" dirty="0">
                <a:solidFill>
                  <a:srgbClr val="C56C49"/>
                </a:solidFill>
              </a:rPr>
              <a:t>RNF principales</a:t>
            </a:r>
            <a:endParaRPr lang="en-US" sz="1300" dirty="0"/>
          </a:p>
        </p:txBody>
      </p:sp>
      <p:sp>
        <p:nvSpPr>
          <p:cNvPr id="18" name="Text 16"/>
          <p:cNvSpPr/>
          <p:nvPr/>
        </p:nvSpPr>
        <p:spPr>
          <a:xfrm>
            <a:off x="8065008" y="2350008"/>
            <a:ext cx="2505456" cy="530352"/>
          </a:xfrm>
          <a:prstGeom prst="rect">
            <a:avLst/>
          </a:prstGeom>
          <a:noFill/>
          <a:ln/>
        </p:spPr>
        <p:txBody>
          <a:bodyPr wrap="square" lIns="254" tIns="254" rIns="254" bIns="254" rtlCol="0" anchor="ctr">
            <a:normAutofit/>
          </a:bodyPr>
          <a:lstStyle/>
          <a:p>
            <a:pPr indent="0" marL="0">
              <a:buNone/>
            </a:pPr>
            <a:r>
              <a:rPr lang="en-US" sz="1220" dirty="0">
                <a:solidFill>
                  <a:srgbClr val="23231F"/>
                </a:solidFill>
              </a:rPr>
              <a:t>Accesibilidad · seguridad · legibilidad · separación POS/tienda · paleta institucional</a:t>
            </a:r>
            <a:endParaRPr lang="en-US" sz="1220" dirty="0"/>
          </a:p>
        </p:txBody>
      </p:sp>
      <p:sp>
        <p:nvSpPr>
          <p:cNvPr id="19" name="Shape 17"/>
          <p:cNvSpPr/>
          <p:nvPr/>
        </p:nvSpPr>
        <p:spPr>
          <a:xfrm>
            <a:off x="4572000" y="3429000"/>
            <a:ext cx="2834640" cy="1097280"/>
          </a:xfrm>
          <a:prstGeom prst="roundRect">
            <a:avLst>
              <a:gd name="adj" fmla="val 10833"/>
            </a:avLst>
          </a:prstGeom>
          <a:solidFill>
            <a:srgbClr val="FFFDF8"/>
          </a:solidFill>
          <a:ln w="7620">
            <a:solidFill>
              <a:srgbClr val="E5DED1"/>
            </a:solidFill>
            <a:prstDash val="solid"/>
          </a:ln>
        </p:spPr>
      </p:sp>
      <p:sp>
        <p:nvSpPr>
          <p:cNvPr id="20" name="Shape 18"/>
          <p:cNvSpPr/>
          <p:nvPr/>
        </p:nvSpPr>
        <p:spPr>
          <a:xfrm>
            <a:off x="4572000" y="3429000"/>
            <a:ext cx="73152" cy="1097280"/>
          </a:xfrm>
          <a:prstGeom prst="rect">
            <a:avLst/>
          </a:prstGeom>
          <a:solidFill>
            <a:srgbClr val="75815A"/>
          </a:solidFill>
          <a:ln w="12700">
            <a:solidFill>
              <a:srgbClr val="75815A"/>
            </a:solidFill>
            <a:prstDash val="solid"/>
          </a:ln>
        </p:spPr>
      </p:sp>
      <p:sp>
        <p:nvSpPr>
          <p:cNvPr id="21" name="Text 19"/>
          <p:cNvSpPr/>
          <p:nvPr/>
        </p:nvSpPr>
        <p:spPr>
          <a:xfrm>
            <a:off x="4773168" y="3593592"/>
            <a:ext cx="2505456" cy="228600"/>
          </a:xfrm>
          <a:prstGeom prst="rect">
            <a:avLst/>
          </a:prstGeom>
          <a:noFill/>
          <a:ln/>
        </p:spPr>
        <p:txBody>
          <a:bodyPr wrap="square" lIns="0" tIns="0" rIns="0" bIns="0" rtlCol="0" anchor="ctr"/>
          <a:lstStyle/>
          <a:p>
            <a:pPr indent="0" marL="0">
              <a:buNone/>
            </a:pPr>
            <a:r>
              <a:rPr lang="en-US" sz="1300" b="1" dirty="0">
                <a:solidFill>
                  <a:srgbClr val="75815A"/>
                </a:solidFill>
              </a:rPr>
              <a:t>Fuera de alcance</a:t>
            </a:r>
            <a:endParaRPr lang="en-US" sz="1300" dirty="0"/>
          </a:p>
        </p:txBody>
      </p:sp>
      <p:sp>
        <p:nvSpPr>
          <p:cNvPr id="22" name="Text 20"/>
          <p:cNvSpPr/>
          <p:nvPr/>
        </p:nvSpPr>
        <p:spPr>
          <a:xfrm>
            <a:off x="4773168" y="3904488"/>
            <a:ext cx="2505456" cy="530352"/>
          </a:xfrm>
          <a:prstGeom prst="rect">
            <a:avLst/>
          </a:prstGeom>
          <a:noFill/>
          <a:ln/>
        </p:spPr>
        <p:txBody>
          <a:bodyPr wrap="square" lIns="254" tIns="254" rIns="254" bIns="254" rtlCol="0" anchor="ctr">
            <a:normAutofit/>
          </a:bodyPr>
          <a:lstStyle/>
          <a:p>
            <a:pPr indent="0" marL="0">
              <a:buNone/>
            </a:pPr>
            <a:r>
              <a:rPr lang="en-US" sz="1220" dirty="0">
                <a:solidFill>
                  <a:srgbClr val="23231F"/>
                </a:solidFill>
              </a:rPr>
              <a:t>Delivery · WhatsApp · reemplazar TUU · admin en tablet · bebidas</a:t>
            </a:r>
            <a:endParaRPr lang="en-US" sz="1220" dirty="0"/>
          </a:p>
        </p:txBody>
      </p:sp>
      <p:sp>
        <p:nvSpPr>
          <p:cNvPr id="23" name="Shape 21"/>
          <p:cNvSpPr/>
          <p:nvPr/>
        </p:nvSpPr>
        <p:spPr>
          <a:xfrm>
            <a:off x="7863840" y="3429000"/>
            <a:ext cx="2834640" cy="1097280"/>
          </a:xfrm>
          <a:prstGeom prst="roundRect">
            <a:avLst>
              <a:gd name="adj" fmla="val 10833"/>
            </a:avLst>
          </a:prstGeom>
          <a:solidFill>
            <a:srgbClr val="FFFDF8"/>
          </a:solidFill>
          <a:ln w="7620">
            <a:solidFill>
              <a:srgbClr val="E5DED1"/>
            </a:solidFill>
            <a:prstDash val="solid"/>
          </a:ln>
        </p:spPr>
      </p:sp>
      <p:sp>
        <p:nvSpPr>
          <p:cNvPr id="24" name="Shape 22"/>
          <p:cNvSpPr/>
          <p:nvPr/>
        </p:nvSpPr>
        <p:spPr>
          <a:xfrm>
            <a:off x="7863840" y="3429000"/>
            <a:ext cx="73152" cy="1097280"/>
          </a:xfrm>
          <a:prstGeom prst="rect">
            <a:avLst/>
          </a:prstGeom>
          <a:solidFill>
            <a:srgbClr val="556B2F"/>
          </a:solidFill>
          <a:ln w="12700">
            <a:solidFill>
              <a:srgbClr val="556B2F"/>
            </a:solidFill>
            <a:prstDash val="solid"/>
          </a:ln>
        </p:spPr>
      </p:sp>
      <p:sp>
        <p:nvSpPr>
          <p:cNvPr id="25" name="Text 23"/>
          <p:cNvSpPr/>
          <p:nvPr/>
        </p:nvSpPr>
        <p:spPr>
          <a:xfrm>
            <a:off x="8065008" y="3593592"/>
            <a:ext cx="2505456" cy="228600"/>
          </a:xfrm>
          <a:prstGeom prst="rect">
            <a:avLst/>
          </a:prstGeom>
          <a:noFill/>
          <a:ln/>
        </p:spPr>
        <p:txBody>
          <a:bodyPr wrap="square" lIns="0" tIns="0" rIns="0" bIns="0" rtlCol="0" anchor="ctr"/>
          <a:lstStyle/>
          <a:p>
            <a:pPr indent="0" marL="0">
              <a:buNone/>
            </a:pPr>
            <a:r>
              <a:rPr lang="en-US" sz="1300" b="1" dirty="0">
                <a:solidFill>
                  <a:srgbClr val="556B2F"/>
                </a:solidFill>
              </a:rPr>
              <a:t>Evidencias</a:t>
            </a:r>
            <a:endParaRPr lang="en-US" sz="1300" dirty="0"/>
          </a:p>
        </p:txBody>
      </p:sp>
      <p:sp>
        <p:nvSpPr>
          <p:cNvPr id="26" name="Text 24"/>
          <p:cNvSpPr/>
          <p:nvPr/>
        </p:nvSpPr>
        <p:spPr>
          <a:xfrm>
            <a:off x="8065008" y="3904488"/>
            <a:ext cx="2505456" cy="530352"/>
          </a:xfrm>
          <a:prstGeom prst="rect">
            <a:avLst/>
          </a:prstGeom>
          <a:noFill/>
          <a:ln/>
        </p:spPr>
        <p:txBody>
          <a:bodyPr wrap="square" lIns="254" tIns="254" rIns="254" bIns="254" rtlCol="0" anchor="ctr">
            <a:normAutofit/>
          </a:bodyPr>
          <a:lstStyle/>
          <a:p>
            <a:pPr indent="0" marL="0">
              <a:buNone/>
            </a:pPr>
            <a:r>
              <a:rPr lang="en-US" sz="1220" dirty="0">
                <a:solidFill>
                  <a:srgbClr val="23231F"/>
                </a:solidFill>
              </a:rPr>
              <a:t>PPT · Guía 1 · aplicación · BD · arquitectura · pruebas · defensa</a:t>
            </a:r>
            <a:endParaRPr lang="en-US" sz="1220" dirty="0"/>
          </a:p>
        </p:txBody>
      </p:sp>
      <p:sp>
        <p:nvSpPr>
          <p:cNvPr id="27" name="Text 25"/>
          <p:cNvSpPr/>
          <p:nvPr/>
        </p:nvSpPr>
        <p:spPr>
          <a:xfrm>
            <a:off x="4663440" y="5257800"/>
            <a:ext cx="6035040" cy="274320"/>
          </a:xfrm>
          <a:prstGeom prst="rect">
            <a:avLst/>
          </a:prstGeom>
          <a:noFill/>
          <a:ln/>
        </p:spPr>
        <p:txBody>
          <a:bodyPr wrap="square" lIns="0" tIns="0" rIns="0" bIns="0" rtlCol="0" anchor="ctr"/>
          <a:lstStyle/>
          <a:p>
            <a:pPr indent="0" marL="0">
              <a:buNone/>
            </a:pPr>
            <a:r>
              <a:rPr lang="en-US" sz="1250" b="1" dirty="0">
                <a:solidFill>
                  <a:srgbClr val="746D65"/>
                </a:solidFill>
              </a:rPr>
              <a:t>La ERS queda como anexo: no reemplaza la plantilla de la Guía 1; la complementa.</a:t>
            </a:r>
            <a:endParaRPr lang="en-US" sz="1250" dirty="0"/>
          </a:p>
        </p:txBody>
      </p:sp>
      <p:sp>
        <p:nvSpPr>
          <p:cNvPr id="25" name="Slide Number Placeholder 0"/>
          <p:cNvSpPr>
            <a:spLocks noGrp="1"/>
          </p:cNvSpPr>
          <p:nvPr>
            <p:ph type="sldNum" sz="quarter" idx="4294967295"/>
          </p:nvPr>
        </p:nvSpPr>
        <p:spPr>
          <a:xfrm>
            <a:off x="11475720" y="651967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625A"/>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58368" y="347472"/>
            <a:ext cx="3474720" cy="182880"/>
          </a:xfrm>
          <a:prstGeom prst="rect">
            <a:avLst/>
          </a:prstGeom>
          <a:noFill/>
          <a:ln/>
        </p:spPr>
        <p:txBody>
          <a:bodyPr wrap="square" lIns="0" tIns="0" rIns="0" bIns="0" rtlCol="0" anchor="ctr"/>
          <a:lstStyle/>
          <a:p>
            <a:pPr indent="0" marL="0">
              <a:buNone/>
            </a:pPr>
            <a:r>
              <a:rPr lang="en-US" sz="850" b="1" dirty="0">
                <a:solidFill>
                  <a:srgbClr val="C56C49"/>
                </a:solidFill>
              </a:rPr>
              <a:t>WATERFALL / 18 SEMANAS</a:t>
            </a:r>
            <a:endParaRPr lang="en-US" sz="850" dirty="0"/>
          </a:p>
        </p:txBody>
      </p:sp>
      <p:sp>
        <p:nvSpPr>
          <p:cNvPr id="3" name="Text 1"/>
          <p:cNvSpPr/>
          <p:nvPr/>
        </p:nvSpPr>
        <p:spPr>
          <a:xfrm>
            <a:off x="640080" y="566928"/>
            <a:ext cx="7589520" cy="548640"/>
          </a:xfrm>
          <a:prstGeom prst="rect">
            <a:avLst/>
          </a:prstGeom>
          <a:noFill/>
          <a:ln/>
        </p:spPr>
        <p:txBody>
          <a:bodyPr wrap="square" lIns="0" tIns="0" rIns="0" bIns="0" rtlCol="0" anchor="ctr">
            <a:normAutofit/>
          </a:bodyPr>
          <a:lstStyle/>
          <a:p>
            <a:pPr indent="0" marL="0">
              <a:buNone/>
            </a:pPr>
            <a:r>
              <a:rPr lang="en-US" sz="2700" b="1" dirty="0">
                <a:solidFill>
                  <a:srgbClr val="23231F"/>
                </a:solidFill>
              </a:rPr>
              <a:t>Metodología tradicional: ordenar lo que ya existe</a:t>
            </a:r>
            <a:endParaRPr lang="en-US" sz="2700" dirty="0"/>
          </a:p>
        </p:txBody>
      </p:sp>
      <p:sp>
        <p:nvSpPr>
          <p:cNvPr id="4" name="Shape 2"/>
          <p:cNvSpPr/>
          <p:nvPr/>
        </p:nvSpPr>
        <p:spPr>
          <a:xfrm>
            <a:off x="9473184" y="347472"/>
            <a:ext cx="2057400" cy="310896"/>
          </a:xfrm>
          <a:prstGeom prst="roundRect">
            <a:avLst>
              <a:gd name="adj" fmla="val 23529"/>
            </a:avLst>
          </a:prstGeom>
          <a:solidFill>
            <a:srgbClr val="556B2F"/>
          </a:solidFill>
          <a:ln w="12700">
            <a:solidFill>
              <a:srgbClr val="556B2F"/>
            </a:solidFill>
            <a:prstDash val="solid"/>
          </a:ln>
        </p:spPr>
      </p:sp>
      <p:sp>
        <p:nvSpPr>
          <p:cNvPr id="5" name="Text 3"/>
          <p:cNvSpPr/>
          <p:nvPr/>
        </p:nvSpPr>
        <p:spPr>
          <a:xfrm>
            <a:off x="9582912" y="425196"/>
            <a:ext cx="1828800" cy="109728"/>
          </a:xfrm>
          <a:prstGeom prst="rect">
            <a:avLst/>
          </a:prstGeom>
          <a:noFill/>
          <a:ln/>
        </p:spPr>
        <p:txBody>
          <a:bodyPr wrap="square" lIns="0" tIns="0" rIns="0" bIns="0" rtlCol="0" anchor="ctr"/>
          <a:lstStyle/>
          <a:p>
            <a:pPr algn="ctr" indent="0" marL="0">
              <a:buNone/>
            </a:pPr>
            <a:r>
              <a:rPr lang="en-US" sz="800" b="1" dirty="0">
                <a:solidFill>
                  <a:srgbClr val="FFFFFF"/>
                </a:solidFill>
              </a:rPr>
              <a:t>Benjamín · 1:10</a:t>
            </a:r>
            <a:endParaRPr lang="en-US" sz="800" dirty="0"/>
          </a:p>
        </p:txBody>
      </p:sp>
      <p:sp>
        <p:nvSpPr>
          <p:cNvPr id="6" name="Text 4"/>
          <p:cNvSpPr/>
          <p:nvPr/>
        </p:nvSpPr>
        <p:spPr>
          <a:xfrm>
            <a:off x="685800" y="1207008"/>
            <a:ext cx="8138160" cy="411480"/>
          </a:xfrm>
          <a:prstGeom prst="rect">
            <a:avLst/>
          </a:prstGeom>
          <a:noFill/>
          <a:ln/>
        </p:spPr>
        <p:txBody>
          <a:bodyPr wrap="square" lIns="0" tIns="0" rIns="0" bIns="0" rtlCol="0" anchor="ctr"/>
          <a:lstStyle/>
          <a:p>
            <a:pPr indent="0" marL="0">
              <a:buNone/>
            </a:pPr>
            <a:r>
              <a:rPr lang="en-US" sz="1600" dirty="0">
                <a:solidFill>
                  <a:srgbClr val="23231F"/>
                </a:solidFill>
              </a:rPr>
              <a:t>Se elige Waterfall porque ya existe una base funcional; el trabajo restante es formalizar, pulir, probar y evidenciar.</a:t>
            </a:r>
            <a:endParaRPr lang="en-US" sz="1600" dirty="0"/>
          </a:p>
        </p:txBody>
      </p:sp>
      <p:sp>
        <p:nvSpPr>
          <p:cNvPr id="7" name="Shape 5"/>
          <p:cNvSpPr/>
          <p:nvPr/>
        </p:nvSpPr>
        <p:spPr>
          <a:xfrm>
            <a:off x="4114800" y="3474720"/>
            <a:ext cx="411480" cy="0"/>
          </a:xfrm>
          <a:prstGeom prst="line">
            <a:avLst/>
          </a:prstGeom>
          <a:noFill/>
          <a:ln w="25400">
            <a:solidFill>
              <a:srgbClr val="556B2F"/>
            </a:solidFill>
            <a:prstDash val="solid"/>
            <a:tailEnd type="triangle"/>
          </a:ln>
        </p:spPr>
      </p:sp>
      <p:sp>
        <p:nvSpPr>
          <p:cNvPr id="8" name="Shape 6"/>
          <p:cNvSpPr/>
          <p:nvPr/>
        </p:nvSpPr>
        <p:spPr>
          <a:xfrm>
            <a:off x="7818120" y="3474720"/>
            <a:ext cx="411480" cy="0"/>
          </a:xfrm>
          <a:prstGeom prst="line">
            <a:avLst/>
          </a:prstGeom>
          <a:noFill/>
          <a:ln w="25400">
            <a:solidFill>
              <a:srgbClr val="556B2F"/>
            </a:solidFill>
            <a:prstDash val="solid"/>
            <a:tailEnd type="triangle"/>
          </a:ln>
        </p:spPr>
      </p:sp>
      <p:sp>
        <p:nvSpPr>
          <p:cNvPr id="9" name="Shape 7"/>
          <p:cNvSpPr/>
          <p:nvPr/>
        </p:nvSpPr>
        <p:spPr>
          <a:xfrm>
            <a:off x="822960" y="2286000"/>
            <a:ext cx="3291840" cy="2377440"/>
          </a:xfrm>
          <a:prstGeom prst="roundRect">
            <a:avLst>
              <a:gd name="adj" fmla="val 5000"/>
            </a:avLst>
          </a:prstGeom>
          <a:solidFill>
            <a:srgbClr val="DCE8CC"/>
          </a:solidFill>
          <a:ln w="12700">
            <a:solidFill>
              <a:srgbClr val="B9C5A2"/>
            </a:solidFill>
            <a:prstDash val="solid"/>
          </a:ln>
        </p:spPr>
      </p:sp>
      <p:sp>
        <p:nvSpPr>
          <p:cNvPr id="10" name="Text 8"/>
          <p:cNvSpPr/>
          <p:nvPr/>
        </p:nvSpPr>
        <p:spPr>
          <a:xfrm>
            <a:off x="1005840" y="2514600"/>
            <a:ext cx="2926080" cy="228600"/>
          </a:xfrm>
          <a:prstGeom prst="rect">
            <a:avLst/>
          </a:prstGeom>
          <a:noFill/>
          <a:ln/>
        </p:spPr>
        <p:txBody>
          <a:bodyPr wrap="square" lIns="0" tIns="0" rIns="0" bIns="0" rtlCol="0" anchor="ctr"/>
          <a:lstStyle/>
          <a:p>
            <a:pPr algn="ctr" indent="0" marL="0">
              <a:buNone/>
            </a:pPr>
            <a:r>
              <a:rPr lang="en-US" sz="2100" b="1" dirty="0">
                <a:solidFill>
                  <a:srgbClr val="425728"/>
                </a:solidFill>
              </a:rPr>
              <a:t>Fase 1</a:t>
            </a:r>
            <a:endParaRPr lang="en-US" sz="2100" dirty="0"/>
          </a:p>
        </p:txBody>
      </p:sp>
      <p:sp>
        <p:nvSpPr>
          <p:cNvPr id="11" name="Text 9"/>
          <p:cNvSpPr/>
          <p:nvPr/>
        </p:nvSpPr>
        <p:spPr>
          <a:xfrm>
            <a:off x="1005840" y="3017520"/>
            <a:ext cx="2926080" cy="228600"/>
          </a:xfrm>
          <a:prstGeom prst="rect">
            <a:avLst/>
          </a:prstGeom>
          <a:noFill/>
          <a:ln/>
        </p:spPr>
        <p:txBody>
          <a:bodyPr wrap="square" lIns="0" tIns="0" rIns="0" bIns="0" rtlCol="0" anchor="ctr"/>
          <a:lstStyle/>
          <a:p>
            <a:pPr algn="ctr" indent="0" marL="0">
              <a:buNone/>
            </a:pPr>
            <a:r>
              <a:rPr lang="en-US" sz="1300" b="1" dirty="0">
                <a:solidFill>
                  <a:srgbClr val="746D65"/>
                </a:solidFill>
              </a:rPr>
              <a:t>S1–S4</a:t>
            </a:r>
            <a:endParaRPr lang="en-US" sz="1300" dirty="0"/>
          </a:p>
        </p:txBody>
      </p:sp>
      <p:sp>
        <p:nvSpPr>
          <p:cNvPr id="12" name="Text 10"/>
          <p:cNvSpPr/>
          <p:nvPr/>
        </p:nvSpPr>
        <p:spPr>
          <a:xfrm>
            <a:off x="1051560" y="3474720"/>
            <a:ext cx="2834640" cy="777240"/>
          </a:xfrm>
          <a:prstGeom prst="rect">
            <a:avLst/>
          </a:prstGeom>
          <a:noFill/>
          <a:ln/>
        </p:spPr>
        <p:txBody>
          <a:bodyPr wrap="square" lIns="381" tIns="381" rIns="381" bIns="381" rtlCol="0" anchor="ctr">
            <a:normAutofit/>
          </a:bodyPr>
          <a:lstStyle/>
          <a:p>
            <a:pPr algn="ctr" indent="0" marL="0">
              <a:buNone/>
            </a:pPr>
            <a:r>
              <a:rPr lang="en-US" sz="1300" dirty="0">
                <a:solidFill>
                  <a:srgbClr val="23231F"/>
                </a:solidFill>
              </a:rPr>
              <a:t>Definición APT</a:t>
            </a:r>
            <a:endParaRPr lang="en-US" sz="1300" dirty="0"/>
          </a:p>
          <a:p>
            <a:pPr algn="ctr" indent="0" marL="0">
              <a:buNone/>
            </a:pPr>
            <a:r>
              <a:rPr lang="en-US" sz="1300" dirty="0">
                <a:solidFill>
                  <a:srgbClr val="23231F"/>
                </a:solidFill>
              </a:rPr>
              <a:t>Guía 1 · ERS · recortes</a:t>
            </a:r>
            <a:endParaRPr lang="en-US" sz="1300" dirty="0"/>
          </a:p>
        </p:txBody>
      </p:sp>
      <p:sp>
        <p:nvSpPr>
          <p:cNvPr id="13" name="Shape 11"/>
          <p:cNvSpPr/>
          <p:nvPr/>
        </p:nvSpPr>
        <p:spPr>
          <a:xfrm>
            <a:off x="4526280" y="2286000"/>
            <a:ext cx="3291840" cy="2377440"/>
          </a:xfrm>
          <a:prstGeom prst="roundRect">
            <a:avLst>
              <a:gd name="adj" fmla="val 5000"/>
            </a:avLst>
          </a:prstGeom>
          <a:solidFill>
            <a:srgbClr val="FFFDF8"/>
          </a:solidFill>
          <a:ln w="12700">
            <a:solidFill>
              <a:srgbClr val="D9CDBE"/>
            </a:solidFill>
            <a:prstDash val="solid"/>
          </a:ln>
        </p:spPr>
      </p:sp>
      <p:sp>
        <p:nvSpPr>
          <p:cNvPr id="14" name="Text 12"/>
          <p:cNvSpPr/>
          <p:nvPr/>
        </p:nvSpPr>
        <p:spPr>
          <a:xfrm>
            <a:off x="4709160" y="2514600"/>
            <a:ext cx="2926080" cy="228600"/>
          </a:xfrm>
          <a:prstGeom prst="rect">
            <a:avLst/>
          </a:prstGeom>
          <a:noFill/>
          <a:ln/>
        </p:spPr>
        <p:txBody>
          <a:bodyPr wrap="square" lIns="0" tIns="0" rIns="0" bIns="0" rtlCol="0" anchor="ctr"/>
          <a:lstStyle/>
          <a:p>
            <a:pPr algn="ctr" indent="0" marL="0">
              <a:buNone/>
            </a:pPr>
            <a:r>
              <a:rPr lang="en-US" sz="2100" b="1" dirty="0">
                <a:solidFill>
                  <a:srgbClr val="425728"/>
                </a:solidFill>
              </a:rPr>
              <a:t>Fase 2</a:t>
            </a:r>
            <a:endParaRPr lang="en-US" sz="2100" dirty="0"/>
          </a:p>
        </p:txBody>
      </p:sp>
      <p:sp>
        <p:nvSpPr>
          <p:cNvPr id="15" name="Text 13"/>
          <p:cNvSpPr/>
          <p:nvPr/>
        </p:nvSpPr>
        <p:spPr>
          <a:xfrm>
            <a:off x="4709160" y="3017520"/>
            <a:ext cx="2926080" cy="228600"/>
          </a:xfrm>
          <a:prstGeom prst="rect">
            <a:avLst/>
          </a:prstGeom>
          <a:noFill/>
          <a:ln/>
        </p:spPr>
        <p:txBody>
          <a:bodyPr wrap="square" lIns="0" tIns="0" rIns="0" bIns="0" rtlCol="0" anchor="ctr"/>
          <a:lstStyle/>
          <a:p>
            <a:pPr algn="ctr" indent="0" marL="0">
              <a:buNone/>
            </a:pPr>
            <a:r>
              <a:rPr lang="en-US" sz="1300" b="1" dirty="0">
                <a:solidFill>
                  <a:srgbClr val="746D65"/>
                </a:solidFill>
              </a:rPr>
              <a:t>S5–S12</a:t>
            </a:r>
            <a:endParaRPr lang="en-US" sz="1300" dirty="0"/>
          </a:p>
        </p:txBody>
      </p:sp>
      <p:sp>
        <p:nvSpPr>
          <p:cNvPr id="16" name="Text 14"/>
          <p:cNvSpPr/>
          <p:nvPr/>
        </p:nvSpPr>
        <p:spPr>
          <a:xfrm>
            <a:off x="4754880" y="3474720"/>
            <a:ext cx="2834640" cy="777240"/>
          </a:xfrm>
          <a:prstGeom prst="rect">
            <a:avLst/>
          </a:prstGeom>
          <a:noFill/>
          <a:ln/>
        </p:spPr>
        <p:txBody>
          <a:bodyPr wrap="square" lIns="381" tIns="381" rIns="381" bIns="381" rtlCol="0" anchor="ctr">
            <a:normAutofit/>
          </a:bodyPr>
          <a:lstStyle/>
          <a:p>
            <a:pPr algn="ctr" indent="0" marL="0">
              <a:buNone/>
            </a:pPr>
            <a:r>
              <a:rPr lang="en-US" sz="1300" dirty="0">
                <a:solidFill>
                  <a:srgbClr val="23231F"/>
                </a:solidFill>
              </a:rPr>
              <a:t>Diseño + estabilización</a:t>
            </a:r>
            <a:endParaRPr lang="en-US" sz="1300" dirty="0"/>
          </a:p>
          <a:p>
            <a:pPr algn="ctr" indent="0" marL="0">
              <a:buNone/>
            </a:pPr>
            <a:r>
              <a:rPr lang="en-US" sz="1300" dirty="0">
                <a:solidFill>
                  <a:srgbClr val="23231F"/>
                </a:solidFill>
              </a:rPr>
              <a:t>POS · web · pagos · stock · 2FA</a:t>
            </a:r>
            <a:endParaRPr lang="en-US" sz="1300" dirty="0"/>
          </a:p>
        </p:txBody>
      </p:sp>
      <p:sp>
        <p:nvSpPr>
          <p:cNvPr id="17" name="Shape 15"/>
          <p:cNvSpPr/>
          <p:nvPr/>
        </p:nvSpPr>
        <p:spPr>
          <a:xfrm>
            <a:off x="8229600" y="2286000"/>
            <a:ext cx="3291840" cy="2377440"/>
          </a:xfrm>
          <a:prstGeom prst="roundRect">
            <a:avLst>
              <a:gd name="adj" fmla="val 5000"/>
            </a:avLst>
          </a:prstGeom>
          <a:solidFill>
            <a:srgbClr val="F1D1C1"/>
          </a:solidFill>
          <a:ln w="12700">
            <a:solidFill>
              <a:srgbClr val="E2B59E"/>
            </a:solidFill>
            <a:prstDash val="solid"/>
          </a:ln>
        </p:spPr>
      </p:sp>
      <p:sp>
        <p:nvSpPr>
          <p:cNvPr id="18" name="Text 16"/>
          <p:cNvSpPr/>
          <p:nvPr/>
        </p:nvSpPr>
        <p:spPr>
          <a:xfrm>
            <a:off x="8412480" y="2514600"/>
            <a:ext cx="2926080" cy="228600"/>
          </a:xfrm>
          <a:prstGeom prst="rect">
            <a:avLst/>
          </a:prstGeom>
          <a:noFill/>
          <a:ln/>
        </p:spPr>
        <p:txBody>
          <a:bodyPr wrap="square" lIns="0" tIns="0" rIns="0" bIns="0" rtlCol="0" anchor="ctr"/>
          <a:lstStyle/>
          <a:p>
            <a:pPr algn="ctr" indent="0" marL="0">
              <a:buNone/>
            </a:pPr>
            <a:r>
              <a:rPr lang="en-US" sz="2100" b="1" dirty="0">
                <a:solidFill>
                  <a:srgbClr val="C56C49"/>
                </a:solidFill>
              </a:rPr>
              <a:t>Fase 3</a:t>
            </a:r>
            <a:endParaRPr lang="en-US" sz="2100" dirty="0"/>
          </a:p>
        </p:txBody>
      </p:sp>
      <p:sp>
        <p:nvSpPr>
          <p:cNvPr id="19" name="Text 17"/>
          <p:cNvSpPr/>
          <p:nvPr/>
        </p:nvSpPr>
        <p:spPr>
          <a:xfrm>
            <a:off x="8412480" y="3017520"/>
            <a:ext cx="2926080" cy="228600"/>
          </a:xfrm>
          <a:prstGeom prst="rect">
            <a:avLst/>
          </a:prstGeom>
          <a:noFill/>
          <a:ln/>
        </p:spPr>
        <p:txBody>
          <a:bodyPr wrap="square" lIns="0" tIns="0" rIns="0" bIns="0" rtlCol="0" anchor="ctr"/>
          <a:lstStyle/>
          <a:p>
            <a:pPr algn="ctr" indent="0" marL="0">
              <a:buNone/>
            </a:pPr>
            <a:r>
              <a:rPr lang="en-US" sz="1300" b="1" dirty="0">
                <a:solidFill>
                  <a:srgbClr val="746D65"/>
                </a:solidFill>
              </a:rPr>
              <a:t>S13–S18</a:t>
            </a:r>
            <a:endParaRPr lang="en-US" sz="1300" dirty="0"/>
          </a:p>
        </p:txBody>
      </p:sp>
      <p:sp>
        <p:nvSpPr>
          <p:cNvPr id="20" name="Text 18"/>
          <p:cNvSpPr/>
          <p:nvPr/>
        </p:nvSpPr>
        <p:spPr>
          <a:xfrm>
            <a:off x="8458200" y="3474720"/>
            <a:ext cx="2834640" cy="777240"/>
          </a:xfrm>
          <a:prstGeom prst="rect">
            <a:avLst/>
          </a:prstGeom>
          <a:noFill/>
          <a:ln/>
        </p:spPr>
        <p:txBody>
          <a:bodyPr wrap="square" lIns="381" tIns="381" rIns="381" bIns="381" rtlCol="0" anchor="ctr">
            <a:normAutofit/>
          </a:bodyPr>
          <a:lstStyle/>
          <a:p>
            <a:pPr algn="ctr" indent="0" marL="0">
              <a:buNone/>
            </a:pPr>
            <a:r>
              <a:rPr lang="en-US" sz="1300" dirty="0">
                <a:solidFill>
                  <a:srgbClr val="23231F"/>
                </a:solidFill>
              </a:rPr>
              <a:t>Pruebas + cierre</a:t>
            </a:r>
            <a:endParaRPr lang="en-US" sz="1300" dirty="0"/>
          </a:p>
          <a:p>
            <a:pPr algn="ctr" indent="0" marL="0">
              <a:buNone/>
            </a:pPr>
            <a:r>
              <a:rPr lang="en-US" sz="1300" dirty="0">
                <a:solidFill>
                  <a:srgbClr val="23231F"/>
                </a:solidFill>
              </a:rPr>
              <a:t>local · evidencias · defensa</a:t>
            </a:r>
            <a:endParaRPr lang="en-US" sz="1300" dirty="0"/>
          </a:p>
        </p:txBody>
      </p:sp>
      <p:sp>
        <p:nvSpPr>
          <p:cNvPr id="21" name="Text 19"/>
          <p:cNvSpPr/>
          <p:nvPr/>
        </p:nvSpPr>
        <p:spPr>
          <a:xfrm>
            <a:off x="1188720" y="5440680"/>
            <a:ext cx="9784080" cy="292608"/>
          </a:xfrm>
          <a:prstGeom prst="rect">
            <a:avLst/>
          </a:prstGeom>
          <a:noFill/>
          <a:ln/>
        </p:spPr>
        <p:txBody>
          <a:bodyPr wrap="square" lIns="0" tIns="0" rIns="0" bIns="0" rtlCol="0" anchor="ctr"/>
          <a:lstStyle/>
          <a:p>
            <a:pPr algn="ctr" indent="0" marL="0">
              <a:buNone/>
            </a:pPr>
            <a:r>
              <a:rPr lang="en-US" sz="1520" b="1" dirty="0">
                <a:solidFill>
                  <a:srgbClr val="425728"/>
                </a:solidFill>
              </a:rPr>
              <a:t>Criterio de control: cada fase genera entregables y evidencias antes de avanzar.</a:t>
            </a:r>
            <a:endParaRPr lang="en-US" sz="1520" dirty="0"/>
          </a:p>
        </p:txBody>
      </p:sp>
      <p:sp>
        <p:nvSpPr>
          <p:cNvPr id="25" name="Slide Number Placeholder 0"/>
          <p:cNvSpPr>
            <a:spLocks noGrp="1"/>
          </p:cNvSpPr>
          <p:nvPr>
            <p:ph type="sldNum" sz="quarter" idx="4294967295"/>
          </p:nvPr>
        </p:nvSpPr>
        <p:spPr>
          <a:xfrm>
            <a:off x="11475720" y="651967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625A"/>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58368" y="347472"/>
            <a:ext cx="3474720" cy="182880"/>
          </a:xfrm>
          <a:prstGeom prst="rect">
            <a:avLst/>
          </a:prstGeom>
          <a:noFill/>
          <a:ln/>
        </p:spPr>
        <p:txBody>
          <a:bodyPr wrap="square" lIns="0" tIns="0" rIns="0" bIns="0" rtlCol="0" anchor="ctr"/>
          <a:lstStyle/>
          <a:p>
            <a:pPr indent="0" marL="0">
              <a:buNone/>
            </a:pPr>
            <a:r>
              <a:rPr lang="en-US" sz="850" b="1" dirty="0">
                <a:solidFill>
                  <a:srgbClr val="C56C49"/>
                </a:solidFill>
              </a:rPr>
              <a:t>EVIDENCIAS Y CIERRE</a:t>
            </a:r>
            <a:endParaRPr lang="en-US" sz="850" dirty="0"/>
          </a:p>
        </p:txBody>
      </p:sp>
      <p:sp>
        <p:nvSpPr>
          <p:cNvPr id="3" name="Text 1"/>
          <p:cNvSpPr/>
          <p:nvPr/>
        </p:nvSpPr>
        <p:spPr>
          <a:xfrm>
            <a:off x="640080" y="566928"/>
            <a:ext cx="7315200" cy="548640"/>
          </a:xfrm>
          <a:prstGeom prst="rect">
            <a:avLst/>
          </a:prstGeom>
          <a:noFill/>
          <a:ln/>
        </p:spPr>
        <p:txBody>
          <a:bodyPr wrap="square" lIns="0" tIns="0" rIns="0" bIns="0" rtlCol="0" anchor="ctr">
            <a:normAutofit/>
          </a:bodyPr>
          <a:lstStyle/>
          <a:p>
            <a:pPr indent="0" marL="0">
              <a:buNone/>
            </a:pPr>
            <a:r>
              <a:rPr lang="en-US" sz="2700" b="1" dirty="0">
                <a:solidFill>
                  <a:srgbClr val="23231F"/>
                </a:solidFill>
              </a:rPr>
              <a:t>Qué entregaremos y cómo se comprobará</a:t>
            </a:r>
            <a:endParaRPr lang="en-US" sz="2700" dirty="0"/>
          </a:p>
        </p:txBody>
      </p:sp>
      <p:sp>
        <p:nvSpPr>
          <p:cNvPr id="4" name="Shape 2"/>
          <p:cNvSpPr/>
          <p:nvPr/>
        </p:nvSpPr>
        <p:spPr>
          <a:xfrm>
            <a:off x="9473184" y="347472"/>
            <a:ext cx="2057400" cy="310896"/>
          </a:xfrm>
          <a:prstGeom prst="roundRect">
            <a:avLst>
              <a:gd name="adj" fmla="val 23529"/>
            </a:avLst>
          </a:prstGeom>
          <a:solidFill>
            <a:srgbClr val="556B2F"/>
          </a:solidFill>
          <a:ln w="12700">
            <a:solidFill>
              <a:srgbClr val="556B2F"/>
            </a:solidFill>
            <a:prstDash val="solid"/>
          </a:ln>
        </p:spPr>
      </p:sp>
      <p:sp>
        <p:nvSpPr>
          <p:cNvPr id="5" name="Text 3"/>
          <p:cNvSpPr/>
          <p:nvPr/>
        </p:nvSpPr>
        <p:spPr>
          <a:xfrm>
            <a:off x="9582912" y="425196"/>
            <a:ext cx="1828800" cy="109728"/>
          </a:xfrm>
          <a:prstGeom prst="rect">
            <a:avLst/>
          </a:prstGeom>
          <a:noFill/>
          <a:ln/>
        </p:spPr>
        <p:txBody>
          <a:bodyPr wrap="square" lIns="0" tIns="0" rIns="0" bIns="0" rtlCol="0" anchor="ctr"/>
          <a:lstStyle/>
          <a:p>
            <a:pPr algn="ctr" indent="0" marL="0">
              <a:buNone/>
            </a:pPr>
            <a:r>
              <a:rPr lang="en-US" sz="800" b="1" dirty="0">
                <a:solidFill>
                  <a:srgbClr val="FFFFFF"/>
                </a:solidFill>
              </a:rPr>
              <a:t>Todos · 1:00</a:t>
            </a:r>
            <a:endParaRPr lang="en-US" sz="800" dirty="0"/>
          </a:p>
        </p:txBody>
      </p:sp>
      <p:sp>
        <p:nvSpPr>
          <p:cNvPr id="6" name="Text 4"/>
          <p:cNvSpPr/>
          <p:nvPr/>
        </p:nvSpPr>
        <p:spPr>
          <a:xfrm>
            <a:off x="685800" y="1234440"/>
            <a:ext cx="7132320" cy="411480"/>
          </a:xfrm>
          <a:prstGeom prst="rect">
            <a:avLst/>
          </a:prstGeom>
          <a:noFill/>
          <a:ln/>
        </p:spPr>
        <p:txBody>
          <a:bodyPr wrap="square" lIns="0" tIns="0" rIns="0" bIns="0" rtlCol="0" anchor="ctr"/>
          <a:lstStyle/>
          <a:p>
            <a:pPr indent="0" marL="0">
              <a:buNone/>
            </a:pPr>
            <a:r>
              <a:rPr lang="en-US" sz="1650" dirty="0">
                <a:solidFill>
                  <a:srgbClr val="23231F"/>
                </a:solidFill>
              </a:rPr>
              <a:t>El proyecto se evaluará con documentos, software, base de datos, pruebas y defensa.</a:t>
            </a:r>
            <a:endParaRPr lang="en-US" sz="1650" dirty="0"/>
          </a:p>
        </p:txBody>
      </p:sp>
      <p:sp>
        <p:nvSpPr>
          <p:cNvPr id="7" name="Shape 5"/>
          <p:cNvSpPr/>
          <p:nvPr/>
        </p:nvSpPr>
        <p:spPr>
          <a:xfrm>
            <a:off x="822960" y="2194560"/>
            <a:ext cx="3108960" cy="2377440"/>
          </a:xfrm>
          <a:prstGeom prst="roundRect">
            <a:avLst>
              <a:gd name="adj" fmla="val 5385"/>
            </a:avLst>
          </a:prstGeom>
          <a:solidFill>
            <a:srgbClr val="DCE8CC"/>
          </a:solidFill>
          <a:ln w="12700">
            <a:solidFill>
              <a:srgbClr val="C6B299"/>
            </a:solidFill>
            <a:prstDash val="solid"/>
          </a:ln>
        </p:spPr>
      </p:sp>
      <p:sp>
        <p:nvSpPr>
          <p:cNvPr id="8" name="Text 6"/>
          <p:cNvSpPr/>
          <p:nvPr/>
        </p:nvSpPr>
        <p:spPr>
          <a:xfrm>
            <a:off x="1005840" y="2514600"/>
            <a:ext cx="2743200" cy="320040"/>
          </a:xfrm>
          <a:prstGeom prst="rect">
            <a:avLst/>
          </a:prstGeom>
          <a:noFill/>
          <a:ln/>
        </p:spPr>
        <p:txBody>
          <a:bodyPr wrap="square" lIns="0" tIns="0" rIns="0" bIns="0" rtlCol="0" anchor="ctr"/>
          <a:lstStyle/>
          <a:p>
            <a:pPr algn="ctr" indent="0" marL="0">
              <a:buNone/>
            </a:pPr>
            <a:r>
              <a:rPr lang="en-US" sz="2200" b="1" dirty="0">
                <a:solidFill>
                  <a:srgbClr val="425728"/>
                </a:solidFill>
              </a:rPr>
              <a:t>Fase 1</a:t>
            </a:r>
            <a:endParaRPr lang="en-US" sz="2200" dirty="0"/>
          </a:p>
        </p:txBody>
      </p:sp>
      <p:sp>
        <p:nvSpPr>
          <p:cNvPr id="9" name="Text 7"/>
          <p:cNvSpPr/>
          <p:nvPr/>
        </p:nvSpPr>
        <p:spPr>
          <a:xfrm>
            <a:off x="1097280" y="3063240"/>
            <a:ext cx="2560320" cy="914400"/>
          </a:xfrm>
          <a:prstGeom prst="rect">
            <a:avLst/>
          </a:prstGeom>
          <a:noFill/>
          <a:ln/>
        </p:spPr>
        <p:txBody>
          <a:bodyPr wrap="square" lIns="254" tIns="254" rIns="254" bIns="254" rtlCol="0" anchor="ctr">
            <a:normAutofit/>
          </a:bodyPr>
          <a:lstStyle/>
          <a:p>
            <a:pPr algn="ctr" indent="0" marL="0">
              <a:buNone/>
            </a:pPr>
            <a:r>
              <a:rPr lang="en-US" sz="1400" dirty="0">
                <a:solidFill>
                  <a:srgbClr val="23231F"/>
                </a:solidFill>
              </a:rPr>
              <a:t>Guía 1 + ERS</a:t>
            </a:r>
            <a:endParaRPr lang="en-US" sz="1400" dirty="0"/>
          </a:p>
          <a:p>
            <a:pPr algn="ctr" indent="0" marL="0">
              <a:buNone/>
            </a:pPr>
            <a:r>
              <a:rPr lang="en-US" sz="1400" dirty="0">
                <a:solidFill>
                  <a:srgbClr val="23231F"/>
                </a:solidFill>
              </a:rPr>
              <a:t>PPT de visión</a:t>
            </a:r>
            <a:endParaRPr lang="en-US" sz="1400" dirty="0"/>
          </a:p>
          <a:p>
            <a:pPr algn="ctr" indent="0" marL="0">
              <a:buNone/>
            </a:pPr>
            <a:r>
              <a:rPr lang="en-US" sz="1400" dirty="0">
                <a:solidFill>
                  <a:srgbClr val="23231F"/>
                </a:solidFill>
              </a:rPr>
              <a:t>Roles y firmas</a:t>
            </a:r>
            <a:endParaRPr lang="en-US" sz="1400" dirty="0"/>
          </a:p>
        </p:txBody>
      </p:sp>
      <p:sp>
        <p:nvSpPr>
          <p:cNvPr id="10" name="Shape 8"/>
          <p:cNvSpPr/>
          <p:nvPr/>
        </p:nvSpPr>
        <p:spPr>
          <a:xfrm>
            <a:off x="4526280" y="2194560"/>
            <a:ext cx="3108960" cy="2377440"/>
          </a:xfrm>
          <a:prstGeom prst="roundRect">
            <a:avLst>
              <a:gd name="adj" fmla="val 5385"/>
            </a:avLst>
          </a:prstGeom>
          <a:solidFill>
            <a:srgbClr val="FFFDF8"/>
          </a:solidFill>
          <a:ln w="12700">
            <a:solidFill>
              <a:srgbClr val="D9CDBE"/>
            </a:solidFill>
            <a:prstDash val="solid"/>
          </a:ln>
        </p:spPr>
      </p:sp>
      <p:sp>
        <p:nvSpPr>
          <p:cNvPr id="11" name="Text 9"/>
          <p:cNvSpPr/>
          <p:nvPr/>
        </p:nvSpPr>
        <p:spPr>
          <a:xfrm>
            <a:off x="4709160" y="2514600"/>
            <a:ext cx="2743200" cy="320040"/>
          </a:xfrm>
          <a:prstGeom prst="rect">
            <a:avLst/>
          </a:prstGeom>
          <a:noFill/>
          <a:ln/>
        </p:spPr>
        <p:txBody>
          <a:bodyPr wrap="square" lIns="0" tIns="0" rIns="0" bIns="0" rtlCol="0" anchor="ctr"/>
          <a:lstStyle/>
          <a:p>
            <a:pPr algn="ctr" indent="0" marL="0">
              <a:buNone/>
            </a:pPr>
            <a:r>
              <a:rPr lang="en-US" sz="2200" b="1" dirty="0">
                <a:solidFill>
                  <a:srgbClr val="425728"/>
                </a:solidFill>
              </a:rPr>
              <a:t>Fase 2</a:t>
            </a:r>
            <a:endParaRPr lang="en-US" sz="2200" dirty="0"/>
          </a:p>
        </p:txBody>
      </p:sp>
      <p:sp>
        <p:nvSpPr>
          <p:cNvPr id="12" name="Text 10"/>
          <p:cNvSpPr/>
          <p:nvPr/>
        </p:nvSpPr>
        <p:spPr>
          <a:xfrm>
            <a:off x="4800600" y="3063240"/>
            <a:ext cx="2560320" cy="914400"/>
          </a:xfrm>
          <a:prstGeom prst="rect">
            <a:avLst/>
          </a:prstGeom>
          <a:noFill/>
          <a:ln/>
        </p:spPr>
        <p:txBody>
          <a:bodyPr wrap="square" lIns="254" tIns="254" rIns="254" bIns="254" rtlCol="0" anchor="ctr">
            <a:normAutofit/>
          </a:bodyPr>
          <a:lstStyle/>
          <a:p>
            <a:pPr algn="ctr" indent="0" marL="0">
              <a:buNone/>
            </a:pPr>
            <a:r>
              <a:rPr lang="en-US" sz="1400" dirty="0">
                <a:solidFill>
                  <a:srgbClr val="23231F"/>
                </a:solidFill>
              </a:rPr>
              <a:t>Aplicación web + desktop</a:t>
            </a:r>
            <a:endParaRPr lang="en-US" sz="1400" dirty="0"/>
          </a:p>
          <a:p>
            <a:pPr algn="ctr" indent="0" marL="0">
              <a:buNone/>
            </a:pPr>
            <a:r>
              <a:rPr lang="en-US" sz="1400" dirty="0">
                <a:solidFill>
                  <a:srgbClr val="23231F"/>
                </a:solidFill>
              </a:rPr>
              <a:t>Base de datos</a:t>
            </a:r>
            <a:endParaRPr lang="en-US" sz="1400" dirty="0"/>
          </a:p>
          <a:p>
            <a:pPr algn="ctr" indent="0" marL="0">
              <a:buNone/>
            </a:pPr>
            <a:r>
              <a:rPr lang="en-US" sz="1400" dirty="0">
                <a:solidFill>
                  <a:srgbClr val="23231F"/>
                </a:solidFill>
              </a:rPr>
              <a:t>Arquitectura y documentación</a:t>
            </a:r>
            <a:endParaRPr lang="en-US" sz="1400" dirty="0"/>
          </a:p>
        </p:txBody>
      </p:sp>
      <p:sp>
        <p:nvSpPr>
          <p:cNvPr id="13" name="Shape 11"/>
          <p:cNvSpPr/>
          <p:nvPr/>
        </p:nvSpPr>
        <p:spPr>
          <a:xfrm>
            <a:off x="8229600" y="2194560"/>
            <a:ext cx="3108960" cy="2377440"/>
          </a:xfrm>
          <a:prstGeom prst="roundRect">
            <a:avLst>
              <a:gd name="adj" fmla="val 5385"/>
            </a:avLst>
          </a:prstGeom>
          <a:solidFill>
            <a:srgbClr val="F1D1C1"/>
          </a:solidFill>
          <a:ln w="12700">
            <a:solidFill>
              <a:srgbClr val="C6B299"/>
            </a:solidFill>
            <a:prstDash val="solid"/>
          </a:ln>
        </p:spPr>
      </p:sp>
      <p:sp>
        <p:nvSpPr>
          <p:cNvPr id="14" name="Text 12"/>
          <p:cNvSpPr/>
          <p:nvPr/>
        </p:nvSpPr>
        <p:spPr>
          <a:xfrm>
            <a:off x="8412480" y="2514600"/>
            <a:ext cx="2743200" cy="320040"/>
          </a:xfrm>
          <a:prstGeom prst="rect">
            <a:avLst/>
          </a:prstGeom>
          <a:noFill/>
          <a:ln/>
        </p:spPr>
        <p:txBody>
          <a:bodyPr wrap="square" lIns="0" tIns="0" rIns="0" bIns="0" rtlCol="0" anchor="ctr"/>
          <a:lstStyle/>
          <a:p>
            <a:pPr algn="ctr" indent="0" marL="0">
              <a:buNone/>
            </a:pPr>
            <a:r>
              <a:rPr lang="en-US" sz="2200" b="1" dirty="0">
                <a:solidFill>
                  <a:srgbClr val="C56C49"/>
                </a:solidFill>
              </a:rPr>
              <a:t>Fase 3</a:t>
            </a:r>
            <a:endParaRPr lang="en-US" sz="2200" dirty="0"/>
          </a:p>
        </p:txBody>
      </p:sp>
      <p:sp>
        <p:nvSpPr>
          <p:cNvPr id="15" name="Text 13"/>
          <p:cNvSpPr/>
          <p:nvPr/>
        </p:nvSpPr>
        <p:spPr>
          <a:xfrm>
            <a:off x="8503920" y="3063240"/>
            <a:ext cx="2560320" cy="914400"/>
          </a:xfrm>
          <a:prstGeom prst="rect">
            <a:avLst/>
          </a:prstGeom>
          <a:noFill/>
          <a:ln/>
        </p:spPr>
        <p:txBody>
          <a:bodyPr wrap="square" lIns="254" tIns="254" rIns="254" bIns="254" rtlCol="0" anchor="ctr">
            <a:normAutofit/>
          </a:bodyPr>
          <a:lstStyle/>
          <a:p>
            <a:pPr algn="ctr" indent="0" marL="0">
              <a:buNone/>
            </a:pPr>
            <a:r>
              <a:rPr lang="en-US" sz="1400" dirty="0">
                <a:solidFill>
                  <a:srgbClr val="23231F"/>
                </a:solidFill>
              </a:rPr>
              <a:t>Pruebas en local</a:t>
            </a:r>
            <a:endParaRPr lang="en-US" sz="1400" dirty="0"/>
          </a:p>
          <a:p>
            <a:pPr algn="ctr" indent="0" marL="0">
              <a:buNone/>
            </a:pPr>
            <a:r>
              <a:rPr lang="en-US" sz="1400" dirty="0">
                <a:solidFill>
                  <a:srgbClr val="23231F"/>
                </a:solidFill>
              </a:rPr>
              <a:t>Manuales</a:t>
            </a:r>
            <a:endParaRPr lang="en-US" sz="1400" dirty="0"/>
          </a:p>
          <a:p>
            <a:pPr algn="ctr" indent="0" marL="0">
              <a:buNone/>
            </a:pPr>
            <a:r>
              <a:rPr lang="en-US" sz="1400" dirty="0">
                <a:solidFill>
                  <a:srgbClr val="23231F"/>
                </a:solidFill>
              </a:rPr>
              <a:t>Presentación final y defensa</a:t>
            </a:r>
            <a:endParaRPr lang="en-US" sz="1400" dirty="0"/>
          </a:p>
        </p:txBody>
      </p:sp>
      <p:sp>
        <p:nvSpPr>
          <p:cNvPr id="16" name="Shape 14"/>
          <p:cNvSpPr/>
          <p:nvPr/>
        </p:nvSpPr>
        <p:spPr>
          <a:xfrm>
            <a:off x="1051560" y="5166360"/>
            <a:ext cx="10058400" cy="685800"/>
          </a:xfrm>
          <a:prstGeom prst="roundRect">
            <a:avLst>
              <a:gd name="adj" fmla="val 20000"/>
            </a:avLst>
          </a:prstGeom>
          <a:solidFill>
            <a:srgbClr val="425728"/>
          </a:solidFill>
          <a:ln w="12700">
            <a:solidFill>
              <a:srgbClr val="425728"/>
            </a:solidFill>
            <a:prstDash val="solid"/>
          </a:ln>
        </p:spPr>
      </p:sp>
      <p:sp>
        <p:nvSpPr>
          <p:cNvPr id="17" name="Text 15"/>
          <p:cNvSpPr/>
          <p:nvPr/>
        </p:nvSpPr>
        <p:spPr>
          <a:xfrm>
            <a:off x="1234440" y="5376672"/>
            <a:ext cx="9692640" cy="256032"/>
          </a:xfrm>
          <a:prstGeom prst="rect">
            <a:avLst/>
          </a:prstGeom>
          <a:noFill/>
          <a:ln/>
        </p:spPr>
        <p:txBody>
          <a:bodyPr wrap="square" lIns="0" tIns="0" rIns="0" bIns="0" rtlCol="0" anchor="ctr"/>
          <a:lstStyle/>
          <a:p>
            <a:pPr algn="ctr" indent="0" marL="0">
              <a:buNone/>
            </a:pPr>
            <a:r>
              <a:rPr lang="en-US" sz="1600" b="1" dirty="0">
                <a:solidFill>
                  <a:srgbClr val="FFFFFF"/>
                </a:solidFill>
              </a:rPr>
              <a:t>PuntoSync moderniza La200 sin cambiar su esencia: venta local, retiro presencial y control simple.</a:t>
            </a:r>
            <a:endParaRPr lang="en-US" sz="1600" dirty="0"/>
          </a:p>
        </p:txBody>
      </p:sp>
      <p:sp>
        <p:nvSpPr>
          <p:cNvPr id="25" name="Slide Number Placeholder 0"/>
          <p:cNvSpPr>
            <a:spLocks noGrp="1"/>
          </p:cNvSpPr>
          <p:nvPr>
            <p:ph type="sldNum" sz="quarter" idx="4294967295"/>
          </p:nvPr>
        </p:nvSpPr>
        <p:spPr>
          <a:xfrm>
            <a:off x="11475720" y="651967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625A"/>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La200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PuntoSync — Sistema de gestión, venta y retiro para La200</dc:title>
  <dc:subject>Presentación proyecto APT122</dc:subject>
  <dc:creator>Equipo PuntoSync</dc:creator>
  <cp:lastModifiedBy>Equipo PuntoSync</cp:lastModifiedBy>
  <cp:revision>1</cp:revision>
  <dcterms:created xsi:type="dcterms:W3CDTF">2026-09-03T04:33:08Z</dcterms:created>
  <dcterms:modified xsi:type="dcterms:W3CDTF">2026-09-03T04:33:08Z</dcterms:modified>
</cp:coreProperties>
</file>