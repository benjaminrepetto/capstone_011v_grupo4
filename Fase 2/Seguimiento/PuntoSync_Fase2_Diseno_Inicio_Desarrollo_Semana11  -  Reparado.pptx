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70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D8325-A5BC-A4C4-CFC2-08E6CC3F8821}" v="6" dt="2026-10-24T01:44:15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quin Diaz" userId="31da587a2c9016a6" providerId="Windows Live" clId="Web-{577D8325-A5BC-A4C4-CFC2-08E6CC3F8821}"/>
    <pc:docChg chg="modSld">
      <pc:chgData name="Joaquin Diaz" userId="31da587a2c9016a6" providerId="Windows Live" clId="Web-{577D8325-A5BC-A4C4-CFC2-08E6CC3F8821}" dt="2026-10-24T01:44:15.428" v="4" actId="1076"/>
      <pc:docMkLst>
        <pc:docMk/>
      </pc:docMkLst>
      <pc:sldChg chg="addSp modSp">
        <pc:chgData name="Joaquin Diaz" userId="31da587a2c9016a6" providerId="Windows Live" clId="Web-{577D8325-A5BC-A4C4-CFC2-08E6CC3F8821}" dt="2026-10-24T01:44:15.428" v="4" actId="1076"/>
        <pc:sldMkLst>
          <pc:docMk/>
          <pc:sldMk cId="0" sldId="270"/>
        </pc:sldMkLst>
        <pc:picChg chg="add mod">
          <ac:chgData name="Joaquin Diaz" userId="31da587a2c9016a6" providerId="Windows Live" clId="Web-{577D8325-A5BC-A4C4-CFC2-08E6CC3F8821}" dt="2026-10-24T01:44:15.428" v="4" actId="1076"/>
          <ac:picMkLst>
            <pc:docMk/>
            <pc:sldMk cId="0" sldId="270"/>
            <ac:picMk id="4" creationId="{3981D44A-3651-F6C9-1244-279FAC5E0A80}"/>
          </ac:picMkLst>
        </pc:picChg>
        <pc:picChg chg="mod">
          <ac:chgData name="Joaquin Diaz" userId="31da587a2c9016a6" providerId="Windows Live" clId="Web-{577D8325-A5BC-A4C4-CFC2-08E6CC3F8821}" dt="2026-10-24T01:44:09.443" v="0" actId="1076"/>
          <ac:picMkLst>
            <pc:docMk/>
            <pc:sldMk cId="0" sldId="270"/>
            <ac:picMk id="21" creationId="{6E79062A-5289-53E4-B418-09C615F9FD3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DCAAC4-CE8F-4735-AF3E-932F1DA253B1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02653-BD5B-47FE-A5B6-C5DE8AE547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615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17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solidFill>
              <a:srgbClr val="F8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235B46"/>
                </a:solidFill>
                <a:latin typeface="Aptos"/>
              </a:rPr>
              <a:t>PuntoSync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5760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222629"/>
                </a:solidFill>
                <a:latin typeface="Aptos"/>
              </a:rPr>
              <a:t>Fase 2 · Diseño e inicio de desarrollo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5303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La200 • Metodología Waterfall • Semana 11 de 17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713232"/>
            <a:ext cx="5349240" cy="4983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4892040"/>
            <a:ext cx="1737360" cy="438912"/>
          </a:xfrm>
          <a:prstGeom prst="roundRect">
            <a:avLst/>
          </a:prstGeom>
          <a:solidFill>
            <a:srgbClr val="EEF4F1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974336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35B46"/>
                </a:solidFill>
                <a:latin typeface="Aptos"/>
              </a:rPr>
              <a:t>Arquitectura 4+1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8" y="4892040"/>
            <a:ext cx="1737360" cy="438912"/>
          </a:xfrm>
          <a:prstGeom prst="roundRect">
            <a:avLst/>
          </a:prstGeom>
          <a:solidFill>
            <a:srgbClr val="EEF4F1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78608" y="4974336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F7ABF"/>
                </a:solidFill>
                <a:latin typeface="Aptos"/>
              </a:rPr>
              <a:t>Casos de uso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4892040"/>
            <a:ext cx="1737360" cy="438912"/>
          </a:xfrm>
          <a:prstGeom prst="roundRect">
            <a:avLst/>
          </a:prstGeom>
          <a:solidFill>
            <a:srgbClr val="EEF4F1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4974336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97F2E"/>
                </a:solidFill>
                <a:latin typeface="Aptos"/>
              </a:rPr>
              <a:t>Modelo E-R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513831"/>
            <a:ext cx="1737360" cy="438912"/>
          </a:xfrm>
          <a:prstGeom prst="roundRect">
            <a:avLst/>
          </a:prstGeom>
          <a:solidFill>
            <a:srgbClr val="EEF4F1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596127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467D65"/>
                </a:solidFill>
                <a:latin typeface="Aptos"/>
              </a:rPr>
              <a:t>Prototipo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32888" y="5513831"/>
            <a:ext cx="1737360" cy="438912"/>
          </a:xfrm>
          <a:prstGeom prst="roundRect">
            <a:avLst/>
          </a:prstGeom>
          <a:solidFill>
            <a:srgbClr val="EEF4F1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78608" y="5596127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F7ABF"/>
                </a:solidFill>
                <a:latin typeface="Aptos"/>
              </a:rPr>
              <a:t>Desarrollo + GitHub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5513831"/>
            <a:ext cx="1737360" cy="438912"/>
          </a:xfrm>
          <a:prstGeom prst="roundRect">
            <a:avLst/>
          </a:prstGeom>
          <a:solidFill>
            <a:srgbClr val="EEF4F1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17136" y="5596127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97F2E"/>
                </a:solidFill>
                <a:latin typeface="Aptos"/>
              </a:rPr>
              <a:t>Roadmap + riesgos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Qué se evalúa en la 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Entrega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22629"/>
                </a:solidFill>
                <a:latin typeface="Aptos"/>
              </a:rPr>
              <a:t>La entrega se concentra en cerrar diseño y demostrar que el desarrollo ya está en marcha.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00200"/>
            <a:ext cx="502920" cy="502920"/>
          </a:xfrm>
          <a:prstGeom prst="round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58191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629"/>
                </a:solidFill>
                <a:latin typeface="Aptos"/>
              </a:rPr>
              <a:t>Arquitectura 4+1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72768"/>
            <a:ext cx="79552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Vistas actualizadas y coherentes con el sistema.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441448"/>
            <a:ext cx="502920" cy="502920"/>
          </a:xfrm>
          <a:prstGeom prst="roundRect">
            <a:avLst/>
          </a:prstGeom>
          <a:solidFill>
            <a:srgbClr val="2F7ABF"/>
          </a:solidFill>
          <a:ln>
            <a:solidFill>
              <a:srgbClr val="2F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5146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42316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629"/>
                </a:solidFill>
                <a:latin typeface="Aptos"/>
              </a:rPr>
              <a:t>Casos de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14016"/>
            <a:ext cx="79552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Énfasis en actores, flujos y trazabilidad hacia QA.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82696"/>
            <a:ext cx="502920" cy="502920"/>
          </a:xfrm>
          <a:prstGeom prst="roundRect">
            <a:avLst/>
          </a:prstGeom>
          <a:solidFill>
            <a:srgbClr val="D97F2E"/>
          </a:solidFill>
          <a:ln>
            <a:solidFill>
              <a:srgbClr val="D97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355848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26440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629"/>
                </a:solidFill>
                <a:latin typeface="Aptos"/>
              </a:rPr>
              <a:t>Modelo E-R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55264"/>
            <a:ext cx="79552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Diseño relacional + integridad + evolución de SQLite a PostgreSQL.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4123944"/>
            <a:ext cx="502920" cy="502920"/>
          </a:xfrm>
          <a:prstGeom prst="roundRect">
            <a:avLst/>
          </a:prstGeom>
          <a:solidFill>
            <a:srgbClr val="467D65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4197096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10565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629"/>
                </a:solidFill>
                <a:latin typeface="Aptos"/>
              </a:rPr>
              <a:t>Prototipo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096511"/>
            <a:ext cx="79552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Evidencia funcional de web, POS y escritorio.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965192"/>
            <a:ext cx="502920" cy="502920"/>
          </a:xfrm>
          <a:prstGeom prst="roundRect">
            <a:avLst/>
          </a:prstGeom>
          <a:solidFill>
            <a:srgbClr val="2F7ABF"/>
          </a:solidFill>
          <a:ln>
            <a:solidFill>
              <a:srgbClr val="2F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5038344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946904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629"/>
                </a:solidFill>
                <a:latin typeface="Aptos"/>
              </a:rPr>
              <a:t>Desarrollo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937759"/>
            <a:ext cx="79552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Código, GitHub, módulos implementados y demo funcional.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Metodología y posición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Semana 11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5B46"/>
                </a:solidFill>
                <a:latin typeface="Aptos"/>
              </a:rPr>
              <a:t>Waterfall confirmado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9"/>
                </a:solidFill>
                <a:latin typeface="Aptos"/>
              </a:defRPr>
            </a:pPr>
            <a:r>
              <a:t>Diseño e implementación se solapan porque existe una base funcional previa.</a:t>
            </a:r>
          </a:p>
          <a:p>
            <a:pPr>
              <a:spcAft>
                <a:spcPts val="800"/>
              </a:spcAft>
              <a:defRPr sz="1700">
                <a:solidFill>
                  <a:srgbClr val="222629"/>
                </a:solidFill>
                <a:latin typeface="Aptos"/>
              </a:defRPr>
            </a:pPr>
            <a:r>
              <a:t>La Fase 2 formaliza arquitectura, datos, casos de uso y prototipo, mientras el desarrollo continúa.</a:t>
            </a:r>
          </a:p>
          <a:p>
            <a:pPr>
              <a:spcAft>
                <a:spcPts val="800"/>
              </a:spcAft>
              <a:defRPr sz="1700">
                <a:solidFill>
                  <a:srgbClr val="222629"/>
                </a:solidFill>
                <a:latin typeface="Aptos"/>
              </a:defRPr>
            </a:pPr>
            <a:r>
              <a:t>La producción se diseña ahora; el despliegue definitivo queda para la etapa de implantación.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69080"/>
            <a:ext cx="566928" cy="502920"/>
          </a:xfrm>
          <a:prstGeom prst="roundRect">
            <a:avLst/>
          </a:prstGeom>
          <a:solidFill>
            <a:srgbClr val="E2ECE7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0744" y="4069080"/>
            <a:ext cx="566928" cy="502920"/>
          </a:xfrm>
          <a:prstGeom prst="roundRect">
            <a:avLst/>
          </a:prstGeom>
          <a:solidFill>
            <a:srgbClr val="E2ECE7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0744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4248" y="4069080"/>
            <a:ext cx="566928" cy="502920"/>
          </a:xfrm>
          <a:prstGeom prst="roundRect">
            <a:avLst/>
          </a:prstGeom>
          <a:solidFill>
            <a:srgbClr val="E2ECE7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7752" y="4069080"/>
            <a:ext cx="566928" cy="502920"/>
          </a:xfrm>
          <a:prstGeom prst="roundRect">
            <a:avLst/>
          </a:prstGeom>
          <a:solidFill>
            <a:srgbClr val="E2ECE7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87752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91256" y="4069080"/>
            <a:ext cx="566928" cy="502920"/>
          </a:xfrm>
          <a:prstGeom prst="roundRect">
            <a:avLst/>
          </a:prstGeom>
          <a:solidFill>
            <a:srgbClr val="E2ECE7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91256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4069080"/>
            <a:ext cx="566928" cy="502920"/>
          </a:xfrm>
          <a:prstGeom prst="roundRect">
            <a:avLst/>
          </a:prstGeom>
          <a:solidFill>
            <a:srgbClr val="E2ECE7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94760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8264" y="4069080"/>
            <a:ext cx="566928" cy="502920"/>
          </a:xfrm>
          <a:prstGeom prst="roundRect">
            <a:avLst/>
          </a:prstGeom>
          <a:solidFill>
            <a:srgbClr val="E2ECE7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1768" y="4069080"/>
            <a:ext cx="566928" cy="502920"/>
          </a:xfrm>
          <a:prstGeom prst="roundRect">
            <a:avLst/>
          </a:prstGeom>
          <a:solidFill>
            <a:srgbClr val="E2ECE7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1768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05272" y="4069080"/>
            <a:ext cx="566928" cy="502920"/>
          </a:xfrm>
          <a:prstGeom prst="roundRect">
            <a:avLst/>
          </a:prstGeom>
          <a:solidFill>
            <a:srgbClr val="E2ECE7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05272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4069080"/>
            <a:ext cx="566928" cy="502920"/>
          </a:xfrm>
          <a:prstGeom prst="roundRect">
            <a:avLst/>
          </a:prstGeom>
          <a:solidFill>
            <a:srgbClr val="E2ECE7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08776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4069080"/>
            <a:ext cx="566928" cy="502920"/>
          </a:xfrm>
          <a:prstGeom prst="roundRect">
            <a:avLst/>
          </a:prstGeom>
          <a:solidFill>
            <a:srgbClr val="FFF0BE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5B46"/>
                </a:solidFill>
                <a:latin typeface="Aptos"/>
              </a:rPr>
              <a:t>S11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15784" y="4069080"/>
            <a:ext cx="566928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15784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666666"/>
                </a:solidFill>
                <a:latin typeface="Aptos"/>
              </a:rPr>
              <a:t>S12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9288" y="4069080"/>
            <a:ext cx="566928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19288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666666"/>
                </a:solidFill>
                <a:latin typeface="Aptos"/>
              </a:rPr>
              <a:t>S13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22792" y="4069080"/>
            <a:ext cx="566928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22792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666666"/>
                </a:solidFill>
                <a:latin typeface="Aptos"/>
              </a:rPr>
              <a:t>S14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26296" y="4069080"/>
            <a:ext cx="566928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26296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666666"/>
                </a:solidFill>
                <a:latin typeface="Aptos"/>
              </a:rPr>
              <a:t>S15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0" y="4069080"/>
            <a:ext cx="566928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29800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666666"/>
                </a:solidFill>
                <a:latin typeface="Aptos"/>
              </a:rPr>
              <a:t>S16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33304" y="4069080"/>
            <a:ext cx="566928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33304" y="4178808"/>
            <a:ext cx="566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666666"/>
                </a:solidFill>
                <a:latin typeface="Aptos"/>
              </a:rPr>
              <a:t>S17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80781" y="4037076"/>
            <a:ext cx="54864" cy="2057400"/>
          </a:xfrm>
          <a:prstGeom prst="rect">
            <a:avLst/>
          </a:prstGeom>
          <a:solidFill>
            <a:srgbClr val="D97F2E"/>
          </a:solidFill>
          <a:ln>
            <a:solidFill>
              <a:srgbClr val="D97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5605" y="6163056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97F2E"/>
                </a:solidFill>
                <a:latin typeface="Aptos"/>
              </a:rPr>
              <a:t>HOY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1078992"/>
            <a:ext cx="2286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00800" y="1078992"/>
            <a:ext cx="2286000" cy="82296"/>
          </a:xfrm>
          <a:prstGeom prst="rect">
            <a:avLst/>
          </a:prstGeom>
          <a:solidFill>
            <a:srgbClr val="2F7ABF"/>
          </a:solidFill>
          <a:ln>
            <a:solidFill>
              <a:srgbClr val="2F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65392" y="1243584"/>
            <a:ext cx="19568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ptos"/>
              </a:rPr>
              <a:t>Avance temporal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1609343"/>
            <a:ext cx="19568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F7ABF"/>
                </a:solidFill>
                <a:latin typeface="Aptos"/>
              </a:rPr>
              <a:t>65%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2194560"/>
            <a:ext cx="19568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11 semanas de 17.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0" y="1078992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915400" y="1078992"/>
            <a:ext cx="2514600" cy="82296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79992" y="1243584"/>
            <a:ext cx="21854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ptos"/>
              </a:rPr>
              <a:t>Avance real estimado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9992" y="1609343"/>
            <a:ext cx="21854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35B46"/>
                </a:solidFill>
                <a:latin typeface="Aptos"/>
              </a:rPr>
              <a:t>64%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9992" y="2194560"/>
            <a:ext cx="21854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Ponderación por entregables y fases.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81433" y="3017520"/>
            <a:ext cx="4754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629"/>
                </a:solidFill>
                <a:latin typeface="Aptos"/>
              </a:rPr>
              <a:t>Estado: </a:t>
            </a:r>
            <a:r>
              <a:rPr sz="1400" b="0" err="1">
                <a:solidFill>
                  <a:srgbClr val="222629"/>
                </a:solidFill>
                <a:latin typeface="Aptos"/>
              </a:rPr>
              <a:t>prácticamente</a:t>
            </a:r>
            <a:r>
              <a:rPr sz="1400" b="0">
                <a:solidFill>
                  <a:srgbClr val="222629"/>
                </a:solidFill>
                <a:latin typeface="Aptos"/>
              </a:rPr>
              <a:t> </a:t>
            </a:r>
            <a:r>
              <a:rPr sz="1400" b="0" err="1">
                <a:solidFill>
                  <a:srgbClr val="222629"/>
                </a:solidFill>
                <a:latin typeface="Aptos"/>
              </a:rPr>
              <a:t>en</a:t>
            </a:r>
            <a:r>
              <a:rPr sz="1400" b="0">
                <a:solidFill>
                  <a:srgbClr val="222629"/>
                </a:solidFill>
                <a:latin typeface="Aptos"/>
              </a:rPr>
              <a:t> </a:t>
            </a:r>
            <a:r>
              <a:rPr sz="1400" b="0" err="1">
                <a:solidFill>
                  <a:srgbClr val="222629"/>
                </a:solidFill>
                <a:latin typeface="Aptos"/>
              </a:rPr>
              <a:t>línea</a:t>
            </a:r>
            <a:r>
              <a:rPr sz="1400" b="0">
                <a:solidFill>
                  <a:srgbClr val="222629"/>
                </a:solidFill>
                <a:latin typeface="Aptos"/>
              </a:rPr>
              <a:t> con el </a:t>
            </a:r>
            <a:r>
              <a:rPr sz="1400" b="0" err="1">
                <a:solidFill>
                  <a:srgbClr val="222629"/>
                </a:solidFill>
                <a:latin typeface="Aptos"/>
              </a:rPr>
              <a:t>calendario</a:t>
            </a:r>
            <a:r>
              <a:rPr sz="1400" b="0">
                <a:solidFill>
                  <a:srgbClr val="222629"/>
                </a:solidFill>
                <a:latin typeface="Aptos"/>
              </a:rPr>
              <a:t>. La </a:t>
            </a:r>
            <a:r>
              <a:rPr sz="1400" b="0" err="1">
                <a:solidFill>
                  <a:srgbClr val="222629"/>
                </a:solidFill>
                <a:latin typeface="Aptos"/>
              </a:rPr>
              <a:t>desviación</a:t>
            </a:r>
            <a:r>
              <a:rPr sz="1400" b="0">
                <a:solidFill>
                  <a:srgbClr val="222629"/>
                </a:solidFill>
                <a:latin typeface="Aptos"/>
              </a:rPr>
              <a:t> principal </a:t>
            </a:r>
            <a:r>
              <a:rPr sz="1400" b="0" err="1">
                <a:solidFill>
                  <a:srgbClr val="222629"/>
                </a:solidFill>
                <a:latin typeface="Aptos"/>
              </a:rPr>
              <a:t>sigue</a:t>
            </a:r>
            <a:r>
              <a:rPr sz="1400" b="0">
                <a:solidFill>
                  <a:srgbClr val="222629"/>
                </a:solidFill>
                <a:latin typeface="Aptos"/>
              </a:rPr>
              <a:t> </a:t>
            </a:r>
            <a:r>
              <a:rPr sz="1400" b="0" err="1">
                <a:solidFill>
                  <a:srgbClr val="222629"/>
                </a:solidFill>
                <a:latin typeface="Aptos"/>
              </a:rPr>
              <a:t>en</a:t>
            </a:r>
            <a:r>
              <a:rPr sz="1400" b="0">
                <a:solidFill>
                  <a:srgbClr val="222629"/>
                </a:solidFill>
                <a:latin typeface="Aptos"/>
              </a:rPr>
              <a:t> </a:t>
            </a:r>
            <a:r>
              <a:rPr sz="1400" b="0" err="1">
                <a:solidFill>
                  <a:srgbClr val="222629"/>
                </a:solidFill>
                <a:latin typeface="Aptos"/>
              </a:rPr>
              <a:t>evidencias</a:t>
            </a:r>
            <a:r>
              <a:rPr sz="1400" b="0">
                <a:solidFill>
                  <a:srgbClr val="222629"/>
                </a:solidFill>
                <a:latin typeface="Aptos"/>
              </a:rPr>
              <a:t>/GitHub y </a:t>
            </a:r>
            <a:r>
              <a:rPr sz="1400" b="0" err="1">
                <a:solidFill>
                  <a:srgbClr val="222629"/>
                </a:solidFill>
                <a:latin typeface="Aptos"/>
              </a:rPr>
              <a:t>cierre</a:t>
            </a:r>
            <a:r>
              <a:rPr sz="1400" b="0">
                <a:solidFill>
                  <a:srgbClr val="222629"/>
                </a:solidFill>
                <a:latin typeface="Aptos"/>
              </a:rPr>
              <a:t> de </a:t>
            </a:r>
            <a:r>
              <a:rPr sz="1400" b="0" err="1">
                <a:solidFill>
                  <a:srgbClr val="222629"/>
                </a:solidFill>
                <a:latin typeface="Aptos"/>
              </a:rPr>
              <a:t>accesibilidad</a:t>
            </a:r>
            <a:r>
              <a:rPr sz="1400" b="0">
                <a:solidFill>
                  <a:srgbClr val="222629"/>
                </a:solidFill>
                <a:latin typeface="Aptos"/>
              </a:rPr>
              <a:t>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Arquitectura 4+1 · vista ejecutiva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Diseño v5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22629"/>
                </a:solidFill>
                <a:latin typeface="Aptos"/>
              </a:rPr>
              <a:t>Las cinco vistas deben contar la misma solución desde perspectivas complementarias.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3337560" cy="109728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5B46"/>
                </a:solidFill>
                <a:latin typeface="Aptos"/>
              </a:rPr>
              <a:t>Vista lógica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9"/>
                </a:solidFill>
                <a:latin typeface="Aptos"/>
              </a:rPr>
              <a:t>Componentes, capas y fuente única de verdad.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3337560" cy="109728"/>
          </a:xfrm>
          <a:prstGeom prst="rect">
            <a:avLst/>
          </a:prstGeom>
          <a:solidFill>
            <a:srgbClr val="2F7ABF"/>
          </a:solidFill>
          <a:ln>
            <a:solidFill>
              <a:srgbClr val="2F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F7ABF"/>
                </a:solidFill>
                <a:latin typeface="Aptos"/>
              </a:rPr>
              <a:t>Vista de procesos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3055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9"/>
                </a:solidFill>
                <a:latin typeface="Aptos"/>
              </a:rPr>
              <a:t>Secuencias Webpay, TUU y recuperación.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3337560" cy="109728"/>
          </a:xfrm>
          <a:prstGeom prst="rect">
            <a:avLst/>
          </a:prstGeom>
          <a:solidFill>
            <a:srgbClr val="D97F2E"/>
          </a:solidFill>
          <a:ln>
            <a:solidFill>
              <a:srgbClr val="D97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73736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D97F2E"/>
                </a:solidFill>
                <a:latin typeface="Aptos"/>
              </a:rPr>
              <a:t>Vista de desarrollo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3055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9"/>
                </a:solidFill>
                <a:latin typeface="Aptos"/>
              </a:rPr>
              <a:t>Frontend, FastAPI, Electron, repositorio y módulos.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7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383279"/>
            <a:ext cx="3337560" cy="109728"/>
          </a:xfrm>
          <a:prstGeom prst="rect">
            <a:avLst/>
          </a:prstGeom>
          <a:solidFill>
            <a:srgbClr val="467D65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611879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467D65"/>
                </a:solidFill>
                <a:latin typeface="Aptos"/>
              </a:rPr>
              <a:t>Vista física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0507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9"/>
                </a:solidFill>
                <a:latin typeface="Aptos"/>
              </a:rPr>
              <a:t>LAN actual + producción Railway.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8327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383279"/>
            <a:ext cx="3337560" cy="109728"/>
          </a:xfrm>
          <a:prstGeom prst="rect">
            <a:avLst/>
          </a:prstGeom>
          <a:solidFill>
            <a:srgbClr val="C44848"/>
          </a:solidFill>
          <a:ln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79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44848"/>
                </a:solidFill>
                <a:latin typeface="Aptos"/>
              </a:rPr>
              <a:t>+1 Escenarios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0507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9"/>
                </a:solidFill>
                <a:latin typeface="Aptos"/>
              </a:rPr>
              <a:t>Casos de uso que validan la arquitectura.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Artefactos de diseño consolidados</a:t>
            </a:r>
            <a:endParaRPr lang="en-US" sz="2300"/>
          </a:p>
        </p:txBody>
      </p:sp>
      <p:sp>
        <p:nvSpPr>
          <p:cNvPr id="9" name="Shape 4"/>
          <p:cNvSpPr/>
          <p:nvPr/>
        </p:nvSpPr>
        <p:spPr>
          <a:xfrm>
            <a:off x="137160" y="1258703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5"/>
          <p:cNvSpPr/>
          <p:nvPr/>
        </p:nvSpPr>
        <p:spPr>
          <a:xfrm>
            <a:off x="274320" y="1368431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45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lógica</a:t>
            </a:r>
            <a:endParaRPr lang="en-US" sz="1600"/>
          </a:p>
        </p:txBody>
      </p:sp>
      <p:sp>
        <p:nvSpPr>
          <p:cNvPr id="11" name="Text 6"/>
          <p:cNvSpPr/>
          <p:nvPr/>
        </p:nvSpPr>
        <p:spPr>
          <a:xfrm>
            <a:off x="274320" y="1779911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629"/>
                </a:solidFill>
              </a:rPr>
              <a:t>Módulos principales y dependencias del sistema.</a:t>
            </a:r>
            <a:endParaRPr lang="en-US" sz="1250"/>
          </a:p>
        </p:txBody>
      </p:sp>
      <p:sp>
        <p:nvSpPr>
          <p:cNvPr id="18" name="Shape 1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4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745A1A9-E13D-CE24-B65D-90C23C871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813816"/>
            <a:ext cx="7786886" cy="54873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Artefactos de diseño consolidados</a:t>
            </a:r>
            <a:endParaRPr lang="en-US" sz="2300"/>
          </a:p>
        </p:txBody>
      </p:sp>
      <p:sp>
        <p:nvSpPr>
          <p:cNvPr id="18" name="Shape 1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4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/>
          </a:p>
        </p:txBody>
      </p:sp>
      <p:pic>
        <p:nvPicPr>
          <p:cNvPr id="21" name="Image 1" descr="/mnt/data/week9_extract/image3.png">
            <a:extLst>
              <a:ext uri="{FF2B5EF4-FFF2-40B4-BE49-F238E27FC236}">
                <a16:creationId xmlns:a16="http://schemas.microsoft.com/office/drawing/2014/main" id="{6E79062A-5289-53E4-B418-09C615F9F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14" y="878961"/>
            <a:ext cx="8066638" cy="4078224"/>
          </a:xfrm>
          <a:prstGeom prst="rect">
            <a:avLst/>
          </a:prstGeom>
        </p:spPr>
      </p:pic>
      <p:sp>
        <p:nvSpPr>
          <p:cNvPr id="23" name="Shape 7">
            <a:extLst>
              <a:ext uri="{FF2B5EF4-FFF2-40B4-BE49-F238E27FC236}">
                <a16:creationId xmlns:a16="http://schemas.microsoft.com/office/drawing/2014/main" id="{925C910D-7920-1121-8614-0C422C55C99B}"/>
              </a:ext>
            </a:extLst>
          </p:cNvPr>
          <p:cNvSpPr/>
          <p:nvPr/>
        </p:nvSpPr>
        <p:spPr>
          <a:xfrm>
            <a:off x="4163004" y="5078089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9B6504DD-93CF-A286-F6BA-4353242CFB1D}"/>
              </a:ext>
            </a:extLst>
          </p:cNvPr>
          <p:cNvSpPr/>
          <p:nvPr/>
        </p:nvSpPr>
        <p:spPr>
          <a:xfrm>
            <a:off x="4300164" y="5187817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7E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física</a:t>
            </a:r>
            <a:endParaRPr lang="en-US" sz="160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57E19E3A-8DEE-12FA-F671-A717D6351137}"/>
              </a:ext>
            </a:extLst>
          </p:cNvPr>
          <p:cNvSpPr/>
          <p:nvPr/>
        </p:nvSpPr>
        <p:spPr>
          <a:xfrm>
            <a:off x="4300164" y="5599297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629"/>
                </a:solidFill>
              </a:rPr>
              <a:t>Dispositivos, infraestructura y servicios externos.</a:t>
            </a:r>
            <a:endParaRPr lang="en-US" sz="125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3981D44A-3651-F6C9-1244-279FAC5E0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9897" y="1545273"/>
            <a:ext cx="1985645" cy="3046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Casos de uso · énfasis de la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Trazabilidad funcional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7552"/>
            <a:ext cx="6858000" cy="5074920"/>
          </a:xfrm>
          <a:prstGeom prst="roundRect">
            <a:avLst/>
          </a:prstGeom>
          <a:solidFill>
            <a:srgbClr val="F9FBFA"/>
          </a:solidFill>
          <a:ln w="22860">
            <a:solidFill>
              <a:srgbClr val="467D6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4972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35B46"/>
                </a:solidFill>
                <a:latin typeface="Aptos"/>
              </a:rPr>
              <a:t>INSERTAR: Diagrama UML de Casos de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98164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ptos"/>
              </a:rPr>
              <a:t>Cliente · Trabajador · Administrador · Webpay · TUU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0515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051560"/>
            <a:ext cx="1828800" cy="82296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9831" y="1216151"/>
            <a:ext cx="14996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ptos"/>
              </a:rPr>
              <a:t>Casos principales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1581912"/>
            <a:ext cx="14996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35B46"/>
                </a:solidFill>
                <a:latin typeface="Aptos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2167128"/>
            <a:ext cx="1499616" cy="1737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Procesos troncales del sistema.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051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46920" y="1051560"/>
            <a:ext cx="1965960" cy="82296"/>
          </a:xfrm>
          <a:prstGeom prst="rect">
            <a:avLst/>
          </a:prstGeom>
          <a:solidFill>
            <a:srgbClr val="2F7ABF"/>
          </a:solidFill>
          <a:ln>
            <a:solidFill>
              <a:srgbClr val="2F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11512" y="1216151"/>
            <a:ext cx="16367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ptos"/>
              </a:rPr>
              <a:t>Subcasos / variantes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1512" y="1581912"/>
            <a:ext cx="163677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F7ABF"/>
                </a:solidFill>
                <a:latin typeface="Aptos"/>
              </a:rPr>
              <a:t>60+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1512" y="2167128"/>
            <a:ext cx="1636776" cy="1737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Errores, permisos y flujos alternos.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697480"/>
            <a:ext cx="3977639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2697480"/>
            <a:ext cx="3977639" cy="82296"/>
          </a:xfrm>
          <a:prstGeom prst="rect">
            <a:avLst/>
          </a:prstGeom>
          <a:solidFill>
            <a:srgbClr val="D97F2E"/>
          </a:solidFill>
          <a:ln>
            <a:solidFill>
              <a:srgbClr val="D97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99831" y="2862072"/>
            <a:ext cx="36484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ptos"/>
              </a:rPr>
              <a:t>Escenarios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227832"/>
            <a:ext cx="3648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D97F2E"/>
                </a:solidFill>
                <a:latin typeface="Aptos"/>
              </a:rPr>
              <a:t>100+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3813048"/>
            <a:ext cx="36484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Cobertura derivada sin inflar artificialmente el UML.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462272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5B46"/>
                </a:solidFill>
                <a:latin typeface="Aptos"/>
              </a:rPr>
              <a:t>Mensaje clave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828032"/>
            <a:ext cx="3886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629"/>
                </a:solidFill>
                <a:latin typeface="Aptos"/>
              </a:rPr>
              <a:t>Se mantienen los 20 CU principales y se amplía la cobertura mediante variantes y pruebas trazables.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  <p:pic>
        <p:nvPicPr>
          <p:cNvPr id="28" name="Image 0" descr="/mnt/data/week9_extract/image7.png">
            <a:extLst>
              <a:ext uri="{FF2B5EF4-FFF2-40B4-BE49-F238E27FC236}">
                <a16:creationId xmlns:a16="http://schemas.microsoft.com/office/drawing/2014/main" id="{E6566B56-7737-3464-DEA5-3FD16CCB5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77825"/>
            <a:ext cx="7132320" cy="53279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Modelo E-R y decisión de base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Diseño v5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6949440" cy="5212080"/>
          </a:xfrm>
          <a:prstGeom prst="roundRect">
            <a:avLst/>
          </a:prstGeom>
          <a:solidFill>
            <a:srgbClr val="F9FBFA"/>
          </a:solidFill>
          <a:ln w="22860">
            <a:solidFill>
              <a:srgbClr val="467D6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65836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35B46"/>
                </a:solidFill>
                <a:latin typeface="Aptos"/>
              </a:rPr>
              <a:t>INSERTAR: Modelo Entidad–Relación v5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39312"/>
            <a:ext cx="6492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ptos"/>
              </a:rPr>
              <a:t>12 tablas · PK/FK · reglas ON DELETE · integridad referencial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00584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35B46"/>
                </a:solidFill>
                <a:latin typeface="Aptos"/>
              </a:rPr>
              <a:t>Demostración del 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389888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22629"/>
                </a:solidFill>
                <a:latin typeface="Aptos"/>
              </a:rPr>
              <a:t>SQLite · la200.db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874519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Suficiente para LAN y un solo local. Se mantiene para la presentación.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83464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F7ABF"/>
                </a:solidFill>
                <a:latin typeface="Aptos"/>
              </a:rPr>
              <a:t>Producción decidida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218688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22629"/>
                </a:solidFill>
                <a:latin typeface="Aptos"/>
              </a:rPr>
              <a:t>PostgreSQL gestionado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675887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Cambio mediante DATABASE_URL + asyncpg; plan de migración con Alembic y validación de datos.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828032"/>
            <a:ext cx="3840480" cy="960120"/>
          </a:xfrm>
          <a:prstGeom prst="roundRect">
            <a:avLst/>
          </a:prstGeom>
          <a:solidFill>
            <a:srgbClr val="F9FBFA"/>
          </a:solidFill>
          <a:ln w="22860">
            <a:solidFill>
              <a:srgbClr val="467D6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4988052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35B46"/>
                </a:solidFill>
                <a:latin typeface="Aptos"/>
              </a:rPr>
              <a:t>INSERTAR: Ruta de escalabilidad BD v5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381244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ptos"/>
              </a:rPr>
              <a:t>SQLite → PostgreSQL → migraciones → respaldos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  <p:pic>
        <p:nvPicPr>
          <p:cNvPr id="20" name="Image 2" descr="/mnt/data/week9_extract/image9.png">
            <a:extLst>
              <a:ext uri="{FF2B5EF4-FFF2-40B4-BE49-F238E27FC236}">
                <a16:creationId xmlns:a16="http://schemas.microsoft.com/office/drawing/2014/main" id="{209A20CA-D18D-99DE-EF94-4AF23EA80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7" y="882148"/>
            <a:ext cx="7516903" cy="5550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Prototipo funcional · evidencia de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Web + POS + escritorio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22629"/>
                </a:solidFill>
                <a:latin typeface="Aptos"/>
              </a:rPr>
              <a:t>La Fase 2 debe mostrar producto, no solo documentación.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657600" cy="4251960"/>
          </a:xfrm>
          <a:prstGeom prst="roundRect">
            <a:avLst/>
          </a:prstGeom>
          <a:solidFill>
            <a:srgbClr val="F9FBFA"/>
          </a:solidFill>
          <a:ln w="22860">
            <a:solidFill>
              <a:srgbClr val="467D6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314700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35B46"/>
                </a:solidFill>
                <a:latin typeface="Aptos"/>
              </a:rPr>
              <a:t>INSERTAR: Captura tienda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7891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ptos"/>
              </a:rPr>
              <a:t>Catálogo · búsqueda · pedido · Webpay / pago local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508760"/>
            <a:ext cx="3657600" cy="4251960"/>
          </a:xfrm>
          <a:prstGeom prst="roundRect">
            <a:avLst/>
          </a:prstGeom>
          <a:solidFill>
            <a:srgbClr val="F9FBFA"/>
          </a:solidFill>
          <a:ln w="22860">
            <a:solidFill>
              <a:srgbClr val="467D6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3314700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35B46"/>
                </a:solidFill>
                <a:latin typeface="Aptos"/>
              </a:rPr>
              <a:t>INSERTAR: Captura POS tablet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3707891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ptos"/>
              </a:rPr>
              <a:t>Venta · carrito · efectivo · TUU · pedidos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508760"/>
            <a:ext cx="3657600" cy="4251960"/>
          </a:xfrm>
          <a:prstGeom prst="roundRect">
            <a:avLst/>
          </a:prstGeom>
          <a:solidFill>
            <a:srgbClr val="F9FBFA"/>
          </a:solidFill>
          <a:ln w="22860">
            <a:solidFill>
              <a:srgbClr val="467D6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1" y="3314700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35B46"/>
                </a:solidFill>
                <a:latin typeface="Aptos"/>
              </a:rPr>
              <a:t>INSERTAR: Captura app de escritorio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3707891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ptos"/>
              </a:rPr>
              <a:t>Inventario · usuarios · reportes · caja · 2FA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  <p:pic>
        <p:nvPicPr>
          <p:cNvPr id="18" name="Captura Tienda web para clientes" descr="01_Tienda_web_catalogo.png">
            <a:extLst>
              <a:ext uri="{FF2B5EF4-FFF2-40B4-BE49-F238E27FC236}">
                <a16:creationId xmlns:a16="http://schemas.microsoft.com/office/drawing/2014/main" id="{DA9EDC59-5F2A-7098-EA31-8C5023EF1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08176"/>
            <a:ext cx="3950207" cy="4480560"/>
          </a:xfrm>
          <a:prstGeom prst="rect">
            <a:avLst/>
          </a:prstGeom>
        </p:spPr>
      </p:pic>
      <p:pic>
        <p:nvPicPr>
          <p:cNvPr id="20" name="Image 1" descr="/mnt/data/week9_extract/image6.png">
            <a:extLst>
              <a:ext uri="{FF2B5EF4-FFF2-40B4-BE49-F238E27FC236}">
                <a16:creationId xmlns:a16="http://schemas.microsoft.com/office/drawing/2014/main" id="{65E85A58-4B38-D5AC-B8F7-0243CC0F5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10" b="13510"/>
          <a:stretch/>
        </p:blipFill>
        <p:spPr>
          <a:xfrm>
            <a:off x="4268584" y="1417320"/>
            <a:ext cx="3698891" cy="447141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A428C3F-7166-ED0D-95E4-FAA3F8084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532" y="1417320"/>
            <a:ext cx="395020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Actualización v5 · producción definida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Railway +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6400800" cy="5212080"/>
          </a:xfrm>
          <a:prstGeom prst="roundRect">
            <a:avLst/>
          </a:prstGeom>
          <a:solidFill>
            <a:srgbClr val="F9FBFA"/>
          </a:solidFill>
          <a:ln w="22860">
            <a:solidFill>
              <a:srgbClr val="467D6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6035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35B46"/>
                </a:solidFill>
                <a:latin typeface="Aptos"/>
              </a:rPr>
              <a:t>INSERTAR: Diagrama de despliegue producción Railway v5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ptos"/>
              </a:rPr>
              <a:t>ladoscientos.cl · HTTPS/WSS · Web → proxy → API · 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78992"/>
            <a:ext cx="4343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78040" y="1078992"/>
            <a:ext cx="4343400" cy="82296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42631" y="1243584"/>
            <a:ext cx="40142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ptos"/>
              </a:rPr>
              <a:t>Opción recomendada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2631" y="1609343"/>
            <a:ext cx="4014215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35B46"/>
                </a:solidFill>
                <a:latin typeface="Aptos"/>
              </a:rPr>
              <a:t>US$22,35–29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1" y="2194560"/>
            <a:ext cx="4014215" cy="265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API + web + PostgreSQL administrado en Railway.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2788920"/>
            <a:ext cx="4343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78040" y="2788920"/>
            <a:ext cx="4343400" cy="82296"/>
          </a:xfrm>
          <a:prstGeom prst="rect">
            <a:avLst/>
          </a:prstGeom>
          <a:solidFill>
            <a:srgbClr val="2F7ABF"/>
          </a:solidFill>
          <a:ln>
            <a:solidFill>
              <a:srgbClr val="2F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42631" y="2953512"/>
            <a:ext cx="40142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ptos"/>
              </a:rPr>
              <a:t>Alternativa menor costo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3319272"/>
            <a:ext cx="4014215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F7ABF"/>
                </a:solidFill>
                <a:latin typeface="Aptos"/>
              </a:rPr>
              <a:t>US$12,05–12,50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1" y="3904487"/>
            <a:ext cx="4014215" cy="265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Neon Free para PostgreSQL + Railway Hobby para API/web.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4498848"/>
            <a:ext cx="4343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78040" y="4498848"/>
            <a:ext cx="4343400" cy="82296"/>
          </a:xfrm>
          <a:prstGeom prst="rect">
            <a:avLst/>
          </a:prstGeom>
          <a:solidFill>
            <a:srgbClr val="D97F2E"/>
          </a:solidFill>
          <a:ln>
            <a:solidFill>
              <a:srgbClr val="D97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42631" y="4663440"/>
            <a:ext cx="40142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ptos"/>
              </a:rPr>
              <a:t>Dominio .cl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5029200"/>
            <a:ext cx="4014215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D97F2E"/>
                </a:solidFill>
                <a:latin typeface="Aptos"/>
              </a:rPr>
              <a:t>CLP 9.990 / </a:t>
            </a:r>
            <a:r>
              <a:rPr sz="2800" b="1" err="1">
                <a:solidFill>
                  <a:srgbClr val="D97F2E"/>
                </a:solidFill>
                <a:latin typeface="Aptos"/>
              </a:rPr>
              <a:t>año</a:t>
            </a:r>
            <a:endParaRPr sz="2800" b="1">
              <a:solidFill>
                <a:srgbClr val="D97F2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42631" y="5614416"/>
            <a:ext cx="4014215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ladoscientos.cl · TLS incluido por Railway.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5870448"/>
            <a:ext cx="393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C44848"/>
                </a:solidFill>
                <a:latin typeface="Aptos"/>
              </a:rPr>
              <a:t>Producción decidida, aún no desplegada.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4D77410D-D5E5-3CDC-FFF3-B177DC74B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" y="710114"/>
            <a:ext cx="7081170" cy="57638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Qué está desarrollado y qué falta cerrar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Lectura ejecutiva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5303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35B46"/>
                </a:solidFill>
                <a:latin typeface="Aptos"/>
              </a:rPr>
              <a:t>IMPLEMENTADO / FUNCIONAL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629"/>
                </a:solidFill>
                <a:latin typeface="Aptos"/>
              </a:defRPr>
            </a:pPr>
            <a:r>
              <a:t>Tienda web, catálogo, pedido con retiro y seguimiento.</a:t>
            </a:r>
          </a:p>
          <a:p>
            <a:pPr>
              <a:spcAft>
                <a:spcPts val="800"/>
              </a:spcAft>
              <a:defRPr sz="1500">
                <a:solidFill>
                  <a:srgbClr val="222629"/>
                </a:solidFill>
                <a:latin typeface="Aptos"/>
              </a:defRPr>
            </a:pPr>
            <a:r>
              <a:t>POS con carrito, efectivo, cálculo de vuelto y flujo TUU.</a:t>
            </a:r>
          </a:p>
          <a:p>
            <a:pPr>
              <a:spcAft>
                <a:spcPts val="800"/>
              </a:spcAft>
              <a:defRPr sz="1500">
                <a:solidFill>
                  <a:srgbClr val="222629"/>
                </a:solidFill>
                <a:latin typeface="Aptos"/>
              </a:defRPr>
            </a:pPr>
            <a:r>
              <a:t>Escritorio Electron con administración, roles y 2FA.</a:t>
            </a:r>
          </a:p>
          <a:p>
            <a:pPr>
              <a:spcAft>
                <a:spcPts val="800"/>
              </a:spcAft>
              <a:defRPr sz="1500">
                <a:solidFill>
                  <a:srgbClr val="222629"/>
                </a:solidFill>
                <a:latin typeface="Aptos"/>
              </a:defRPr>
            </a:pPr>
            <a:r>
              <a:t>Backend FastAPI, JWT, WebSocket, migraciones y respaldo.</a:t>
            </a:r>
          </a:p>
          <a:p>
            <a:pPr>
              <a:spcAft>
                <a:spcPts val="800"/>
              </a:spcAft>
              <a:defRPr sz="1500">
                <a:solidFill>
                  <a:srgbClr val="222629"/>
                </a:solidFill>
                <a:latin typeface="Aptos"/>
              </a:defRPr>
            </a:pPr>
            <a:r>
              <a:t>Modelo relacional e integridad referencial sobre SQLite.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914400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D97F2E"/>
                </a:solidFill>
                <a:latin typeface="Aptos"/>
              </a:rPr>
              <a:t>PENDIENTE / EN CIERRE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629"/>
                </a:solidFill>
                <a:latin typeface="Aptos"/>
              </a:defRPr>
            </a:pPr>
            <a:r>
              <a:t>Ordenar y actualizar evidencia de desarrollo en GitHub.</a:t>
            </a:r>
          </a:p>
          <a:p>
            <a:pPr>
              <a:spcAft>
                <a:spcPts val="800"/>
              </a:spcAft>
              <a:defRPr sz="1500">
                <a:solidFill>
                  <a:srgbClr val="222629"/>
                </a:solidFill>
                <a:latin typeface="Aptos"/>
              </a:defRPr>
            </a:pPr>
            <a:r>
              <a:t>Cierre de accesibilidad del POS y validación con usuario.</a:t>
            </a:r>
          </a:p>
          <a:p>
            <a:pPr>
              <a:spcAft>
                <a:spcPts val="800"/>
              </a:spcAft>
              <a:defRPr sz="1500">
                <a:solidFill>
                  <a:srgbClr val="222629"/>
                </a:solidFill>
                <a:latin typeface="Aptos"/>
              </a:defRPr>
            </a:pPr>
            <a:r>
              <a:t>Ejecución formal de 100+ escenarios de prueba.</a:t>
            </a:r>
          </a:p>
          <a:p>
            <a:pPr>
              <a:spcAft>
                <a:spcPts val="800"/>
              </a:spcAft>
              <a:defRPr sz="1500">
                <a:solidFill>
                  <a:srgbClr val="222629"/>
                </a:solidFill>
                <a:latin typeface="Aptos"/>
              </a:defRPr>
            </a:pPr>
            <a:r>
              <a:t>Prueba real de Webpay/TUU de producción.</a:t>
            </a:r>
          </a:p>
          <a:p>
            <a:pPr>
              <a:spcAft>
                <a:spcPts val="800"/>
              </a:spcAft>
              <a:defRPr sz="1500">
                <a:solidFill>
                  <a:srgbClr val="222629"/>
                </a:solidFill>
                <a:latin typeface="Aptos"/>
              </a:defRPr>
            </a:pPr>
            <a:r>
              <a:t>Despliegue Railway + migración PostgreSQL + dominio.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932688"/>
            <a:ext cx="18288" cy="5212080"/>
          </a:xfrm>
          <a:prstGeom prst="rect">
            <a:avLst/>
          </a:prstGeom>
          <a:solidFill>
            <a:srgbClr val="D2DCD7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Roadmap actualizado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Semana 11 de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932688"/>
            <a:ext cx="1033271" cy="411480"/>
          </a:xfrm>
          <a:prstGeom prst="round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0" y="996696"/>
            <a:ext cx="103327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13632" y="932688"/>
            <a:ext cx="4270248" cy="411480"/>
          </a:xfrm>
          <a:prstGeom prst="round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13632" y="996696"/>
            <a:ext cx="42702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NOV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932688"/>
            <a:ext cx="2112264" cy="411480"/>
          </a:xfrm>
          <a:prstGeom prst="round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996696"/>
            <a:ext cx="21122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371600"/>
            <a:ext cx="1033271" cy="420624"/>
          </a:xfrm>
          <a:prstGeom prst="roundRect">
            <a:avLst/>
          </a:prstGeom>
          <a:solidFill>
            <a:srgbClr val="FFF0BE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1453896"/>
            <a:ext cx="1033271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35B46"/>
                </a:solidFill>
                <a:latin typeface="Aptos"/>
              </a:rPr>
              <a:t>S11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3632" y="1371600"/>
            <a:ext cx="1033271" cy="420624"/>
          </a:xfrm>
          <a:prstGeom prst="roundRect">
            <a:avLst/>
          </a:prstGeom>
          <a:solidFill>
            <a:srgbClr val="EDF3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13632" y="1453896"/>
            <a:ext cx="1033271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ptos"/>
              </a:rPr>
              <a:t>S12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1371600"/>
            <a:ext cx="1033271" cy="420624"/>
          </a:xfrm>
          <a:prstGeom prst="roundRect">
            <a:avLst/>
          </a:prstGeom>
          <a:solidFill>
            <a:srgbClr val="EDF3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92624" y="1453896"/>
            <a:ext cx="1033271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ptos"/>
              </a:rPr>
              <a:t>S13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1371600"/>
            <a:ext cx="1033271" cy="420624"/>
          </a:xfrm>
          <a:prstGeom prst="roundRect">
            <a:avLst/>
          </a:prstGeom>
          <a:solidFill>
            <a:srgbClr val="EDF3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71616" y="1453896"/>
            <a:ext cx="1033271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ptos"/>
              </a:rPr>
              <a:t>S14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0608" y="1371600"/>
            <a:ext cx="1033271" cy="420624"/>
          </a:xfrm>
          <a:prstGeom prst="roundRect">
            <a:avLst/>
          </a:prstGeom>
          <a:solidFill>
            <a:srgbClr val="EDF3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50608" y="1453896"/>
            <a:ext cx="1033271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ptos"/>
              </a:rPr>
              <a:t>S15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371600"/>
            <a:ext cx="1033271" cy="420624"/>
          </a:xfrm>
          <a:prstGeom prst="roundRect">
            <a:avLst/>
          </a:prstGeom>
          <a:solidFill>
            <a:srgbClr val="EDF3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1453896"/>
            <a:ext cx="1033271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ptos"/>
              </a:rPr>
              <a:t>S16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08592" y="1371600"/>
            <a:ext cx="1033271" cy="420624"/>
          </a:xfrm>
          <a:prstGeom prst="roundRect">
            <a:avLst/>
          </a:prstGeom>
          <a:solidFill>
            <a:srgbClr val="EDF3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8592" y="1453896"/>
            <a:ext cx="1033271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ptos"/>
              </a:rPr>
              <a:t>S17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1965960"/>
            <a:ext cx="1234440" cy="621792"/>
          </a:xfrm>
          <a:prstGeom prst="roundRect">
            <a:avLst/>
          </a:prstGeom>
          <a:solidFill>
            <a:srgbClr val="EBF5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2084831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35B46"/>
                </a:solidFill>
                <a:latin typeface="Aptos"/>
              </a:rPr>
              <a:t>Diseño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83080" y="1965960"/>
            <a:ext cx="960120" cy="621792"/>
          </a:xfrm>
          <a:prstGeom prst="roundRect">
            <a:avLst/>
          </a:prstGeom>
          <a:solidFill>
            <a:srgbClr val="F7F9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28800" y="2039112"/>
            <a:ext cx="868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Aptos"/>
              </a:rPr>
              <a:t>4+1 · CU · 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196596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913632" y="196596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992624" y="196596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071616" y="196596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150608" y="196596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29600" y="196596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308592" y="196596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57200" y="2788920"/>
            <a:ext cx="1234440" cy="621792"/>
          </a:xfrm>
          <a:prstGeom prst="roundRect">
            <a:avLst/>
          </a:prstGeom>
          <a:solidFill>
            <a:srgbClr val="EBF5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" y="2907791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35B46"/>
                </a:solidFill>
                <a:latin typeface="Aptos"/>
              </a:rPr>
              <a:t>Desarrollo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83080" y="2788920"/>
            <a:ext cx="960120" cy="621792"/>
          </a:xfrm>
          <a:prstGeom prst="roundRect">
            <a:avLst/>
          </a:prstGeom>
          <a:solidFill>
            <a:srgbClr val="F7F9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28800" y="2862072"/>
            <a:ext cx="868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Aptos"/>
              </a:rPr>
              <a:t>Web · POS · Escritorio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34640" y="278892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913632" y="278892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992624" y="278892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071616" y="278892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150608" y="278892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229600" y="278892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308592" y="278892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57200" y="3611880"/>
            <a:ext cx="1234440" cy="621792"/>
          </a:xfrm>
          <a:prstGeom prst="roundRect">
            <a:avLst/>
          </a:prstGeom>
          <a:solidFill>
            <a:srgbClr val="EBF5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3730752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35B46"/>
                </a:solidFill>
                <a:latin typeface="Aptos"/>
              </a:rPr>
              <a:t>Pruebas / QA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83080" y="3611880"/>
            <a:ext cx="960120" cy="621792"/>
          </a:xfrm>
          <a:prstGeom prst="roundRect">
            <a:avLst/>
          </a:prstGeom>
          <a:solidFill>
            <a:srgbClr val="F7F9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0" y="3685032"/>
            <a:ext cx="868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Aptos"/>
              </a:rPr>
              <a:t>Funcionales · integración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34640" y="361188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3913632" y="361188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992624" y="361188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071616" y="361188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150608" y="361188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229600" y="361188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308592" y="361188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57200" y="4434840"/>
            <a:ext cx="1234440" cy="621792"/>
          </a:xfrm>
          <a:prstGeom prst="roundRect">
            <a:avLst/>
          </a:prstGeom>
          <a:solidFill>
            <a:srgbClr val="EBF5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5488" y="4553712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35B46"/>
                </a:solidFill>
                <a:latin typeface="Aptos"/>
              </a:rPr>
              <a:t>Despliegue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83080" y="4434840"/>
            <a:ext cx="960120" cy="621792"/>
          </a:xfrm>
          <a:prstGeom prst="roundRect">
            <a:avLst/>
          </a:prstGeom>
          <a:solidFill>
            <a:srgbClr val="F7F9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828800" y="4507992"/>
            <a:ext cx="868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Aptos"/>
              </a:rPr>
              <a:t>GitHub · Railway · manuales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834640" y="443484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913632" y="443484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4992624" y="443484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071616" y="443484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7150608" y="443484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229600" y="443484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9308592" y="443484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457200" y="5257800"/>
            <a:ext cx="1234440" cy="621792"/>
          </a:xfrm>
          <a:prstGeom prst="roundRect">
            <a:avLst/>
          </a:prstGeom>
          <a:solidFill>
            <a:srgbClr val="EBF5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5488" y="5376672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35B46"/>
                </a:solidFill>
                <a:latin typeface="Aptos"/>
              </a:rPr>
              <a:t>Cierre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783080" y="5257800"/>
            <a:ext cx="960120" cy="621792"/>
          </a:xfrm>
          <a:prstGeom prst="roundRect">
            <a:avLst/>
          </a:prstGeom>
          <a:solidFill>
            <a:srgbClr val="F7F9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828800" y="5330952"/>
            <a:ext cx="868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Aptos"/>
              </a:rPr>
              <a:t>Informe · defensa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834640" y="525780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3913632" y="525780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4992624" y="525780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6071616" y="525780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7150608" y="525780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229600" y="525780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9308592" y="5257800"/>
            <a:ext cx="1033271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2880360" y="2039112"/>
            <a:ext cx="2011679" cy="310896"/>
          </a:xfrm>
          <a:prstGeom prst="round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926079" y="2084831"/>
            <a:ext cx="192023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Cerrar diseño + trazabilidad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880360" y="2862072"/>
            <a:ext cx="3090672" cy="310896"/>
          </a:xfrm>
          <a:prstGeom prst="roundRect">
            <a:avLst/>
          </a:prstGeom>
          <a:solidFill>
            <a:srgbClr val="2F7ABF"/>
          </a:solidFill>
          <a:ln>
            <a:solidFill>
              <a:srgbClr val="2F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926079" y="2907791"/>
            <a:ext cx="2999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Evidencia desarrollo + ajustes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959352" y="3172968"/>
            <a:ext cx="2011679" cy="310896"/>
          </a:xfrm>
          <a:prstGeom prst="roundRect">
            <a:avLst/>
          </a:prstGeom>
          <a:solidFill>
            <a:srgbClr val="D97F2E"/>
          </a:solidFill>
          <a:ln>
            <a:solidFill>
              <a:srgbClr val="D97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005072" y="3218687"/>
            <a:ext cx="192023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Webpay / TUU / stock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038344" y="3685032"/>
            <a:ext cx="3090672" cy="310896"/>
          </a:xfrm>
          <a:prstGeom prst="roundRect">
            <a:avLst/>
          </a:prstGeom>
          <a:solidFill>
            <a:srgbClr val="D97F2E"/>
          </a:solidFill>
          <a:ln>
            <a:solidFill>
              <a:srgbClr val="D97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84064" y="3730752"/>
            <a:ext cx="2999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QA funcional + integración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880360" y="4507992"/>
            <a:ext cx="2011679" cy="310896"/>
          </a:xfrm>
          <a:prstGeom prst="roundRect">
            <a:avLst/>
          </a:prstGeom>
          <a:solidFill>
            <a:srgbClr val="2F7ABF"/>
          </a:solidFill>
          <a:ln>
            <a:solidFill>
              <a:srgbClr val="2F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926079" y="4553712"/>
            <a:ext cx="192023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GitHub evidencias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17336" y="4818888"/>
            <a:ext cx="3090672" cy="310896"/>
          </a:xfrm>
          <a:prstGeom prst="roundRect">
            <a:avLst/>
          </a:prstGeom>
          <a:solidFill>
            <a:srgbClr val="467D65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163056" y="4864607"/>
            <a:ext cx="2999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Railway / manuales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75320" y="5330952"/>
            <a:ext cx="2011679" cy="310896"/>
          </a:xfrm>
          <a:prstGeom prst="roundRect">
            <a:avLst/>
          </a:prstGeom>
          <a:solidFill>
            <a:srgbClr val="C44848"/>
          </a:solidFill>
          <a:ln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321040" y="5376672"/>
            <a:ext cx="192023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Informe + defensa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319272" y="1234440"/>
            <a:ext cx="36576" cy="4892040"/>
          </a:xfrm>
          <a:prstGeom prst="rect">
            <a:avLst/>
          </a:prstGeom>
          <a:solidFill>
            <a:srgbClr val="D97F2E"/>
          </a:solidFill>
          <a:ln>
            <a:solidFill>
              <a:srgbClr val="D97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090672" y="987552"/>
            <a:ext cx="5029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97F2E"/>
                </a:solidFill>
                <a:latin typeface="Aptos"/>
              </a:rPr>
              <a:t>HOY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6928" y="6199632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22629"/>
                </a:solidFill>
                <a:latin typeface="Aptos"/>
              </a:rPr>
              <a:t>Foco actual: cerrar diseño, consolidar GitHub y sostener evidencia funcional antes de entrar a QA formal.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Matriz ejecutiva de riesgos y mitigación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Semana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926080" cy="475488"/>
          </a:xfrm>
          <a:prstGeom prst="round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Riesgo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051560"/>
            <a:ext cx="1325880" cy="475488"/>
          </a:xfrm>
          <a:prstGeom prst="round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16128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Estado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051560"/>
            <a:ext cx="1097280" cy="475488"/>
          </a:xfrm>
          <a:prstGeom prst="round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161288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Impacto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1051560"/>
            <a:ext cx="5532120" cy="475488"/>
          </a:xfrm>
          <a:prstGeom prst="round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53328" y="1161288"/>
            <a:ext cx="5532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Mitigación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27632"/>
            <a:ext cx="2926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700784"/>
            <a:ext cx="265176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Evidencia GitHub incompleta o desordenada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627632"/>
            <a:ext cx="1325880" cy="749808"/>
          </a:xfrm>
          <a:prstGeom prst="roundRect">
            <a:avLst/>
          </a:prstGeom>
          <a:solidFill>
            <a:srgbClr val="FCF8F5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801368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44848"/>
                </a:solidFill>
                <a:latin typeface="Aptos"/>
              </a:rPr>
              <a:t>Atraso parcial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627632"/>
            <a:ext cx="1097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1810512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44848"/>
                </a:solidFill>
                <a:latin typeface="Aptos"/>
              </a:rPr>
              <a:t>Alto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53328" y="1627632"/>
            <a:ext cx="5532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9632" y="1700784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629"/>
                </a:solidFill>
                <a:latin typeface="Aptos"/>
              </a:rPr>
              <a:t>Carga consolidada por carpetas; commits recientes, README y trazabilidad por artefacto.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523744"/>
            <a:ext cx="2926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2596896"/>
            <a:ext cx="265176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Accesibilidad POS aún no cerrada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2523744"/>
            <a:ext cx="1325880" cy="749808"/>
          </a:xfrm>
          <a:prstGeom prst="roundRect">
            <a:avLst/>
          </a:prstGeom>
          <a:solidFill>
            <a:srgbClr val="FCF8F5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2697479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97F2E"/>
                </a:solidFill>
                <a:latin typeface="Aptos"/>
              </a:rPr>
              <a:t>En mitigación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2523744"/>
            <a:ext cx="1097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270662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44848"/>
                </a:solidFill>
                <a:latin typeface="Aptos"/>
              </a:rPr>
              <a:t>Alto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53328" y="2523744"/>
            <a:ext cx="5532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9632" y="2596896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629"/>
                </a:solidFill>
                <a:latin typeface="Aptos"/>
              </a:rPr>
              <a:t>Aumentar controles táctiles, revisar contraste y validar con usuario real antes de QA.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419856"/>
            <a:ext cx="2926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493008"/>
            <a:ext cx="265176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Railway/PostgreSQL definido pero no desplegado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40" y="3419856"/>
            <a:ext cx="1325880" cy="749808"/>
          </a:xfrm>
          <a:prstGeom prst="roundRect">
            <a:avLst/>
          </a:prstGeom>
          <a:solidFill>
            <a:srgbClr val="FCF8F5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66160" y="3593592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F7ABF"/>
                </a:solidFill>
                <a:latin typeface="Aptos"/>
              </a:rPr>
              <a:t>Planificado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2040" y="3419856"/>
            <a:ext cx="1097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92040" y="3602736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97F2E"/>
                </a:solidFill>
                <a:latin typeface="Aptos"/>
              </a:rPr>
              <a:t>Medio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53328" y="3419856"/>
            <a:ext cx="5532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3493008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629"/>
                </a:solidFill>
                <a:latin typeface="Aptos"/>
              </a:rPr>
              <a:t>Mantener demo LAN; preparar checklist, DATABASE_URL, Alembic y prueba de staging.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315968"/>
            <a:ext cx="2926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4389120"/>
            <a:ext cx="265176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Webpay/TUU de producción no probados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20440" y="4315968"/>
            <a:ext cx="1325880" cy="749808"/>
          </a:xfrm>
          <a:prstGeom prst="roundRect">
            <a:avLst/>
          </a:prstGeom>
          <a:solidFill>
            <a:srgbClr val="FCF8F5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66160" y="4489704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F7ABF"/>
                </a:solidFill>
                <a:latin typeface="Aptos"/>
              </a:rPr>
              <a:t>Seguimiento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2040" y="4315968"/>
            <a:ext cx="1097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92040" y="449884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44848"/>
                </a:solidFill>
                <a:latin typeface="Aptos"/>
              </a:rPr>
              <a:t>Alto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53328" y="4315968"/>
            <a:ext cx="5532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99632" y="4389120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629"/>
                </a:solidFill>
                <a:latin typeface="Aptos"/>
              </a:rPr>
              <a:t>Usar integración/sandbox ahora; pruebas con montos bajos antes de apertura pública.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212080"/>
            <a:ext cx="2926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5285232"/>
            <a:ext cx="265176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629"/>
                </a:solidFill>
                <a:latin typeface="Aptos"/>
              </a:rPr>
              <a:t>Dependencia de Railway como proveedor único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20440" y="5212080"/>
            <a:ext cx="1325880" cy="749808"/>
          </a:xfrm>
          <a:prstGeom prst="roundRect">
            <a:avLst/>
          </a:prstGeom>
          <a:solidFill>
            <a:srgbClr val="FCF8F5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66160" y="5385816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467D65"/>
                </a:solidFill>
                <a:latin typeface="Aptos"/>
              </a:rPr>
              <a:t>Controlado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2040" y="5212080"/>
            <a:ext cx="1097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92040" y="53949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97F2E"/>
                </a:solidFill>
                <a:latin typeface="Aptos"/>
              </a:rPr>
              <a:t>Medio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53328" y="5212080"/>
            <a:ext cx="5532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99632" y="5285232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629"/>
                </a:solidFill>
                <a:latin typeface="Aptos"/>
              </a:rPr>
              <a:t>Backups del proveedor + pg_dump externo + portabilidad mediante DATABASE_URL.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Compromisos para la próxima revisión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6F0EB"/>
                </a:solidFill>
                <a:latin typeface="Aptos"/>
              </a:rPr>
              <a:t>Semana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5B46"/>
                </a:solidFill>
                <a:latin typeface="Aptos"/>
              </a:rPr>
              <a:t>Promesas concretas y verificables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493776" cy="493776"/>
          </a:xfrm>
          <a:prstGeom prst="roundRect">
            <a:avLst/>
          </a:prstGeom>
          <a:solidFill>
            <a:srgbClr val="235B46"/>
          </a:solidFill>
          <a:ln>
            <a:solidFill>
              <a:srgbClr val="23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17904"/>
            <a:ext cx="4937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417320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629"/>
                </a:solidFill>
                <a:latin typeface="Aptos"/>
              </a:rPr>
              <a:t>GitHub al día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Repositorio ordenado con código, commits, README y evidencias de Fase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22576"/>
            <a:ext cx="493776" cy="493776"/>
          </a:xfrm>
          <a:prstGeom prst="roundRect">
            <a:avLst/>
          </a:prstGeom>
          <a:solidFill>
            <a:srgbClr val="2F7ABF"/>
          </a:solidFill>
          <a:ln>
            <a:solidFill>
              <a:srgbClr val="2F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4937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295144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629"/>
                </a:solidFill>
                <a:latin typeface="Aptos"/>
              </a:rPr>
              <a:t>Diseño cerrado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95144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4+1, CU, E-R y prototipo vinculados entre sí y con trazabilidad.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200400"/>
            <a:ext cx="493776" cy="493776"/>
          </a:xfrm>
          <a:prstGeom prst="roundRect">
            <a:avLst/>
          </a:prstGeom>
          <a:solidFill>
            <a:srgbClr val="D97F2E"/>
          </a:solidFill>
          <a:ln>
            <a:solidFill>
              <a:srgbClr val="D97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273552"/>
            <a:ext cx="4937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172968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629"/>
                </a:solidFill>
                <a:latin typeface="Aptos"/>
              </a:rPr>
              <a:t>QA preparado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729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Matriz ampliada hacia 100+ escenarios con datos de prueba controlados.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078224"/>
            <a:ext cx="493776" cy="493776"/>
          </a:xfrm>
          <a:prstGeom prst="roundRect">
            <a:avLst/>
          </a:prstGeom>
          <a:solidFill>
            <a:srgbClr val="467D65"/>
          </a:solidFill>
          <a:ln>
            <a:solidFill>
              <a:srgbClr val="46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4151376"/>
            <a:ext cx="4937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050791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629"/>
                </a:solidFill>
                <a:latin typeface="Aptos"/>
              </a:rPr>
              <a:t>Prototipo estabilizado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050791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Cerrar accesibilidad del POS y actualizar capturas definitivas.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956048"/>
            <a:ext cx="493776" cy="493776"/>
          </a:xfrm>
          <a:prstGeom prst="roundRect">
            <a:avLst/>
          </a:prstGeom>
          <a:solidFill>
            <a:srgbClr val="C44848"/>
          </a:solidFill>
          <a:ln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029200"/>
            <a:ext cx="4937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928616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629"/>
                </a:solidFill>
                <a:latin typeface="Aptos"/>
              </a:rPr>
              <a:t>Producción preparada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928616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Checklist Railway/PostgreSQL y prueba técnica de staging si el tiempo lo permite.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989320"/>
            <a:ext cx="10881360" cy="420624"/>
          </a:xfrm>
          <a:prstGeom prst="roundRect">
            <a:avLst/>
          </a:prstGeom>
          <a:solidFill>
            <a:srgbClr val="E8F3EE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6071616"/>
            <a:ext cx="10515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35B46"/>
                </a:solidFill>
                <a:latin typeface="Aptos"/>
              </a:rPr>
              <a:t>Mensaje final: Fase 2 = diseño formal cerrado + desarrollo visible y demostrable.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6F3"/>
          </a:solidFill>
          <a:ln>
            <a:solidFill>
              <a:srgbClr val="F1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601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PuntoSync • La200 • Semana 11 de 17 • Waterfall • Fase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2026-10-24T01:44:51Z</dcterms:modified>
  <cp:category/>
</cp:coreProperties>
</file>