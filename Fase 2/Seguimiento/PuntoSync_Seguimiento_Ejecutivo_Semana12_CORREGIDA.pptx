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(20261030-20462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Estado general y foco de la semana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1097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ptos"/>
              </a:rPr>
              <a:t>Semana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3291840" cy="512064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2743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200" b="1">
                <a:solidFill>
                  <a:srgbClr val="245B46"/>
                </a:solidFill>
                <a:latin typeface="Aptos Display"/>
              </a:rPr>
              <a:t>Resumen ejecutivo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651760" cy="530352"/>
          </a:xfrm>
          <a:prstGeom prst="roundRect">
            <a:avLst/>
          </a:prstGeom>
          <a:solidFill>
            <a:srgbClr val="EEF2F0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500" b="1">
                <a:solidFill>
                  <a:srgbClr val="2D654E"/>
                </a:solidFill>
                <a:latin typeface="Aptos"/>
              </a:rPr>
              <a:t>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883663"/>
            <a:ext cx="1188720" cy="4247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dirty="0"/>
              <a:t>Cerrado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96312"/>
            <a:ext cx="2651760" cy="530352"/>
          </a:xfrm>
          <a:prstGeom prst="roundRect">
            <a:avLst/>
          </a:prstGeom>
          <a:solidFill>
            <a:srgbClr val="EEF2F0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96896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500" b="1">
                <a:solidFill>
                  <a:srgbClr val="2D654E"/>
                </a:solidFill>
                <a:latin typeface="Aptos"/>
              </a:rPr>
              <a:t>Desarrollo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520018"/>
            <a:ext cx="118872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400" b="1" dirty="0">
                <a:solidFill>
                  <a:srgbClr val="2C343A"/>
                </a:solidFill>
                <a:latin typeface="Aptos"/>
              </a:rPr>
              <a:t>Visible y </a:t>
            </a:r>
            <a:r>
              <a:rPr sz="1400" b="1" dirty="0" err="1">
                <a:solidFill>
                  <a:srgbClr val="2C343A"/>
                </a:solidFill>
                <a:latin typeface="Aptos"/>
              </a:rPr>
              <a:t>demostrable</a:t>
            </a:r>
            <a:endParaRPr sz="1400" b="1" dirty="0">
              <a:solidFill>
                <a:srgbClr val="2C343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209544"/>
            <a:ext cx="2651760" cy="530352"/>
          </a:xfrm>
          <a:prstGeom prst="roundRect">
            <a:avLst/>
          </a:prstGeom>
          <a:solidFill>
            <a:srgbClr val="EEF2F0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7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500" b="1">
                <a:solidFill>
                  <a:srgbClr val="2D654E"/>
                </a:solidFill>
                <a:latin typeface="Aptos"/>
              </a:rPr>
              <a:t>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193280"/>
            <a:ext cx="118872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400" b="1" dirty="0" err="1">
                <a:solidFill>
                  <a:srgbClr val="2C343A"/>
                </a:solidFill>
                <a:latin typeface="Aptos"/>
              </a:rPr>
              <a:t>Preparación</a:t>
            </a:r>
            <a:r>
              <a:rPr sz="1400" b="1" dirty="0">
                <a:solidFill>
                  <a:srgbClr val="2C343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2C343A"/>
                </a:solidFill>
                <a:latin typeface="Aptos"/>
              </a:rPr>
              <a:t>en</a:t>
            </a:r>
            <a:r>
              <a:rPr sz="1400" b="1" dirty="0">
                <a:solidFill>
                  <a:srgbClr val="2C343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2C343A"/>
                </a:solidFill>
                <a:latin typeface="Aptos"/>
              </a:rPr>
              <a:t>curso</a:t>
            </a:r>
            <a:endParaRPr sz="1400" b="1" dirty="0">
              <a:solidFill>
                <a:srgbClr val="2C343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3922776"/>
            <a:ext cx="2651760" cy="530352"/>
          </a:xfrm>
          <a:prstGeom prst="roundRect">
            <a:avLst/>
          </a:prstGeom>
          <a:solidFill>
            <a:srgbClr val="EEF2F0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500" b="1">
                <a:solidFill>
                  <a:srgbClr val="2D654E"/>
                </a:solidFill>
                <a:latin typeface="Aptos"/>
              </a:rPr>
              <a:t>Despliegue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023360"/>
            <a:ext cx="109728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400" b="1" dirty="0" err="1">
                <a:solidFill>
                  <a:srgbClr val="2C343A"/>
                </a:solidFill>
                <a:latin typeface="Aptos"/>
              </a:rPr>
              <a:t>Planificado</a:t>
            </a:r>
            <a:endParaRPr sz="1400" b="1" dirty="0">
              <a:solidFill>
                <a:srgbClr val="2C343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4636008"/>
            <a:ext cx="2651760" cy="530352"/>
          </a:xfrm>
          <a:prstGeom prst="roundRect">
            <a:avLst/>
          </a:prstGeom>
          <a:solidFill>
            <a:srgbClr val="EEF2F0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736592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500" b="1">
                <a:solidFill>
                  <a:srgbClr val="2D654E"/>
                </a:solidFill>
                <a:latin typeface="Aptos"/>
              </a:rPr>
              <a:t>Cierre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736592"/>
            <a:ext cx="100584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400" b="1">
                <a:solidFill>
                  <a:srgbClr val="2C343A"/>
                </a:solidFill>
                <a:latin typeface="Aptos"/>
              </a:rPr>
              <a:t>Pendiente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914400"/>
            <a:ext cx="7498079" cy="224028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1097280"/>
            <a:ext cx="70408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800" b="1">
                <a:solidFill>
                  <a:srgbClr val="2D654E"/>
                </a:solidFill>
                <a:latin typeface="Aptos"/>
              </a:rPr>
              <a:t>Qué cambió esta semana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417320"/>
            <a:ext cx="7040880" cy="176356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dirty="0"/>
              <a:t>En la </a:t>
            </a:r>
            <a:r>
              <a:rPr dirty="0" err="1"/>
              <a:t>semana</a:t>
            </a:r>
            <a:r>
              <a:rPr dirty="0"/>
              <a:t> 11 </a:t>
            </a:r>
            <a:r>
              <a:rPr lang="es-ES" dirty="0"/>
              <a:t>se </a:t>
            </a:r>
            <a:r>
              <a:rPr dirty="0" err="1"/>
              <a:t>dio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cerrada</a:t>
            </a:r>
            <a:r>
              <a:rPr dirty="0"/>
              <a:t> la </a:t>
            </a:r>
            <a:r>
              <a:rPr dirty="0" err="1"/>
              <a:t>fase</a:t>
            </a:r>
            <a:r>
              <a:rPr dirty="0"/>
              <a:t> de </a:t>
            </a:r>
            <a:r>
              <a:rPr dirty="0" err="1"/>
              <a:t>Diseño</a:t>
            </a:r>
            <a:r>
              <a:rPr dirty="0"/>
              <a:t>.</a:t>
            </a:r>
          </a:p>
          <a:p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semana</a:t>
            </a:r>
            <a:r>
              <a:rPr dirty="0"/>
              <a:t> no </a:t>
            </a:r>
            <a:r>
              <a:rPr dirty="0" err="1"/>
              <a:t>agregamos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actividades</a:t>
            </a:r>
            <a:r>
              <a:rPr dirty="0"/>
              <a:t> de </a:t>
            </a:r>
            <a:r>
              <a:rPr dirty="0" err="1"/>
              <a:t>diseño</a:t>
            </a:r>
            <a:r>
              <a:rPr dirty="0"/>
              <a:t>: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artefactos</a:t>
            </a:r>
            <a:r>
              <a:rPr dirty="0"/>
              <a:t> 4+1,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, E-R y </a:t>
            </a:r>
            <a:r>
              <a:rPr dirty="0" err="1"/>
              <a:t>prototipo</a:t>
            </a:r>
            <a:r>
              <a:rPr dirty="0"/>
              <a:t> </a:t>
            </a:r>
            <a:r>
              <a:rPr dirty="0" err="1"/>
              <a:t>pasan</a:t>
            </a:r>
            <a:r>
              <a:rPr dirty="0"/>
              <a:t> a ser la base de Desarrollo y QA.</a:t>
            </a:r>
          </a:p>
          <a:p>
            <a:r>
              <a:rPr dirty="0"/>
              <a:t>El </a:t>
            </a:r>
            <a:r>
              <a:rPr dirty="0" err="1"/>
              <a:t>avance</a:t>
            </a:r>
            <a:r>
              <a:rPr dirty="0"/>
              <a:t> se </a:t>
            </a:r>
            <a:r>
              <a:rPr dirty="0" err="1"/>
              <a:t>concentra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, GitHub, </a:t>
            </a:r>
            <a:r>
              <a:rPr dirty="0" err="1"/>
              <a:t>integraciones</a:t>
            </a:r>
            <a:r>
              <a:rPr dirty="0"/>
              <a:t> y </a:t>
            </a:r>
            <a:r>
              <a:rPr dirty="0" err="1"/>
              <a:t>preparación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474719"/>
            <a:ext cx="7498079" cy="2799331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3657600"/>
            <a:ext cx="70408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800" b="1">
                <a:solidFill>
                  <a:srgbClr val="2D654E"/>
                </a:solidFill>
                <a:latin typeface="Aptos"/>
              </a:rPr>
              <a:t>Foco de la semana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977640"/>
            <a:ext cx="7040880" cy="18745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dirty="0" err="1"/>
              <a:t>Consolidar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real de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GitHub y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demostración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.</a:t>
            </a:r>
          </a:p>
          <a:p>
            <a:r>
              <a:rPr dirty="0" err="1"/>
              <a:t>Explicar</a:t>
            </a:r>
            <a:r>
              <a:rPr dirty="0"/>
              <a:t> el </a:t>
            </a:r>
            <a:r>
              <a:rPr dirty="0" err="1"/>
              <a:t>recorrido</a:t>
            </a:r>
            <a:r>
              <a:rPr dirty="0"/>
              <a:t> de la base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un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principal.</a:t>
            </a:r>
          </a:p>
          <a:p>
            <a:r>
              <a:rPr dirty="0" err="1"/>
              <a:t>Completar</a:t>
            </a:r>
            <a:r>
              <a:rPr dirty="0"/>
              <a:t> </a:t>
            </a:r>
            <a:r>
              <a:rPr dirty="0" err="1"/>
              <a:t>preparación</a:t>
            </a:r>
            <a:r>
              <a:rPr dirty="0"/>
              <a:t> de QA con </a:t>
            </a:r>
            <a:r>
              <a:rPr dirty="0" err="1"/>
              <a:t>casos</a:t>
            </a:r>
            <a:r>
              <a:rPr dirty="0"/>
              <a:t>, </a:t>
            </a:r>
            <a:r>
              <a:rPr dirty="0" err="1"/>
              <a:t>escenarios</a:t>
            </a:r>
            <a:r>
              <a:rPr dirty="0"/>
              <a:t> y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controlados</a:t>
            </a:r>
            <a:r>
              <a:rPr dirty="0"/>
              <a:t>.</a:t>
            </a:r>
          </a:p>
          <a:p>
            <a:r>
              <a:rPr dirty="0" err="1"/>
              <a:t>Continuar</a:t>
            </a:r>
            <a:r>
              <a:rPr dirty="0"/>
              <a:t> </a:t>
            </a:r>
            <a:r>
              <a:rPr dirty="0" err="1"/>
              <a:t>ajustes</a:t>
            </a:r>
            <a:r>
              <a:rPr dirty="0"/>
              <a:t> e </a:t>
            </a:r>
            <a:r>
              <a:rPr dirty="0" err="1"/>
              <a:t>integraciones</a:t>
            </a:r>
            <a:r>
              <a:rPr dirty="0"/>
              <a:t> de </a:t>
            </a:r>
            <a:r>
              <a:rPr dirty="0" err="1"/>
              <a:t>Webpay</a:t>
            </a:r>
            <a:r>
              <a:rPr dirty="0"/>
              <a:t>, TUU, stock y </a:t>
            </a:r>
            <a:r>
              <a:rPr dirty="0" err="1"/>
              <a:t>accesibilidad</a:t>
            </a:r>
            <a:r>
              <a:rPr dirty="0"/>
              <a:t> POS.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Cumplimiento de compromisos de la semana anterior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1097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ptos"/>
              </a:rPr>
              <a:t>Seguimiento S11 → S12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943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400" b="1">
                <a:solidFill>
                  <a:srgbClr val="245B46"/>
                </a:solidFill>
                <a:latin typeface="Aptos Display"/>
              </a:rPr>
              <a:t>Promesas concretas y estado actual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75488" cy="438912"/>
          </a:xfrm>
          <a:prstGeom prst="roundRect">
            <a:avLst/>
          </a:prstGeom>
          <a:solidFill>
            <a:srgbClr val="397EC4"/>
          </a:solidFill>
          <a:ln w="12700">
            <a:solidFill>
              <a:srgbClr val="39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36776"/>
            <a:ext cx="384048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72768"/>
            <a:ext cx="21945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GitHub al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91056"/>
            <a:ext cx="11887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 dirty="0" err="1">
                <a:solidFill>
                  <a:srgbClr val="DC832A"/>
                </a:solidFill>
                <a:latin typeface="Aptos"/>
              </a:rPr>
              <a:t>Parcial</a:t>
            </a:r>
            <a:endParaRPr sz="1400" b="1" dirty="0">
              <a:solidFill>
                <a:srgbClr val="DC832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09160" y="1572768"/>
            <a:ext cx="6400800" cy="3477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0" dirty="0" err="1">
                <a:solidFill>
                  <a:srgbClr val="5F666A"/>
                </a:solidFill>
                <a:latin typeface="Aptos"/>
              </a:rPr>
              <a:t>Repositorio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más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ordenado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pero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aún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faltan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evidencias</a:t>
            </a:r>
            <a:r>
              <a:rPr lang="es-ES" sz="1300" b="0" dirty="0">
                <a:solidFill>
                  <a:srgbClr val="5F666A"/>
                </a:solidFill>
                <a:latin typeface="Aptos"/>
              </a:rPr>
              <a:t>.</a:t>
            </a:r>
            <a:endParaRPr sz="1300" b="0" dirty="0">
              <a:solidFill>
                <a:srgbClr val="5F666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475488" cy="438912"/>
          </a:xfrm>
          <a:prstGeom prst="roundRect">
            <a:avLst/>
          </a:prstGeom>
          <a:solidFill>
            <a:srgbClr val="4F8B6E"/>
          </a:solidFill>
          <a:ln w="12700">
            <a:solidFill>
              <a:srgbClr val="4F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384048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41448"/>
            <a:ext cx="21945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Diseño cerrado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59736"/>
            <a:ext cx="118872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1" dirty="0">
                <a:solidFill>
                  <a:srgbClr val="DC832A"/>
                </a:solidFill>
                <a:latin typeface="Aptos"/>
              </a:rPr>
              <a:t>Cumplido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41448"/>
            <a:ext cx="6400800" cy="54784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dirty="0">
                <a:solidFill>
                  <a:srgbClr val="5F666A"/>
                </a:solidFill>
                <a:latin typeface="Aptos"/>
              </a:rPr>
              <a:t>La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fase</a:t>
            </a:r>
            <a:r>
              <a:rPr sz="1300" dirty="0">
                <a:solidFill>
                  <a:srgbClr val="5F666A"/>
                </a:solidFill>
                <a:latin typeface="Aptos"/>
              </a:rPr>
              <a:t> de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Diseño</a:t>
            </a:r>
            <a:r>
              <a:rPr sz="130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quedó</a:t>
            </a:r>
            <a:r>
              <a:rPr sz="130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cerrada</a:t>
            </a:r>
            <a:r>
              <a:rPr sz="130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en</a:t>
            </a:r>
            <a:r>
              <a:rPr sz="1300" dirty="0">
                <a:solidFill>
                  <a:srgbClr val="5F666A"/>
                </a:solidFill>
                <a:latin typeface="Aptos"/>
              </a:rPr>
              <a:t> la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semana</a:t>
            </a:r>
            <a:r>
              <a:rPr sz="1300" dirty="0">
                <a:solidFill>
                  <a:srgbClr val="5F666A"/>
                </a:solidFill>
                <a:latin typeface="Aptos"/>
              </a:rPr>
              <a:t> 11.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Desde</a:t>
            </a:r>
            <a:r>
              <a:rPr sz="1300" dirty="0">
                <a:solidFill>
                  <a:srgbClr val="5F666A"/>
                </a:solidFill>
                <a:latin typeface="Aptos"/>
              </a:rPr>
              <a:t> S12 sus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artefactos</a:t>
            </a:r>
            <a:r>
              <a:rPr sz="1300" dirty="0">
                <a:solidFill>
                  <a:srgbClr val="5F666A"/>
                </a:solidFill>
                <a:latin typeface="Aptos"/>
              </a:rPr>
              <a:t> se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usan</a:t>
            </a:r>
            <a:r>
              <a:rPr sz="130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como</a:t>
            </a:r>
            <a:r>
              <a:rPr sz="1300" dirty="0">
                <a:solidFill>
                  <a:srgbClr val="5F666A"/>
                </a:solidFill>
                <a:latin typeface="Aptos"/>
              </a:rPr>
              <a:t> base para Desarrollo, QA y </a:t>
            </a:r>
            <a:r>
              <a:rPr sz="1300" dirty="0" err="1">
                <a:solidFill>
                  <a:srgbClr val="5F666A"/>
                </a:solidFill>
                <a:latin typeface="Aptos"/>
              </a:rPr>
              <a:t>trazabilidad</a:t>
            </a:r>
            <a:r>
              <a:rPr sz="1300" dirty="0">
                <a:solidFill>
                  <a:srgbClr val="5F666A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475488" cy="438912"/>
          </a:xfrm>
          <a:prstGeom prst="roundRect">
            <a:avLst/>
          </a:prstGeom>
          <a:solidFill>
            <a:srgbClr val="DC832A"/>
          </a:solidFill>
          <a:ln w="12700">
            <a:solidFill>
              <a:srgbClr val="DC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374135"/>
            <a:ext cx="384048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10127"/>
            <a:ext cx="21945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QA preparado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328415"/>
            <a:ext cx="11887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DC832A"/>
                </a:solidFill>
                <a:latin typeface="Aptos"/>
              </a:rPr>
              <a:t>En progreso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9695" y="3338872"/>
            <a:ext cx="6400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0" dirty="0">
                <a:solidFill>
                  <a:srgbClr val="5F666A"/>
                </a:solidFill>
                <a:latin typeface="Aptos"/>
              </a:rPr>
              <a:t>Se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avanza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en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la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ampliación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escenarios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y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casos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prueba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todavía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sin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ejecución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formal completa.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60520"/>
            <a:ext cx="475488" cy="438912"/>
          </a:xfrm>
          <a:prstGeom prst="roundRect">
            <a:avLst/>
          </a:prstGeom>
          <a:solidFill>
            <a:srgbClr val="4F8B6E"/>
          </a:solidFill>
          <a:ln w="12700">
            <a:solidFill>
              <a:srgbClr val="4F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42816"/>
            <a:ext cx="384048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78807"/>
            <a:ext cx="21945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Prototipo estabilizado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197096"/>
            <a:ext cx="1188720" cy="36317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lang="es-ES" sz="1400" b="1" dirty="0">
                <a:solidFill>
                  <a:srgbClr val="DC832A"/>
                </a:solidFill>
                <a:latin typeface="Aptos"/>
              </a:rPr>
              <a:t>Cumplido</a:t>
            </a:r>
            <a:endParaRPr sz="1400" b="1" dirty="0">
              <a:solidFill>
                <a:srgbClr val="DC832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09160" y="4178807"/>
            <a:ext cx="6400800" cy="3477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0" dirty="0">
                <a:solidFill>
                  <a:srgbClr val="5F666A"/>
                </a:solidFill>
                <a:latin typeface="Aptos"/>
              </a:rPr>
              <a:t>Se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mantiene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evidencia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funcional</a:t>
            </a:r>
            <a:r>
              <a:rPr sz="1300" b="0" dirty="0">
                <a:solidFill>
                  <a:srgbClr val="5F666A"/>
                </a:solidFill>
                <a:latin typeface="Aptos"/>
              </a:rPr>
              <a:t> de web, POS y </a:t>
            </a:r>
            <a:r>
              <a:rPr sz="1300" b="0" dirty="0" err="1">
                <a:solidFill>
                  <a:srgbClr val="5F666A"/>
                </a:solidFill>
                <a:latin typeface="Aptos"/>
              </a:rPr>
              <a:t>escritorio</a:t>
            </a:r>
            <a:r>
              <a:rPr lang="es-ES" sz="1300" b="0" dirty="0">
                <a:solidFill>
                  <a:srgbClr val="5F666A"/>
                </a:solidFill>
                <a:latin typeface="Aptos"/>
              </a:rPr>
              <a:t>.</a:t>
            </a:r>
            <a:endParaRPr sz="1300" b="0" dirty="0">
              <a:solidFill>
                <a:srgbClr val="5F666A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60" y="5029200"/>
            <a:ext cx="475488" cy="438912"/>
          </a:xfrm>
          <a:prstGeom prst="roundRect">
            <a:avLst/>
          </a:prstGeom>
          <a:solidFill>
            <a:srgbClr val="C94A4A"/>
          </a:solidFill>
          <a:ln w="12700">
            <a:solidFill>
              <a:srgbClr val="C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111496"/>
            <a:ext cx="384048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047488"/>
            <a:ext cx="21945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Producción preparada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065776"/>
            <a:ext cx="11887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397EC4"/>
                </a:solidFill>
                <a:latin typeface="Aptos"/>
              </a:rPr>
              <a:t>Planificado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047488"/>
            <a:ext cx="6400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0">
                <a:solidFill>
                  <a:srgbClr val="5F666A"/>
                </a:solidFill>
                <a:latin typeface="Aptos"/>
              </a:rPr>
              <a:t>Railway/PostgreSQL definido técnicamente; checklist y staging aún pendientes.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Evidencia de avance real del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1097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ptos"/>
              </a:rPr>
              <a:t>Semana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200400" cy="283464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19" y="1371600"/>
            <a:ext cx="3017520" cy="411480"/>
          </a:xfrm>
          <a:prstGeom prst="roundRect">
            <a:avLst/>
          </a:prstGeom>
          <a:solidFill>
            <a:srgbClr val="397EC4"/>
          </a:solidFill>
          <a:ln>
            <a:solidFill>
              <a:srgbClr val="39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2926080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Tienda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2743200" cy="16459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Catálogo y búsqueda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Pedido con retiro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Pago local / Webpay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2743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5F666A"/>
                </a:solidFill>
                <a:latin typeface="Aptos"/>
              </a:rPr>
              <a:t>Evidencia esperada: capturas / demo / commits relacionados.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34440"/>
            <a:ext cx="3200400" cy="283464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017520" cy="411480"/>
          </a:xfrm>
          <a:prstGeom prst="roundRect">
            <a:avLst/>
          </a:prstGeom>
          <a:solidFill>
            <a:srgbClr val="DC832A"/>
          </a:solidFill>
          <a:ln>
            <a:solidFill>
              <a:srgbClr val="DC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435608"/>
            <a:ext cx="2926080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POS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2743200" cy="16459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Carrito y venta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Efectivo y vuelto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Flujo TUU / 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11880"/>
            <a:ext cx="2743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5F666A"/>
                </a:solidFill>
                <a:latin typeface="Aptos"/>
              </a:rPr>
              <a:t>Evidencia esperada: capturas / demo / commits relacionados.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234440"/>
            <a:ext cx="3200400" cy="283464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80" y="1371600"/>
            <a:ext cx="3017520" cy="411480"/>
          </a:xfrm>
          <a:prstGeom prst="roundRect">
            <a:avLst/>
          </a:prstGeom>
          <a:solidFill>
            <a:srgbClr val="4F8B6E"/>
          </a:solidFill>
          <a:ln>
            <a:solidFill>
              <a:srgbClr val="4F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435608"/>
            <a:ext cx="2926080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Escritorio +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1920240"/>
            <a:ext cx="2743200" cy="16459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Electron y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FastAPI + JWT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WebSocket y respaldos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611880"/>
            <a:ext cx="2743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5F666A"/>
                </a:solidFill>
                <a:latin typeface="Aptos"/>
              </a:rPr>
              <a:t>Evidencia esperada: capturas / demo / commits relacionados.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10789920" cy="109728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553712"/>
            <a:ext cx="10332720" cy="7315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Mensaje ejecutivo: el desarrollo ya es visible y demostrable, pero la evaluación de esta fase exige que esa evidencia quede ordenada y trazable en GitHub.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Esto justifica que el principal issue potencial siga siendo la evidencia incompleta o desordenada del repositorio.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Recorrido de la base de datos con un caso de uso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1097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ptos"/>
              </a:rPr>
              <a:t>Semana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1228"/>
            <a:ext cx="58521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200" b="1" dirty="0">
                <a:solidFill>
                  <a:srgbClr val="245B46"/>
                </a:solidFill>
                <a:latin typeface="Aptos Display"/>
              </a:rPr>
              <a:t>Caso de </a:t>
            </a:r>
            <a:r>
              <a:rPr sz="2200" b="1" dirty="0" err="1">
                <a:solidFill>
                  <a:srgbClr val="245B46"/>
                </a:solidFill>
                <a:latin typeface="Aptos Display"/>
              </a:rPr>
              <a:t>uso</a:t>
            </a:r>
            <a:r>
              <a:rPr sz="2200" b="1" dirty="0">
                <a:solidFill>
                  <a:srgbClr val="245B46"/>
                </a:solidFill>
                <a:latin typeface="Aptos Display"/>
              </a:rPr>
              <a:t> </a:t>
            </a:r>
            <a:r>
              <a:rPr sz="2200" b="1" dirty="0" err="1">
                <a:solidFill>
                  <a:srgbClr val="245B46"/>
                </a:solidFill>
                <a:latin typeface="Aptos Display"/>
              </a:rPr>
              <a:t>recomendado</a:t>
            </a:r>
            <a:r>
              <a:rPr sz="2200" b="1" dirty="0">
                <a:solidFill>
                  <a:srgbClr val="245B46"/>
                </a:solidFill>
                <a:latin typeface="Aptos Display"/>
              </a:rPr>
              <a:t>: Crear </a:t>
            </a:r>
            <a:r>
              <a:rPr sz="2200" b="1" dirty="0" err="1">
                <a:solidFill>
                  <a:srgbClr val="245B46"/>
                </a:solidFill>
                <a:latin typeface="Aptos Display"/>
              </a:rPr>
              <a:t>pedido</a:t>
            </a:r>
            <a:r>
              <a:rPr sz="2200" b="1" dirty="0">
                <a:solidFill>
                  <a:srgbClr val="245B46"/>
                </a:solidFill>
                <a:latin typeface="Aptos Display"/>
              </a:rPr>
              <a:t> online con </a:t>
            </a:r>
            <a:r>
              <a:rPr sz="2200" b="1" dirty="0" err="1">
                <a:solidFill>
                  <a:srgbClr val="245B46"/>
                </a:solidFill>
                <a:latin typeface="Aptos Display"/>
              </a:rPr>
              <a:t>pago</a:t>
            </a:r>
            <a:r>
              <a:rPr sz="2200" b="1" dirty="0">
                <a:solidFill>
                  <a:srgbClr val="245B46"/>
                </a:solidFill>
                <a:latin typeface="Aptos Display"/>
              </a:rPr>
              <a:t> </a:t>
            </a:r>
            <a:r>
              <a:rPr sz="2200" b="1" dirty="0" err="1">
                <a:solidFill>
                  <a:srgbClr val="245B46"/>
                </a:solidFill>
                <a:latin typeface="Aptos Display"/>
              </a:rPr>
              <a:t>Webpay</a:t>
            </a:r>
            <a:endParaRPr sz="2200" b="1" dirty="0">
              <a:solidFill>
                <a:srgbClr val="245B46"/>
              </a:solidFill>
              <a:latin typeface="Aptos Displa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714500"/>
            <a:ext cx="4846320" cy="471346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45262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800" b="1">
                <a:solidFill>
                  <a:srgbClr val="2D654E"/>
                </a:solidFill>
                <a:latin typeface="Aptos"/>
              </a:rPr>
              <a:t>Cómo explicarlo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7420"/>
            <a:ext cx="4526280" cy="374904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1. El cliente consulta productos y categorías en la tienda web (tablas products y categories).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2. Al confirmar el carrito, el sistema crea un registro en online_orders con el total, estado inicial y método de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3. Luego inserta los ítems del pedido en online_order_items, uno por cada producto seleccionado.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4. Si el método es Webpay, se crea una sesión en webpay_sessions asociada a la orden.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5. Cuando el pago se aprueba, se actualizan webpay_sessions.status y online_orders.paid / status.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343A"/>
                </a:solidFill>
                <a:latin typeface="Aptos"/>
              </a:rPr>
              <a:t>6. Finalmente, el pedido pasa a preparación / entrega y el sistema conserva la trazabilidad completa del flujo.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828800"/>
            <a:ext cx="5486400" cy="4526280"/>
          </a:xfrm>
          <a:prstGeom prst="roundRect">
            <a:avLst/>
          </a:prstGeom>
          <a:solidFill>
            <a:srgbClr val="FCFCFC"/>
          </a:solidFill>
          <a:ln>
            <a:solidFill>
              <a:srgbClr val="2D65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2926080"/>
            <a:ext cx="466344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200" b="1">
                <a:solidFill>
                  <a:srgbClr val="2D654E"/>
                </a:solidFill>
                <a:latin typeface="Aptos"/>
              </a:rPr>
              <a:t>INSERTAR AQUÍ</a:t>
            </a:r>
          </a:p>
          <a:p>
            <a:pPr algn="ctr"/>
            <a:r>
              <a:rPr sz="2200" b="1">
                <a:solidFill>
                  <a:srgbClr val="2D654E"/>
                </a:solidFill>
                <a:latin typeface="Aptos"/>
              </a:rPr>
              <a:t>MODELO ENTIDAD-RELACIÓN / 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5F666A"/>
                </a:solidFill>
                <a:latin typeface="Aptos"/>
              </a:rPr>
              <a:t>Usar la imagen del modelo de datos que ya tienen preparada.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" y="6327648"/>
            <a:ext cx="100584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 dirty="0">
                <a:solidFill>
                  <a:srgbClr val="5F666A"/>
                </a:solidFill>
                <a:latin typeface="Aptos"/>
              </a:rPr>
              <a:t>Por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qué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este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caso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: es un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flujo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fácil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entender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toca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las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tablas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clave del canal online y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permite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mostrar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inserciones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5F666A"/>
                </a:solidFill>
                <a:latin typeface="Aptos"/>
              </a:rPr>
              <a:t>actualizaciones</a:t>
            </a:r>
            <a:r>
              <a:rPr sz="1200" b="0" dirty="0">
                <a:solidFill>
                  <a:srgbClr val="5F666A"/>
                </a:solidFill>
                <a:latin typeface="Aptos"/>
              </a:rPr>
              <a:t> reales de la BD.</a:t>
            </a:r>
          </a:p>
        </p:txBody>
      </p:sp>
      <p:pic>
        <p:nvPicPr>
          <p:cNvPr id="13" name="Image 2" descr="/mnt/data/week9_extract/image9.png">
            <a:extLst>
              <a:ext uri="{FF2B5EF4-FFF2-40B4-BE49-F238E27FC236}">
                <a16:creationId xmlns:a16="http://schemas.microsoft.com/office/drawing/2014/main" id="{0BF827A9-C60A-DBB2-2FAA-ADB468FF0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1403287"/>
            <a:ext cx="11491265" cy="5344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Roadmap actualizado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1097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ptos"/>
              </a:rPr>
              <a:t>Semana 12 de 17</a:t>
            </a:r>
          </a:p>
        </p:txBody>
      </p:sp>
      <p:pic>
        <p:nvPicPr>
          <p:cNvPr id="4" name="Picture 3" descr="puntosync_week12_roadmap_CORREG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3232"/>
            <a:ext cx="11823192" cy="62400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Riesgos, matriz 3x3 e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1097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ptos"/>
              </a:rPr>
              <a:t>Semana 12</a:t>
            </a:r>
          </a:p>
        </p:txBody>
      </p:sp>
      <p:pic>
        <p:nvPicPr>
          <p:cNvPr id="4" name="Picture 3" descr="puntosync_week12_riskmatrix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3017520" cy="2749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166360"/>
            <a:ext cx="274320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2D654E"/>
                </a:solidFill>
                <a:latin typeface="Aptos"/>
              </a:rPr>
              <a:t>Escala simplificada</a:t>
            </a:r>
          </a:p>
          <a:p>
            <a:pPr algn="ctr"/>
            <a:r>
              <a:rPr sz="1300" b="1">
                <a:solidFill>
                  <a:srgbClr val="2D654E"/>
                </a:solidFill>
                <a:latin typeface="Aptos"/>
              </a:rPr>
              <a:t>Estados permitidos: Abierto · En mitigación · Controlado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914400"/>
            <a:ext cx="7955279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200" b="1">
                <a:solidFill>
                  <a:srgbClr val="245B46"/>
                </a:solidFill>
                <a:latin typeface="Aptos Display"/>
              </a:rPr>
              <a:t>Riesgos actuales priorizados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325880"/>
            <a:ext cx="3474720" cy="411480"/>
          </a:xfrm>
          <a:prstGeom prst="roundRect">
            <a:avLst/>
          </a:prstGeom>
          <a:solidFill>
            <a:srgbClr val="2E6C4D"/>
          </a:solidFill>
          <a:ln w="12700">
            <a:solidFill>
              <a:srgbClr val="2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7327" y="1399032"/>
            <a:ext cx="3438144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Riesgo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25880"/>
            <a:ext cx="1097280" cy="411480"/>
          </a:xfrm>
          <a:prstGeom prst="roundRect">
            <a:avLst/>
          </a:prstGeom>
          <a:solidFill>
            <a:srgbClr val="2E6C4D"/>
          </a:solidFill>
          <a:ln w="12700">
            <a:solidFill>
              <a:srgbClr val="2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33488" y="1399032"/>
            <a:ext cx="1060704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325880"/>
            <a:ext cx="914400" cy="411480"/>
          </a:xfrm>
          <a:prstGeom prst="roundRect">
            <a:avLst/>
          </a:prstGeom>
          <a:solidFill>
            <a:srgbClr val="2E6C4D"/>
          </a:solidFill>
          <a:ln w="12700">
            <a:solidFill>
              <a:srgbClr val="2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22208" y="1399032"/>
            <a:ext cx="877824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Nivel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325880"/>
            <a:ext cx="2240280" cy="411480"/>
          </a:xfrm>
          <a:prstGeom prst="roundRect">
            <a:avLst/>
          </a:prstGeom>
          <a:solidFill>
            <a:srgbClr val="2E6C4D"/>
          </a:solidFill>
          <a:ln w="12700">
            <a:solidFill>
              <a:srgbClr val="2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8048" y="1399032"/>
            <a:ext cx="2203704" cy="164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Mitigación / criterio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783080"/>
            <a:ext cx="347472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59" y="1856231"/>
            <a:ext cx="338327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2C343A"/>
                </a:solidFill>
                <a:latin typeface="Aptos"/>
              </a:rPr>
              <a:t>Evidencia GitHub incompleta/desordenada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783080"/>
            <a:ext cx="1097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1856231"/>
            <a:ext cx="100583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C94A4A"/>
                </a:solidFill>
                <a:latin typeface="Aptos"/>
              </a:rPr>
              <a:t>Abierto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783080"/>
            <a:ext cx="91440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1856231"/>
            <a:ext cx="822960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C94A4A"/>
                </a:solidFill>
                <a:latin typeface="Aptos"/>
              </a:rPr>
              <a:t>Alto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783080"/>
            <a:ext cx="2240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55479" y="1721830"/>
            <a:ext cx="2476575" cy="824841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 dirty="0">
                <a:solidFill>
                  <a:srgbClr val="2C343A"/>
                </a:solidFill>
                <a:latin typeface="Aptos"/>
              </a:rPr>
              <a:t>Carga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consolidada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 + commits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recientes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 + README. Si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sigue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impactando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visibilidad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 del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avance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, se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considera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 issue </a:t>
            </a:r>
            <a:r>
              <a:rPr sz="1100" b="0" dirty="0" err="1">
                <a:solidFill>
                  <a:srgbClr val="2C343A"/>
                </a:solidFill>
                <a:latin typeface="Aptos"/>
              </a:rPr>
              <a:t>activo</a:t>
            </a:r>
            <a:r>
              <a:rPr sz="1100" b="0" dirty="0">
                <a:solidFill>
                  <a:srgbClr val="2C343A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2606040"/>
            <a:ext cx="347472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59" y="2679192"/>
            <a:ext cx="338327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2C343A"/>
                </a:solidFill>
                <a:latin typeface="Aptos"/>
              </a:rPr>
              <a:t>Accesibilidad POS aún no cerrada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606040"/>
            <a:ext cx="1097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20" y="2679192"/>
            <a:ext cx="100583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DC832A"/>
                </a:solidFill>
                <a:latin typeface="Aptos"/>
              </a:rPr>
              <a:t>En mitigación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2606040"/>
            <a:ext cx="91440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2679192"/>
            <a:ext cx="822960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C94A4A"/>
                </a:solidFill>
                <a:latin typeface="Aptos"/>
              </a:rPr>
              <a:t>Alto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606040"/>
            <a:ext cx="2240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55480" y="2679192"/>
            <a:ext cx="2148840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2C343A"/>
                </a:solidFill>
                <a:latin typeface="Aptos"/>
              </a:rPr>
              <a:t>Ajustar controles táctiles, contraste y validación con usuario antes de QA.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3429000"/>
            <a:ext cx="347472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94759" y="3502152"/>
            <a:ext cx="338327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2C343A"/>
                </a:solidFill>
                <a:latin typeface="Aptos"/>
              </a:rPr>
              <a:t>Railway/PostgreSQL aún no desplegado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429000"/>
            <a:ext cx="1097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0920" y="3502152"/>
            <a:ext cx="100583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4F8B6E"/>
                </a:solidFill>
                <a:latin typeface="Aptos"/>
              </a:rPr>
              <a:t>Controlado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429000"/>
            <a:ext cx="91440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3502152"/>
            <a:ext cx="822960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DC832A"/>
                </a:solidFill>
                <a:latin typeface="Aptos"/>
              </a:rPr>
              <a:t>Medio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3429000"/>
            <a:ext cx="2240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55480" y="3502152"/>
            <a:ext cx="2148840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2C343A"/>
                </a:solidFill>
                <a:latin typeface="Aptos"/>
              </a:rPr>
              <a:t>Está planificado; preparar checklist, DATABASE_URL, Alembic y staging.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49039" y="4251960"/>
            <a:ext cx="347472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94759" y="4325112"/>
            <a:ext cx="338327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2C343A"/>
                </a:solidFill>
                <a:latin typeface="Aptos"/>
              </a:rPr>
              <a:t>Webpay/TUU de producción no probados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4251960"/>
            <a:ext cx="1097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60920" y="4325112"/>
            <a:ext cx="1005839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DC832A"/>
                </a:solidFill>
                <a:latin typeface="Aptos"/>
              </a:rPr>
              <a:t>En mitigación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4251960"/>
            <a:ext cx="91440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9640" y="4325112"/>
            <a:ext cx="822960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C94A4A"/>
                </a:solidFill>
                <a:latin typeface="Aptos"/>
              </a:rPr>
              <a:t>Alto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4251960"/>
            <a:ext cx="2240280" cy="685800"/>
          </a:xfrm>
          <a:prstGeom prst="roundRect">
            <a:avLst/>
          </a:prstGeom>
          <a:solidFill>
            <a:srgbClr val="F8F9F9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55480" y="4325112"/>
            <a:ext cx="2148840" cy="530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2C343A"/>
                </a:solidFill>
                <a:latin typeface="Aptos"/>
              </a:rPr>
              <a:t>Usar integración/sandbox y luego pruebas con montos bajos.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94760" y="5257800"/>
            <a:ext cx="7909560" cy="640080"/>
          </a:xfrm>
          <a:prstGeom prst="roundRect">
            <a:avLst/>
          </a:prstGeom>
          <a:solidFill>
            <a:srgbClr val="FCF7F7"/>
          </a:solidFill>
          <a:ln w="12700">
            <a:solidFill>
              <a:srgbClr val="C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0" y="5422392"/>
            <a:ext cx="758952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C94A4A"/>
                </a:solidFill>
                <a:latin typeface="Aptos"/>
              </a:rPr>
              <a:t>Definición operativa: si un riesgo alto no se resuelve y ya afecta plazo, alcance o calidad, deja de ser solo riesgo y pasa a ser un issue del proyecto.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Compromisos para la próxima revisión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1097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ptos"/>
              </a:rPr>
              <a:t>Semana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2179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400" b="1">
                <a:solidFill>
                  <a:srgbClr val="245B46"/>
                </a:solidFill>
                <a:latin typeface="Aptos Display"/>
              </a:rPr>
              <a:t>Promesas concretas y verificables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2920" cy="457200"/>
          </a:xfrm>
          <a:prstGeom prst="roundRect">
            <a:avLst/>
          </a:prstGeom>
          <a:solidFill>
            <a:srgbClr val="4F8B6E"/>
          </a:solidFill>
          <a:ln w="12700">
            <a:solidFill>
              <a:srgbClr val="4F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3657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36192"/>
            <a:ext cx="20116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GitHub al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545336"/>
            <a:ext cx="7223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 dirty="0" err="1">
                <a:solidFill>
                  <a:srgbClr val="5F666A"/>
                </a:solidFill>
                <a:latin typeface="Aptos"/>
              </a:rPr>
              <a:t>Repositorio</a:t>
            </a:r>
            <a:r>
              <a:rPr sz="14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F666A"/>
                </a:solidFill>
                <a:latin typeface="Aptos"/>
              </a:rPr>
              <a:t>ordenado</a:t>
            </a:r>
            <a:r>
              <a:rPr sz="1400" b="0" dirty="0">
                <a:solidFill>
                  <a:srgbClr val="5F666A"/>
                </a:solidFill>
                <a:latin typeface="Aptos"/>
              </a:rPr>
              <a:t> con </a:t>
            </a:r>
            <a:r>
              <a:rPr sz="1400" b="0" dirty="0" err="1">
                <a:solidFill>
                  <a:srgbClr val="5F666A"/>
                </a:solidFill>
                <a:latin typeface="Aptos"/>
              </a:rPr>
              <a:t>código</a:t>
            </a:r>
            <a:r>
              <a:rPr sz="1400" b="0" dirty="0">
                <a:solidFill>
                  <a:srgbClr val="5F666A"/>
                </a:solidFill>
                <a:latin typeface="Aptos"/>
              </a:rPr>
              <a:t>, commits, README y </a:t>
            </a:r>
            <a:r>
              <a:rPr sz="1400" b="0" dirty="0" err="1">
                <a:solidFill>
                  <a:srgbClr val="5F666A"/>
                </a:solidFill>
                <a:latin typeface="Aptos"/>
              </a:rPr>
              <a:t>evidencia</a:t>
            </a:r>
            <a:r>
              <a:rPr sz="1400" b="0" dirty="0">
                <a:solidFill>
                  <a:srgbClr val="5F666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F666A"/>
                </a:solidFill>
                <a:latin typeface="Aptos"/>
              </a:rPr>
              <a:t>clara</a:t>
            </a:r>
            <a:r>
              <a:rPr sz="1400" b="0" dirty="0">
                <a:solidFill>
                  <a:srgbClr val="5F666A"/>
                </a:solidFill>
                <a:latin typeface="Aptos"/>
              </a:rPr>
              <a:t> de Fase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39"/>
            <a:ext cx="502920" cy="457200"/>
          </a:xfrm>
          <a:prstGeom prst="roundRect">
            <a:avLst/>
          </a:prstGeom>
          <a:solidFill>
            <a:srgbClr val="397EC4"/>
          </a:solidFill>
          <a:ln w="12700">
            <a:solidFill>
              <a:srgbClr val="397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468879"/>
            <a:ext cx="3657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04871"/>
            <a:ext cx="20116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t>QA en ejecución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1921" y="2404871"/>
            <a:ext cx="722376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dirty="0" err="1">
                <a:solidFill>
                  <a:srgbClr val="5F666A"/>
                </a:solidFill>
                <a:latin typeface="Aptos"/>
              </a:rPr>
              <a:t>Iniciar</a:t>
            </a:r>
            <a:r>
              <a:rPr sz="1400" dirty="0">
                <a:solidFill>
                  <a:srgbClr val="5F666A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ejecución</a:t>
            </a:r>
            <a:r>
              <a:rPr sz="1400" dirty="0">
                <a:solidFill>
                  <a:srgbClr val="5F666A"/>
                </a:solidFill>
                <a:latin typeface="Aptos"/>
              </a:rPr>
              <a:t> formal de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casos</a:t>
            </a:r>
            <a:r>
              <a:rPr sz="1400" dirty="0">
                <a:solidFill>
                  <a:srgbClr val="5F666A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prioritarios</a:t>
            </a:r>
            <a:r>
              <a:rPr sz="1400" dirty="0">
                <a:solidFill>
                  <a:srgbClr val="5F666A"/>
                </a:solidFill>
                <a:latin typeface="Aptos"/>
              </a:rPr>
              <a:t> con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datos</a:t>
            </a:r>
            <a:r>
              <a:rPr sz="1400" dirty="0">
                <a:solidFill>
                  <a:srgbClr val="5F666A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prueba</a:t>
            </a:r>
            <a:r>
              <a:rPr sz="1400" dirty="0">
                <a:solidFill>
                  <a:srgbClr val="5F666A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controlados</a:t>
            </a:r>
            <a:r>
              <a:rPr sz="1400" dirty="0">
                <a:solidFill>
                  <a:srgbClr val="5F666A"/>
                </a:solidFill>
                <a:latin typeface="Aptos"/>
              </a:rPr>
              <a:t> y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evidencia</a:t>
            </a:r>
            <a:r>
              <a:rPr sz="1400" dirty="0">
                <a:solidFill>
                  <a:srgbClr val="5F666A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resultados</a:t>
            </a:r>
            <a:r>
              <a:rPr sz="1400" dirty="0">
                <a:solidFill>
                  <a:srgbClr val="5F666A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502920" cy="457200"/>
          </a:xfrm>
          <a:prstGeom prst="roundRect">
            <a:avLst/>
          </a:prstGeom>
          <a:solidFill>
            <a:srgbClr val="DC832A"/>
          </a:solidFill>
          <a:ln w="12700">
            <a:solidFill>
              <a:srgbClr val="DC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337560"/>
            <a:ext cx="3657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73551"/>
            <a:ext cx="20116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t>Trazabilidad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82696"/>
            <a:ext cx="7223760" cy="5786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dirty="0" err="1">
                <a:solidFill>
                  <a:srgbClr val="5F666A"/>
                </a:solidFill>
                <a:latin typeface="Aptos"/>
              </a:rPr>
              <a:t>Relacionar</a:t>
            </a:r>
            <a:r>
              <a:rPr sz="1400" dirty="0">
                <a:solidFill>
                  <a:srgbClr val="5F666A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casos</a:t>
            </a:r>
            <a:r>
              <a:rPr sz="1400" dirty="0">
                <a:solidFill>
                  <a:srgbClr val="5F666A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uso</a:t>
            </a:r>
            <a:r>
              <a:rPr sz="1400" dirty="0">
                <a:solidFill>
                  <a:srgbClr val="5F666A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casos</a:t>
            </a:r>
            <a:r>
              <a:rPr sz="1400" dirty="0">
                <a:solidFill>
                  <a:srgbClr val="5F666A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prueba</a:t>
            </a:r>
            <a:r>
              <a:rPr sz="1400" dirty="0">
                <a:solidFill>
                  <a:srgbClr val="5F666A"/>
                </a:solidFill>
                <a:latin typeface="Aptos"/>
              </a:rPr>
              <a:t>, commits y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evidencias</a:t>
            </a:r>
            <a:r>
              <a:rPr sz="1400" dirty="0">
                <a:solidFill>
                  <a:srgbClr val="5F666A"/>
                </a:solidFill>
                <a:latin typeface="Aptos"/>
              </a:rPr>
              <a:t> para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facilitar</a:t>
            </a:r>
            <a:r>
              <a:rPr sz="1400" dirty="0">
                <a:solidFill>
                  <a:srgbClr val="5F666A"/>
                </a:solidFill>
                <a:latin typeface="Aptos"/>
              </a:rPr>
              <a:t> la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revisión</a:t>
            </a:r>
            <a:r>
              <a:rPr sz="1400" dirty="0">
                <a:solidFill>
                  <a:srgbClr val="5F666A"/>
                </a:solidFill>
                <a:latin typeface="Aptos"/>
              </a:rPr>
              <a:t> del </a:t>
            </a:r>
            <a:r>
              <a:rPr sz="1400" dirty="0" err="1">
                <a:solidFill>
                  <a:srgbClr val="5F666A"/>
                </a:solidFill>
                <a:latin typeface="Aptos"/>
              </a:rPr>
              <a:t>avance</a:t>
            </a:r>
            <a:r>
              <a:rPr sz="1400" dirty="0">
                <a:solidFill>
                  <a:srgbClr val="5F666A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502920" cy="457200"/>
          </a:xfrm>
          <a:prstGeom prst="roundRect">
            <a:avLst/>
          </a:prstGeom>
          <a:solidFill>
            <a:srgbClr val="4F8B6E"/>
          </a:solidFill>
          <a:ln w="12700">
            <a:solidFill>
              <a:srgbClr val="4F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206240"/>
            <a:ext cx="3657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42232"/>
            <a:ext cx="20116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Prototipo estabilizado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151376"/>
            <a:ext cx="7223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>
                <a:solidFill>
                  <a:srgbClr val="5F666A"/>
                </a:solidFill>
                <a:latin typeface="Aptos"/>
              </a:rPr>
              <a:t>Accesibilidad POS cerrada y evidencia funcional actualizada.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83479"/>
            <a:ext cx="502920" cy="457200"/>
          </a:xfrm>
          <a:prstGeom prst="roundRect">
            <a:avLst/>
          </a:prstGeom>
          <a:solidFill>
            <a:srgbClr val="C94A4A"/>
          </a:solidFill>
          <a:ln w="12700">
            <a:solidFill>
              <a:srgbClr val="C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074919"/>
            <a:ext cx="36576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10912"/>
            <a:ext cx="20116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2C343A"/>
                </a:solidFill>
                <a:latin typeface="Aptos"/>
              </a:rPr>
              <a:t>Producción preparada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020055"/>
            <a:ext cx="72237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>
                <a:solidFill>
                  <a:srgbClr val="5F666A"/>
                </a:solidFill>
                <a:latin typeface="Aptos"/>
              </a:rPr>
              <a:t>Checklist Railway/PostgreSQL y prueba técnica de staging si el tiempo lo permite.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850</Words>
  <Application>Microsoft Office PowerPoint</Application>
  <PresentationFormat>Panorámica</PresentationFormat>
  <Paragraphs>124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Joaquin Diaz</cp:lastModifiedBy>
  <cp:revision>2</cp:revision>
  <dcterms:created xsi:type="dcterms:W3CDTF">2013-01-27T09:14:16Z</dcterms:created>
  <dcterms:modified xsi:type="dcterms:W3CDTF">2026-10-30T21:01:13Z</dcterms:modified>
  <cp:category/>
</cp:coreProperties>
</file>