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8" r:id="rId5"/>
    <p:sldId id="259" r:id="rId6"/>
    <p:sldId id="260" r:id="rId7"/>
    <p:sldId id="270" r:id="rId8"/>
    <p:sldId id="262" r:id="rId9"/>
    <p:sldId id="263" r:id="rId10"/>
    <p:sldId id="264" r:id="rId11"/>
    <p:sldId id="269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4" dt="2026-10-02T02:54:37.1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aquin Diaz" userId="31da587a2c9016a6" providerId="Windows Live" clId="Web-{00000000-0000-0000-0000-000000000000}"/>
    <pc:docChg chg="addSld delSld sldOrd">
      <pc:chgData name="Joaquin Diaz" userId="31da587a2c9016a6" providerId="Windows Live" clId="Web-{00000000-0000-0000-0000-000000000000}" dt="2026-10-02T02:54:37.148" v="3"/>
      <pc:docMkLst>
        <pc:docMk/>
      </pc:docMkLst>
      <pc:sldChg chg="add del">
        <pc:chgData name="Joaquin Diaz" userId="31da587a2c9016a6" providerId="Windows Live" clId="Web-{00000000-0000-0000-0000-000000000000}" dt="2026-10-02T02:54:37.148" v="3"/>
        <pc:sldMkLst>
          <pc:docMk/>
          <pc:sldMk cId="0" sldId="261"/>
        </pc:sldMkLst>
      </pc:sldChg>
      <pc:sldChg chg="ord">
        <pc:chgData name="Joaquin Diaz" userId="31da587a2c9016a6" providerId="Windows Live" clId="Web-{00000000-0000-0000-0000-000000000000}" dt="2026-10-02T02:54:25.272" v="0"/>
        <pc:sldMkLst>
          <pc:docMk/>
          <pc:sldMk cId="0" sldId="27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8FAF9"/>
          </a:solidFill>
          <a:ln>
            <a:solidFill>
              <a:srgbClr val="F8F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34C3A"/>
          </a:solidFill>
          <a:ln>
            <a:solidFill>
              <a:srgbClr val="23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34C3A"/>
                </a:solidFill>
              </a:rPr>
              <a:t>PuntoSync</a:t>
            </a:r>
          </a:p>
          <a:p>
            <a:pPr>
              <a:defRPr sz="2800" b="1">
                <a:solidFill>
                  <a:srgbClr val="212529"/>
                </a:solidFill>
              </a:defRPr>
            </a:pPr>
            <a:r>
              <a:t>Entrega de diseño y seguimiento del proyecto</a:t>
            </a:r>
          </a:p>
          <a:p>
            <a:pPr>
              <a:defRPr sz="1600">
                <a:solidFill>
                  <a:srgbClr val="5F6368"/>
                </a:solidFill>
              </a:defRPr>
            </a:pPr>
            <a:r>
              <a:t>La200 • Semana 8 de 17 • Metodología Waterfall</a:t>
            </a:r>
          </a:p>
        </p:txBody>
      </p:sp>
      <p:pic>
        <p:nvPicPr>
          <p:cNvPr id="5" name="Picture 4" descr="image-4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476091"/>
            <a:ext cx="4617719" cy="364842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4754880"/>
            <a:ext cx="1920240" cy="457200"/>
          </a:xfrm>
          <a:prstGeom prst="roundRect">
            <a:avLst/>
          </a:prstGeom>
          <a:solidFill>
            <a:srgbClr val="EDF3F0"/>
          </a:solidFill>
          <a:ln>
            <a:solidFill>
              <a:srgbClr val="D5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1" y="4864608"/>
            <a:ext cx="1783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4C3A"/>
                </a:solidFill>
              </a:rPr>
              <a:t>Arquitectura 4+1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4754880"/>
            <a:ext cx="1920240" cy="457200"/>
          </a:xfrm>
          <a:prstGeom prst="roundRect">
            <a:avLst/>
          </a:prstGeom>
          <a:solidFill>
            <a:srgbClr val="EDF3F0"/>
          </a:solidFill>
          <a:ln>
            <a:solidFill>
              <a:srgbClr val="D5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62072" y="4864608"/>
            <a:ext cx="1783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4C3A"/>
                </a:solidFill>
              </a:rPr>
              <a:t>Prototipo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4754880"/>
            <a:ext cx="1920240" cy="457200"/>
          </a:xfrm>
          <a:prstGeom prst="roundRect">
            <a:avLst/>
          </a:prstGeom>
          <a:solidFill>
            <a:srgbClr val="EDF3F0"/>
          </a:solidFill>
          <a:ln>
            <a:solidFill>
              <a:srgbClr val="D5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10912" y="4864608"/>
            <a:ext cx="1783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4C3A"/>
                </a:solidFill>
              </a:rPr>
              <a:t>Casos de uso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440680"/>
            <a:ext cx="1920240" cy="457200"/>
          </a:xfrm>
          <a:prstGeom prst="roundRect">
            <a:avLst/>
          </a:prstGeom>
          <a:solidFill>
            <a:srgbClr val="EDF3F0"/>
          </a:solidFill>
          <a:ln>
            <a:solidFill>
              <a:srgbClr val="D5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1" y="5550408"/>
            <a:ext cx="1783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4C3A"/>
                </a:solidFill>
              </a:rPr>
              <a:t>Casos de prueba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20" y="5440680"/>
            <a:ext cx="1920240" cy="457200"/>
          </a:xfrm>
          <a:prstGeom prst="roundRect">
            <a:avLst/>
          </a:prstGeom>
          <a:solidFill>
            <a:srgbClr val="EDF3F0"/>
          </a:solidFill>
          <a:ln>
            <a:solidFill>
              <a:srgbClr val="D5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62072" y="5550408"/>
            <a:ext cx="1783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4C3A"/>
                </a:solidFill>
              </a:rPr>
              <a:t>Modelo BD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5440680"/>
            <a:ext cx="1920240" cy="457200"/>
          </a:xfrm>
          <a:prstGeom prst="roundRect">
            <a:avLst/>
          </a:prstGeom>
          <a:solidFill>
            <a:srgbClr val="EDF3F0"/>
          </a:solidFill>
          <a:ln>
            <a:solidFill>
              <a:srgbClr val="D5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10912" y="5550408"/>
            <a:ext cx="1783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4C3A"/>
                </a:solidFill>
              </a:rPr>
              <a:t>Roadmap + Riesgos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2F6F4"/>
          </a:solidFill>
          <a:ln>
            <a:solidFill>
              <a:srgbClr val="F2F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4320" y="6638544"/>
            <a:ext cx="8686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064"/>
                </a:solidFill>
              </a:rPr>
              <a:t>PuntoSync • La200 • Semana 8 de 17 • Metodología Waterfall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34C3A"/>
          </a:solidFill>
          <a:ln>
            <a:solidFill>
              <a:srgbClr val="23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784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Estado actual del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73152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E6F0EB"/>
                </a:solidFill>
              </a:rPr>
              <a:t>Semana 8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</a:defRPr>
            </a:pPr>
            <a:r>
              <a:rPr sz="2100">
                <a:solidFill>
                  <a:srgbClr val="232628"/>
                </a:solidFill>
              </a:rPr>
              <a:t>Esta entrega formaliza el diseño técnico de PuntoSync antes de continuar con desarrollo, pruebas y despliegue.
Se presentan los artefactos solicitados: arquitectura 4+1, prototipo, casos de uso, casos de prueba, modelo de base de datos y base relacional.
Además, se actualiza el seguimiento del proyecto con roadmap semanal y matriz de riesgos con mitigación.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463040"/>
            <a:ext cx="4754880" cy="3474720"/>
          </a:xfrm>
          <a:prstGeom prst="roundRect">
            <a:avLst/>
          </a:prstGeom>
          <a:solidFill>
            <a:srgbClr val="F4F8F6"/>
          </a:solidFill>
          <a:ln>
            <a:solidFill>
              <a:srgbClr val="D7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86600" y="1691640"/>
            <a:ext cx="42062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234C3A"/>
                </a:solidFill>
              </a:defRPr>
            </a:pPr>
            <a:r>
              <a:t>Metodología confirmada: Waterfall</a:t>
            </a:r>
          </a:p>
          <a:p>
            <a:pPr>
              <a:spcAft>
                <a:spcPts val="1000"/>
              </a:spcAft>
              <a:defRPr sz="1800" b="0">
                <a:solidFill>
                  <a:srgbClr val="212529"/>
                </a:solidFill>
              </a:defRPr>
            </a:pPr>
            <a:r>
              <a:t>Arquitectura: vistas 4+1</a:t>
            </a:r>
          </a:p>
          <a:p>
            <a:pPr>
              <a:spcAft>
                <a:spcPts val="1000"/>
              </a:spcAft>
              <a:defRPr sz="1800" b="0">
                <a:solidFill>
                  <a:srgbClr val="212529"/>
                </a:solidFill>
              </a:defRPr>
            </a:pPr>
            <a:r>
              <a:t>Avance temporal actual: semana 8 de 17</a:t>
            </a:r>
          </a:p>
          <a:p>
            <a:pPr>
              <a:spcAft>
                <a:spcPts val="1000"/>
              </a:spcAft>
              <a:defRPr sz="1800" b="0">
                <a:solidFill>
                  <a:srgbClr val="212529"/>
                </a:solidFill>
              </a:defRPr>
            </a:pPr>
            <a:r>
              <a:t>Roadmap actualizado por semanas y meses</a:t>
            </a:r>
          </a:p>
          <a:p>
            <a:pPr>
              <a:spcAft>
                <a:spcPts val="1000"/>
              </a:spcAft>
              <a:defRPr sz="1800" b="0">
                <a:solidFill>
                  <a:srgbClr val="212529"/>
                </a:solidFill>
              </a:defRPr>
            </a:pPr>
            <a:r>
              <a:t>Riesgos y mitigaciones asociados al atraso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2F6F4"/>
          </a:solidFill>
          <a:ln>
            <a:solidFill>
              <a:srgbClr val="F2F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638544"/>
            <a:ext cx="8686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064"/>
                </a:solidFill>
              </a:rPr>
              <a:t>PuntoSync • La200 • Semana 8 de 17 • Metodología Waterfall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34C3A"/>
          </a:solidFill>
          <a:ln>
            <a:solidFill>
              <a:srgbClr val="23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784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Arquitectura 4+1 • Vista lógica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73152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E6F0EB"/>
                </a:solidFill>
              </a:rPr>
              <a:t>4+1</a:t>
            </a:r>
          </a:p>
        </p:txBody>
      </p:sp>
      <p:pic>
        <p:nvPicPr>
          <p:cNvPr id="5" name="Picture 4" descr="ppt_vista_logi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808" y="868680"/>
            <a:ext cx="9169903" cy="5394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2F6F4"/>
          </a:solidFill>
          <a:ln>
            <a:solidFill>
              <a:srgbClr val="F2F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38544"/>
            <a:ext cx="8686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064"/>
                </a:solidFill>
              </a:rPr>
              <a:t>La vista lógica resume módulos principales: frontend web, app de escritorio, backend, autenticación, catálogo, pedidos, pagos y reportes.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C4B37"/>
          </a:solidFill>
          <a:ln>
            <a:solidFill>
              <a:srgbClr val="1C4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91440"/>
            <a:ext cx="98755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Arquitectura 4+1 • Vista de desarrollo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118872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F0F8F4"/>
                </a:solidFill>
              </a:rPr>
              <a:t>4+1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03120" y="2377440"/>
            <a:ext cx="2560320" cy="0"/>
          </a:xfrm>
          <a:prstGeom prst="line">
            <a:avLst/>
          </a:prstGeom>
          <a:ln w="22860">
            <a:solidFill>
              <a:srgbClr val="505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223760" y="2377440"/>
            <a:ext cx="2286000" cy="0"/>
          </a:xfrm>
          <a:prstGeom prst="line">
            <a:avLst/>
          </a:prstGeom>
          <a:ln w="22860">
            <a:solidFill>
              <a:srgbClr val="505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943600" y="2834640"/>
            <a:ext cx="0" cy="1142999"/>
          </a:xfrm>
          <a:prstGeom prst="line">
            <a:avLst/>
          </a:prstGeom>
          <a:ln w="22860">
            <a:solidFill>
              <a:srgbClr val="505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108960" y="4617720"/>
            <a:ext cx="1600200" cy="0"/>
          </a:xfrm>
          <a:prstGeom prst="line">
            <a:avLst/>
          </a:prstGeom>
          <a:ln w="22860">
            <a:solidFill>
              <a:srgbClr val="505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223760" y="4617720"/>
            <a:ext cx="1645920" cy="0"/>
          </a:xfrm>
          <a:prstGeom prst="line">
            <a:avLst/>
          </a:prstGeom>
          <a:ln w="22860">
            <a:solidFill>
              <a:srgbClr val="505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0080" y="1143000"/>
            <a:ext cx="2651760" cy="2103120"/>
          </a:xfrm>
          <a:prstGeom prst="roundRect">
            <a:avLst/>
          </a:prstGeom>
          <a:solidFill>
            <a:srgbClr val="F8FAF9"/>
          </a:solidFill>
          <a:ln w="25400">
            <a:solidFill>
              <a:srgbClr val="695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143000"/>
            <a:ext cx="2651760" cy="384048"/>
          </a:xfrm>
          <a:prstGeom prst="rect">
            <a:avLst/>
          </a:prstGeom>
          <a:solidFill>
            <a:srgbClr val="6953AA"/>
          </a:solidFill>
          <a:ln>
            <a:solidFill>
              <a:srgbClr val="695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1" y="1216152"/>
            <a:ext cx="250545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Frontend web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1645920"/>
            <a:ext cx="232257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628"/>
                </a:solidFill>
              </a:rPr>
              <a:t>• Tienda pública
• POS tablet
• Login y seguimiento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1143000"/>
            <a:ext cx="2743200" cy="2103120"/>
          </a:xfrm>
          <a:prstGeom prst="roundRect">
            <a:avLst/>
          </a:prstGeom>
          <a:solidFill>
            <a:srgbClr val="F8FAF9"/>
          </a:solidFill>
          <a:ln w="25400">
            <a:solidFill>
              <a:srgbClr val="1C5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0" y="1143000"/>
            <a:ext cx="2743200" cy="384048"/>
          </a:xfrm>
          <a:prstGeom prst="rect">
            <a:avLst/>
          </a:prstGeom>
          <a:solidFill>
            <a:srgbClr val="1C553E"/>
          </a:solidFill>
          <a:ln>
            <a:solidFill>
              <a:srgbClr val="1C5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45152" y="1216152"/>
            <a:ext cx="259689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Backend FastAPI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2" y="1645920"/>
            <a:ext cx="241401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628"/>
                </a:solidFill>
              </a:rPr>
              <a:t>• routers /api
• autenticación JWT + 2FA
• WebSocket /ws y /ws/public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1143000"/>
            <a:ext cx="2651760" cy="2103120"/>
          </a:xfrm>
          <a:prstGeom prst="roundRect">
            <a:avLst/>
          </a:prstGeom>
          <a:solidFill>
            <a:srgbClr val="F8FAF9"/>
          </a:solidFill>
          <a:ln w="25400">
            <a:solidFill>
              <a:srgbClr val="695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823960" y="1143000"/>
            <a:ext cx="2651760" cy="384048"/>
          </a:xfrm>
          <a:prstGeom prst="rect">
            <a:avLst/>
          </a:prstGeom>
          <a:solidFill>
            <a:srgbClr val="6953AA"/>
          </a:solidFill>
          <a:ln>
            <a:solidFill>
              <a:srgbClr val="695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97112" y="1216152"/>
            <a:ext cx="250545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App escritorio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8552" y="1645920"/>
            <a:ext cx="232257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628"/>
                </a:solidFill>
              </a:rPr>
              <a:t>• Inventario
• Usuarios y roles
• Reportes y cierre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657600"/>
            <a:ext cx="3108960" cy="1645920"/>
          </a:xfrm>
          <a:prstGeom prst="roundRect">
            <a:avLst/>
          </a:prstGeom>
          <a:solidFill>
            <a:srgbClr val="F8FAF9"/>
          </a:solidFill>
          <a:ln w="25400">
            <a:solidFill>
              <a:srgbClr val="2B7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3657600"/>
            <a:ext cx="3108960" cy="384048"/>
          </a:xfrm>
          <a:prstGeom prst="rect">
            <a:avLst/>
          </a:prstGeom>
          <a:solidFill>
            <a:srgbClr val="2B79BE"/>
          </a:solidFill>
          <a:ln>
            <a:solidFill>
              <a:srgbClr val="2B7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1" y="3730752"/>
            <a:ext cx="296265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Repositorio / evidencias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1" y="4160520"/>
            <a:ext cx="277977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628"/>
                </a:solidFill>
              </a:rPr>
              <a:t>• documentos de diseño
• casos de prueba
• capturas y GitHub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26280" y="3657600"/>
            <a:ext cx="2834640" cy="1645920"/>
          </a:xfrm>
          <a:prstGeom prst="roundRect">
            <a:avLst/>
          </a:prstGeom>
          <a:solidFill>
            <a:srgbClr val="F8FAF9"/>
          </a:solidFill>
          <a:ln w="25400">
            <a:solidFill>
              <a:srgbClr val="DC8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26280" y="3657600"/>
            <a:ext cx="2834640" cy="384048"/>
          </a:xfrm>
          <a:prstGeom prst="rect">
            <a:avLst/>
          </a:prstGeom>
          <a:solidFill>
            <a:srgbClr val="DC822C"/>
          </a:solidFill>
          <a:ln>
            <a:solidFill>
              <a:srgbClr val="DC8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99432" y="3730752"/>
            <a:ext cx="268833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Base de datos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90872" y="4160520"/>
            <a:ext cx="250545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628"/>
                </a:solidFill>
              </a:rPr>
              <a:t>• SQLite la200.db
• migrations.py
• backup previo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3657600"/>
            <a:ext cx="3246120" cy="1645920"/>
          </a:xfrm>
          <a:prstGeom prst="roundRect">
            <a:avLst/>
          </a:prstGeom>
          <a:solidFill>
            <a:srgbClr val="F8FAF9"/>
          </a:solidFill>
          <a:ln w="25400">
            <a:solidFill>
              <a:srgbClr val="C4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229600" y="3657600"/>
            <a:ext cx="3246120" cy="384048"/>
          </a:xfrm>
          <a:prstGeom prst="rect">
            <a:avLst/>
          </a:prstGeom>
          <a:solidFill>
            <a:srgbClr val="C44848"/>
          </a:solidFill>
          <a:ln>
            <a:solidFill>
              <a:srgbClr val="C4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02752" y="3730752"/>
            <a:ext cx="3099815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Integraciones externas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4160520"/>
            <a:ext cx="291693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628"/>
                </a:solidFill>
              </a:rPr>
              <a:t>• Webpay / Transbank
• TUU / Haulmer
• Resend correo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14600" y="5559552"/>
            <a:ext cx="7269480" cy="402336"/>
          </a:xfrm>
          <a:prstGeom prst="roundRect">
            <a:avLst/>
          </a:prstGeom>
          <a:solidFill>
            <a:srgbClr val="ECF6F1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651760" y="5641848"/>
            <a:ext cx="6995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232628"/>
                </a:solidFill>
              </a:rPr>
              <a:t>Vista orientada al código: módulos, dependencias y artefactos que deben mantenerse trazables en GitHub.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11112"/>
            <a:ext cx="12192000" cy="246888"/>
          </a:xfrm>
          <a:prstGeom prst="rect">
            <a:avLst/>
          </a:prstGeom>
          <a:solidFill>
            <a:srgbClr val="EFF6F3"/>
          </a:solidFill>
          <a:ln>
            <a:solidFill>
              <a:srgbClr val="EF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92608" y="6656832"/>
            <a:ext cx="10789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4B5055"/>
                </a:solidFill>
              </a:rPr>
              <a:t>La vista de desarrollo separa responsabilidades técnicas: frontend, backend, escritorio, datos, integraciones y evidencias.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34C3A"/>
          </a:solidFill>
          <a:ln>
            <a:solidFill>
              <a:srgbClr val="23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784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Arquitectura 4+1 • Vista física / despliegue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73152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E6F0EB"/>
                </a:solidFill>
              </a:rPr>
              <a:t>4+1</a:t>
            </a:r>
          </a:p>
        </p:txBody>
      </p:sp>
      <p:pic>
        <p:nvPicPr>
          <p:cNvPr id="5" name="Picture 4" descr="ppt_vista_fisi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677" y="868680"/>
            <a:ext cx="8950164" cy="5394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2F6F4"/>
          </a:solidFill>
          <a:ln>
            <a:solidFill>
              <a:srgbClr val="F2F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38544"/>
            <a:ext cx="8686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064"/>
                </a:solidFill>
              </a:rPr>
              <a:t>La vista física muestra cliente web, tablet POS, terminal TUU, PC administrativa y la infraestructura de despliegue.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34C3A"/>
          </a:solidFill>
          <a:ln>
            <a:solidFill>
              <a:srgbClr val="23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784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Arquitectura 4+1 • Vista de escenarios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73152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E6F0EB"/>
                </a:solidFill>
              </a:rPr>
              <a:t>4+1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2F6F4"/>
          </a:solidFill>
          <a:ln>
            <a:solidFill>
              <a:srgbClr val="F2F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38544"/>
            <a:ext cx="8686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064"/>
                </a:solidFill>
              </a:rPr>
              <a:t>Escenario clave presentado: flujo de pedido online y pago con Webpay hasta la confirmación o rechazo.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CF474D0-FAF2-F2FD-2B8F-ECE858C0E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206" y="660224"/>
            <a:ext cx="9530201" cy="5886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34C3A"/>
          </a:solidFill>
          <a:ln>
            <a:solidFill>
              <a:srgbClr val="23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784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Prototipo en funcionamiento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73152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E6F0EB"/>
                </a:solidFill>
              </a:rPr>
              <a:t>Capturas reales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2F6F4"/>
          </a:solidFill>
          <a:ln>
            <a:solidFill>
              <a:srgbClr val="F2F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638544"/>
            <a:ext cx="8686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064"/>
                </a:solidFill>
              </a:rPr>
              <a:t>Capturas del sistema en ejecución en red local, con datos de demostración. El detalle completo está en el informe de prototipo.</a:t>
            </a:r>
          </a:p>
        </p:txBody>
      </p:sp>
      <p:pic>
        <p:nvPicPr>
          <p:cNvPr id="10" name="Captura Tienda web para clientes" descr="01_Tienda_web_cata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72" y="914400"/>
            <a:ext cx="6716595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5272" y="5230368"/>
            <a:ext cx="67165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34C3A"/>
                </a:solidFill>
              </a:rPr>
              <a:t>Tienda web para clientes</a:t>
            </a:r>
          </a:p>
          <a:p>
            <a:r>
              <a:rPr sz="1300">
                <a:solidFill>
                  <a:srgbClr val="212529"/>
                </a:solidFill>
              </a:rPr>
              <a:t>Catálogo con búsqueda y categorías; pedido con retiro y pago en local o Webpay.</a:t>
            </a:r>
          </a:p>
        </p:txBody>
      </p:sp>
      <p:pic>
        <p:nvPicPr>
          <p:cNvPr id="12" name="Captura POS tablet del local" descr="04_POS_venta_presen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7627" y="914400"/>
            <a:ext cx="4239101" cy="4206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517627" y="5230368"/>
            <a:ext cx="423910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34C3A"/>
                </a:solidFill>
              </a:rPr>
              <a:t>POS tablet del local</a:t>
            </a:r>
          </a:p>
          <a:p>
            <a:r>
              <a:rPr sz="1300">
                <a:solidFill>
                  <a:srgbClr val="212529"/>
                </a:solidFill>
              </a:rPr>
              <a:t>Venta presencial con carrito, total y cobro en efectivo o con TUU.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34C3A"/>
          </a:solidFill>
          <a:ln>
            <a:solidFill>
              <a:srgbClr val="23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784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Diagrama de casos de uso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73152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E6F0EB"/>
                </a:solidFill>
              </a:rPr>
              <a:t>UML</a:t>
            </a:r>
          </a:p>
        </p:txBody>
      </p:sp>
      <p:pic>
        <p:nvPicPr>
          <p:cNvPr id="5" name="Picture 4" descr="diagrama_uml_del_sistema_puntosy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713232"/>
            <a:ext cx="7498079" cy="5623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2F6F4"/>
          </a:solidFill>
          <a:ln>
            <a:solidFill>
              <a:srgbClr val="F2F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38544"/>
            <a:ext cx="8686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064"/>
                </a:solidFill>
              </a:rPr>
              <a:t>Actores principales: Cliente, Trabajador y Administrador; integraciones externas: Webpay/Transbank y TUU.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34C3A"/>
          </a:solidFill>
          <a:ln>
            <a:solidFill>
              <a:srgbClr val="23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784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Casos de prueba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73152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E6F0EB"/>
                </a:solidFill>
              </a:rPr>
              <a:t>Cobertura 20 / 20</a:t>
            </a:r>
          </a:p>
        </p:txBody>
      </p:sp>
      <p:pic>
        <p:nvPicPr>
          <p:cNvPr id="5" name="Picture 4" descr="cobertura_casos_prueba_puntosy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664" y="658368"/>
            <a:ext cx="10208768" cy="574243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2F6F4"/>
          </a:solidFill>
          <a:ln>
            <a:solidFill>
              <a:srgbClr val="F2F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38544"/>
            <a:ext cx="8686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064"/>
                </a:solidFill>
              </a:rPr>
              <a:t>Cada caso de uso definido posee un caso de prueba asociado, asegurando trazabilidad funcional.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34C3A"/>
          </a:solidFill>
          <a:ln>
            <a:solidFill>
              <a:srgbClr val="23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784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Modelo entidad-relación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73152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F0F8F4"/>
                </a:solidFill>
              </a:rPr>
              <a:t>Modelo BD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715" y="713232"/>
            <a:ext cx="8321808" cy="5486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2F6F4"/>
          </a:solidFill>
          <a:ln>
            <a:solidFill>
              <a:srgbClr val="F2F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38544"/>
            <a:ext cx="8686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4B5055"/>
                </a:solidFill>
              </a:rPr>
              <a:t>El diagrama ER muestra entidades, relaciones, cardinalidades y reglas de integridad del modelo de datos.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1C4B37"/>
          </a:solidFill>
          <a:ln>
            <a:solidFill>
              <a:srgbClr val="1C4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91440"/>
            <a:ext cx="97840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Base de datos relacional implementada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118872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F0F8F4"/>
                </a:solidFill>
              </a:rPr>
              <a:t>Modelo relacional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C4B37"/>
                </a:solidFill>
              </a:rPr>
              <a:t>Motor actual: SQLite / la200.db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9144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C4B37"/>
                </a:solidFill>
              </a:rPr>
              <a:t>12 tablas principales · PK/FK · reglas ON DELETE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9144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C4B37"/>
                </a:solidFill>
              </a:rPr>
              <a:t>Escalabilidad propuesta: PostgreSQL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3657600" cy="1508760"/>
          </a:xfrm>
          <a:prstGeom prst="roundRect">
            <a:avLst/>
          </a:prstGeom>
          <a:solidFill>
            <a:srgbClr val="F8FAF9"/>
          </a:solidFill>
          <a:ln w="25400">
            <a:solidFill>
              <a:srgbClr val="1C4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3657600" cy="347472"/>
          </a:xfrm>
          <a:prstGeom prst="rect">
            <a:avLst/>
          </a:prstGeom>
          <a:solidFill>
            <a:srgbClr val="1C4B37"/>
          </a:solidFill>
          <a:ln>
            <a:solidFill>
              <a:srgbClr val="1C4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" y="1536192"/>
            <a:ext cx="34381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Identidad y seguridad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320040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32628"/>
                </a:solidFill>
              </a:rPr>
              <a:t>• users
• password_recovery_tokens
• recovery_request_logs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463040"/>
            <a:ext cx="3657600" cy="1508760"/>
          </a:xfrm>
          <a:prstGeom prst="roundRect">
            <a:avLst/>
          </a:prstGeom>
          <a:solidFill>
            <a:srgbClr val="F8FAF9"/>
          </a:solidFill>
          <a:ln w="25400">
            <a:solidFill>
              <a:srgbClr val="2B7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7680" y="1463040"/>
            <a:ext cx="3657600" cy="347472"/>
          </a:xfrm>
          <a:prstGeom prst="rect">
            <a:avLst/>
          </a:prstGeom>
          <a:solidFill>
            <a:srgbClr val="2B79BE"/>
          </a:solidFill>
          <a:ln>
            <a:solidFill>
              <a:srgbClr val="2B7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07408" y="1536192"/>
            <a:ext cx="34381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Catálogo e inventario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1965960"/>
            <a:ext cx="320040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32628"/>
                </a:solidFill>
              </a:rPr>
              <a:t>• categories
• products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463040"/>
            <a:ext cx="3657600" cy="1508760"/>
          </a:xfrm>
          <a:prstGeom prst="roundRect">
            <a:avLst/>
          </a:prstGeom>
          <a:solidFill>
            <a:srgbClr val="F8FAF9"/>
          </a:solidFill>
          <a:ln w="25400">
            <a:solidFill>
              <a:srgbClr val="DC8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1463040"/>
            <a:ext cx="3657600" cy="347472"/>
          </a:xfrm>
          <a:prstGeom prst="rect">
            <a:avLst/>
          </a:prstGeom>
          <a:solidFill>
            <a:srgbClr val="DC822C"/>
          </a:solidFill>
          <a:ln>
            <a:solidFill>
              <a:srgbClr val="DC8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02167" y="1536192"/>
            <a:ext cx="34381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Venta presencial POS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965960"/>
            <a:ext cx="320040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32628"/>
                </a:solidFill>
              </a:rPr>
              <a:t>• sales
• sale_items
• cash_closes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08760" y="3246120"/>
            <a:ext cx="4206240" cy="1508760"/>
          </a:xfrm>
          <a:prstGeom prst="roundRect">
            <a:avLst/>
          </a:prstGeom>
          <a:solidFill>
            <a:srgbClr val="F8FAF9"/>
          </a:solidFill>
          <a:ln w="25400">
            <a:solidFill>
              <a:srgbClr val="C4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508760" y="3246120"/>
            <a:ext cx="4206240" cy="347472"/>
          </a:xfrm>
          <a:prstGeom prst="rect">
            <a:avLst/>
          </a:prstGeom>
          <a:solidFill>
            <a:srgbClr val="C44848"/>
          </a:solidFill>
          <a:ln>
            <a:solidFill>
              <a:srgbClr val="C4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618488" y="3319272"/>
            <a:ext cx="398678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Pedido web y pagos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3749039"/>
            <a:ext cx="3749039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32628"/>
                </a:solidFill>
              </a:rPr>
              <a:t>• online_orders
• online_order_items
• webpay_sessions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3246120"/>
            <a:ext cx="4206240" cy="1508760"/>
          </a:xfrm>
          <a:prstGeom prst="roundRect">
            <a:avLst/>
          </a:prstGeom>
          <a:solidFill>
            <a:srgbClr val="F8FAF9"/>
          </a:solidFill>
          <a:ln w="25400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46520" y="3246120"/>
            <a:ext cx="4206240" cy="347472"/>
          </a:xfrm>
          <a:prstGeom prst="rect">
            <a:avLst/>
          </a:prstGeom>
          <a:solidFill>
            <a:srgbClr val="50555A"/>
          </a:solidFill>
          <a:ln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56248" y="3319272"/>
            <a:ext cx="398678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Configuración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749039"/>
            <a:ext cx="3749039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32628"/>
                </a:solidFill>
              </a:rPr>
              <a:t>• settings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074920"/>
            <a:ext cx="10835640" cy="658368"/>
          </a:xfrm>
          <a:prstGeom prst="roundRect">
            <a:avLst/>
          </a:prstGeom>
          <a:solidFill>
            <a:srgbClr val="EDF3F0"/>
          </a:solidFill>
          <a:ln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5257800"/>
            <a:ext cx="10378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32628"/>
                </a:solidFill>
              </a:rPr>
              <a:t>El modelo relacional implementado soporta ventas, pedidos online con retiro, Webpay, TUU, stock sincronizado, cierre de caja y administración.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11112"/>
            <a:ext cx="12192000" cy="246888"/>
          </a:xfrm>
          <a:prstGeom prst="rect">
            <a:avLst/>
          </a:prstGeom>
          <a:solidFill>
            <a:srgbClr val="EFF6F3"/>
          </a:solidFill>
          <a:ln>
            <a:solidFill>
              <a:srgbClr val="EF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92608" y="6656832"/>
            <a:ext cx="9875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4B5055"/>
                </a:solidFill>
              </a:rPr>
              <a:t>Separación solicitada: diagrama ER para el modelo de datos y modelo relacional para tablas, PK/FK e integridad.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34C3A"/>
          </a:solidFill>
          <a:ln>
            <a:solidFill>
              <a:srgbClr val="23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784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Roadmap de seguimiento semanal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73152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E6F0EB"/>
                </a:solidFill>
              </a:rPr>
              <a:t>Semana 8 de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2F6F4"/>
          </a:solidFill>
          <a:ln>
            <a:solidFill>
              <a:srgbClr val="F2F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38544"/>
            <a:ext cx="8686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064"/>
                </a:solidFill>
              </a:rPr>
              <a:t>Las actividades realizadas, en curso y con retraso parcial están contenidas dentro del roadmap de trabajo restante.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0ACA14A-3EFB-C7AC-381B-C03EF8327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34C3A"/>
          </a:solidFill>
          <a:ln>
            <a:solidFill>
              <a:srgbClr val="23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784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Matriz de riesgos y mitigación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73152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E6F0EB"/>
                </a:solidFill>
              </a:rPr>
              <a:t>Seguimiento</a:t>
            </a:r>
          </a:p>
        </p:txBody>
      </p:sp>
      <p:pic>
        <p:nvPicPr>
          <p:cNvPr id="5" name="Picture 4" descr="matriz_riesgos_puntosy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227" y="676656"/>
            <a:ext cx="10046208" cy="565099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2F6F4"/>
          </a:solidFill>
          <a:ln>
            <a:solidFill>
              <a:srgbClr val="F2F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38544"/>
            <a:ext cx="8686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064"/>
                </a:solidFill>
              </a:rPr>
              <a:t>Todo atraso detectado debe acompañarse de su mitigación y responsable de seguimiento.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34C3A"/>
          </a:solidFill>
          <a:ln>
            <a:solidFill>
              <a:srgbClr val="234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9784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Próximos hitos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73152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E6F0EB"/>
                </a:solidFill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12529"/>
                </a:solidFill>
              </a:defRPr>
            </a:pPr>
            <a:r>
              <a:rPr sz="2100">
                <a:solidFill>
                  <a:srgbClr val="232628"/>
                </a:solidFill>
              </a:rPr>
              <a:t>Cerrar y validar los artefactos de diseño: arquitectura 4+1, casos de uso, casos de prueba, modelo ER y modelo relacional.
Agregar capturas reales del prototipo como evidencia del avance funcional.
Ordenar evidencias y documentación en GitHub para llegar con trazabilidad clara a la siguiente revisión.
Mantener el roadmap como instrumento principal de control durante las semanas restantes.</a:t>
            </a:r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253149"/>
            <a:ext cx="4754880" cy="16201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03720" y="50749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5F6368"/>
                </a:solidFill>
              </a:rPr>
              <a:t>Apoyo técnico: ruta de escalabilidad de la base de datos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2F6F4"/>
          </a:solidFill>
          <a:ln>
            <a:solidFill>
              <a:srgbClr val="F2F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638544"/>
            <a:ext cx="8686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064"/>
                </a:solidFill>
              </a:rPr>
              <a:t>PuntoSync • La200 • Semana 8 de 17 • Metodología Waterfall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1</cp:revision>
  <dcterms:created xsi:type="dcterms:W3CDTF">2013-01-27T09:14:16Z</dcterms:created>
  <dcterms:modified xsi:type="dcterms:W3CDTF">2026-10-02T02:54:41Z</dcterms:modified>
  <cp:category/>
</cp:coreProperties>
</file>